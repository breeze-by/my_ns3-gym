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3da6fa5bfb74adc" /><Relationship Type="http://schemas.openxmlformats.org/officeDocument/2006/relationships/extended-properties" Target="/docProps/app.xml" Id="Rb87a0eedba444742" /><Relationship Type="http://schemas.openxmlformats.org/officeDocument/2006/relationships/officeDocument" Target="/ppt/presentation.xml" Id="R0d5b8ac255c64c4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6a8dae4e18f4563"/>
  </p:sldMasterIdLst>
  <p:notesMasterIdLst>
    <p:notesMasterId xmlns:r="http://schemas.openxmlformats.org/officeDocument/2006/relationships" r:id="Rc36c2fac25494333"/>
  </p:notesMasterIdLst>
  <p:sldIdLst>
    <p:sldId xmlns:r="http://schemas.openxmlformats.org/officeDocument/2006/relationships" id="256" r:id="Rf47a376dfb144ad4"/>
    <p:sldId xmlns:r="http://schemas.openxmlformats.org/officeDocument/2006/relationships" id="257" r:id="Rc71bdc58e06240e0"/>
    <p:sldId xmlns:r="http://schemas.openxmlformats.org/officeDocument/2006/relationships" id="258" r:id="Rcaf922a6e8ad40d9"/>
    <p:sldId xmlns:r="http://schemas.openxmlformats.org/officeDocument/2006/relationships" id="259" r:id="R634a2a30717f411f"/>
    <p:sldId xmlns:r="http://schemas.openxmlformats.org/officeDocument/2006/relationships" id="260" r:id="Ra8bc6ac9f82f45b4"/>
    <p:sldId xmlns:r="http://schemas.openxmlformats.org/officeDocument/2006/relationships" id="261" r:id="R9ef1739b49d14ead"/>
    <p:sldId xmlns:r="http://schemas.openxmlformats.org/officeDocument/2006/relationships" id="262" r:id="Rf6e38136c4f24a84"/>
    <p:sldId xmlns:r="http://schemas.openxmlformats.org/officeDocument/2006/relationships" id="263" r:id="Ra9374351cc15465a"/>
    <p:sldId xmlns:r="http://schemas.openxmlformats.org/officeDocument/2006/relationships" id="264" r:id="R80d6db77f7c74c63"/>
    <p:sldId xmlns:r="http://schemas.openxmlformats.org/officeDocument/2006/relationships" id="265" r:id="Re870f9121338425b"/>
    <p:sldId xmlns:r="http://schemas.openxmlformats.org/officeDocument/2006/relationships" id="266" r:id="Rc266bad12aa34bd3"/>
    <p:sldId xmlns:r="http://schemas.openxmlformats.org/officeDocument/2006/relationships" id="267" r:id="Ra40539ae29ef4c07"/>
    <p:sldId xmlns:r="http://schemas.openxmlformats.org/officeDocument/2006/relationships" id="268" r:id="Ra5584c8612c14be0"/>
    <p:sldId xmlns:r="http://schemas.openxmlformats.org/officeDocument/2006/relationships" id="269" r:id="R7f2ed75fc812422f"/>
    <p:sldId xmlns:r="http://schemas.openxmlformats.org/officeDocument/2006/relationships" id="270" r:id="Reb736a97cb9045c5"/>
    <p:sldId xmlns:r="http://schemas.openxmlformats.org/officeDocument/2006/relationships" id="271" r:id="R0060d1bcbdc34a85"/>
    <p:sldId xmlns:r="http://schemas.openxmlformats.org/officeDocument/2006/relationships" id="272" r:id="R39ad627b58cf4d06"/>
    <p:sldId xmlns:r="http://schemas.openxmlformats.org/officeDocument/2006/relationships" id="273" r:id="R2be2a280f93b4c48"/>
  </p:sldIdLst>
  <p:sldSz cx="12192000" cy="6858000"/>
  <p:notesSz cx="6858000" cy="9144000"/>
  <p:defaultTextStyle>
    <a:lvl1pPr xmlns:a="http://schemas.openxmlformats.org/drawingml/2006/main" marL="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1pPr>
    <a:lvl2pPr xmlns:a="http://schemas.openxmlformats.org/drawingml/2006/main" marL="4572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2pPr>
    <a:lvl3pPr xmlns:a="http://schemas.openxmlformats.org/drawingml/2006/main" marL="9144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3pPr>
    <a:lvl4pPr xmlns:a="http://schemas.openxmlformats.org/drawingml/2006/main" marL="13716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4pPr>
    <a:lvl5pPr xmlns:a="http://schemas.openxmlformats.org/drawingml/2006/main" marL="18288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5pPr>
    <a:lvl6pPr xmlns:a="http://schemas.openxmlformats.org/drawingml/2006/main" marL="22860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6pPr>
    <a:lvl7pPr xmlns:a="http://schemas.openxmlformats.org/drawingml/2006/main" marL="27432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7pPr>
    <a:lvl8pPr xmlns:a="http://schemas.openxmlformats.org/drawingml/2006/main" marL="32004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8pPr>
    <a:lvl9pPr xmlns:a="http://schemas.openxmlformats.org/drawingml/2006/main" marL="36576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2008" cy="72008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5aa805ec2034166" /><Relationship Type="http://schemas.openxmlformats.org/officeDocument/2006/relationships/slideMaster" Target="/ppt/slideMasters/slideMaster1.xml" Id="R16a8dae4e18f4563" /><Relationship Type="http://schemas.openxmlformats.org/officeDocument/2006/relationships/notesMaster" Target="/ppt/notesMasters/notesMaster1.xml" Id="Rc36c2fac25494333" /><Relationship Type="http://schemas.openxmlformats.org/officeDocument/2006/relationships/presProps" Target="/ppt/presProps.xml" Id="Raf1b890400e94706" /><Relationship Type="http://schemas.openxmlformats.org/officeDocument/2006/relationships/viewProps" Target="/ppt/viewProps.xml" Id="Rbffb8933c8014c67" /><Relationship Type="http://schemas.openxmlformats.org/officeDocument/2006/relationships/tableStyles" Target="/ppt/tableStyles.xml" Id="R510952ccc02048a5" /><Relationship Type="http://schemas.openxmlformats.org/officeDocument/2006/relationships/slide" Target="/ppt/slides/slide1.xml" Id="Rf47a376dfb144ad4" /><Relationship Type="http://schemas.openxmlformats.org/officeDocument/2006/relationships/slide" Target="/ppt/slides/slide2.xml" Id="Rc71bdc58e06240e0" /><Relationship Type="http://schemas.openxmlformats.org/officeDocument/2006/relationships/slide" Target="/ppt/slides/slide3.xml" Id="Rcaf922a6e8ad40d9" /><Relationship Type="http://schemas.openxmlformats.org/officeDocument/2006/relationships/slide" Target="/ppt/slides/slide4.xml" Id="R634a2a30717f411f" /><Relationship Type="http://schemas.openxmlformats.org/officeDocument/2006/relationships/slide" Target="/ppt/slides/slide5.xml" Id="Ra8bc6ac9f82f45b4" /><Relationship Type="http://schemas.openxmlformats.org/officeDocument/2006/relationships/slide" Target="/ppt/slides/slide6.xml" Id="R9ef1739b49d14ead" /><Relationship Type="http://schemas.openxmlformats.org/officeDocument/2006/relationships/slide" Target="/ppt/slides/slide7.xml" Id="Rf6e38136c4f24a84" /><Relationship Type="http://schemas.openxmlformats.org/officeDocument/2006/relationships/slide" Target="/ppt/slides/slide8.xml" Id="Ra9374351cc15465a" /><Relationship Type="http://schemas.openxmlformats.org/officeDocument/2006/relationships/slide" Target="/ppt/slides/slide9.xml" Id="R80d6db77f7c74c63" /><Relationship Type="http://schemas.openxmlformats.org/officeDocument/2006/relationships/slide" Target="/ppt/slides/slide10.xml" Id="Re870f9121338425b" /><Relationship Type="http://schemas.openxmlformats.org/officeDocument/2006/relationships/slide" Target="/ppt/slides/slide11.xml" Id="Rc266bad12aa34bd3" /><Relationship Type="http://schemas.openxmlformats.org/officeDocument/2006/relationships/slide" Target="/ppt/slides/slide12.xml" Id="Ra40539ae29ef4c07" /><Relationship Type="http://schemas.openxmlformats.org/officeDocument/2006/relationships/slide" Target="/ppt/slides/slide13.xml" Id="Ra5584c8612c14be0" /><Relationship Type="http://schemas.openxmlformats.org/officeDocument/2006/relationships/slide" Target="/ppt/slides/slide14.xml" Id="R7f2ed75fc812422f" /><Relationship Type="http://schemas.openxmlformats.org/officeDocument/2006/relationships/slide" Target="/ppt/slides/slide15.xml" Id="Reb736a97cb9045c5" /><Relationship Type="http://schemas.openxmlformats.org/officeDocument/2006/relationships/slide" Target="/ppt/slides/slide16.xml" Id="R0060d1bcbdc34a85" /><Relationship Type="http://schemas.openxmlformats.org/officeDocument/2006/relationships/slide" Target="/ppt/slides/slide17.xml" Id="R39ad627b58cf4d06" /><Relationship Type="http://schemas.openxmlformats.org/officeDocument/2006/relationships/slide" Target="/ppt/slides/slide18.xml" Id="R2be2a280f93b4c4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10f5ac254552440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896b50cbc1d4791" /><Relationship Type="http://schemas.openxmlformats.org/officeDocument/2006/relationships/notesMaster" Target="/ppt/notesMasters/notesMaster1.xml" Id="R7902d9359efc49f6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27cbecab9af644ef" /><Relationship Type="http://schemas.openxmlformats.org/officeDocument/2006/relationships/notesMaster" Target="/ppt/notesMasters/notesMaster1.xml" Id="R5b66b8bbd9d94e3e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7e8343fcf9ed4a04" /><Relationship Type="http://schemas.openxmlformats.org/officeDocument/2006/relationships/notesMaster" Target="/ppt/notesMasters/notesMaster1.xml" Id="R7b5d66e0d4a34b74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596d682802cb4c17" /><Relationship Type="http://schemas.openxmlformats.org/officeDocument/2006/relationships/notesMaster" Target="/ppt/notesMasters/notesMaster1.xml" Id="R45986ddcf4ae4698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4d641705df0842bc" /><Relationship Type="http://schemas.openxmlformats.org/officeDocument/2006/relationships/notesMaster" Target="/ppt/notesMasters/notesMaster1.xml" Id="R923aaa2e87034864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e28d0180f3364b79" /><Relationship Type="http://schemas.openxmlformats.org/officeDocument/2006/relationships/notesMaster" Target="/ppt/notesMasters/notesMaster1.xml" Id="Rebeaff2b31a645ab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a9254406963242ad" /><Relationship Type="http://schemas.openxmlformats.org/officeDocument/2006/relationships/notesMaster" Target="/ppt/notesMasters/notesMaster1.xml" Id="R9b4317efde3f442b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15075e4aaaa44fd2" /><Relationship Type="http://schemas.openxmlformats.org/officeDocument/2006/relationships/notesMaster" Target="/ppt/notesMasters/notesMaster1.xml" Id="Ra23978a269d44ef7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0aa0851ca0bd45b0" /><Relationship Type="http://schemas.openxmlformats.org/officeDocument/2006/relationships/notesMaster" Target="/ppt/notesMasters/notesMaster1.xml" Id="Rad759fb42a7042a9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0c173e6fccfc4794" /><Relationship Type="http://schemas.openxmlformats.org/officeDocument/2006/relationships/notesMaster" Target="/ppt/notesMasters/notesMaster1.xml" Id="Rd2ca775fb05b4ab3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1c9a03186efd4c76" /><Relationship Type="http://schemas.openxmlformats.org/officeDocument/2006/relationships/notesMaster" Target="/ppt/notesMasters/notesMaster1.xml" Id="Raf28047c8f1d4097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2f338f813c2b423f" /><Relationship Type="http://schemas.openxmlformats.org/officeDocument/2006/relationships/notesMaster" Target="/ppt/notesMasters/notesMaster1.xml" Id="R68fc2afa299f4cfb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7ff00e7ec10a4cb8" /><Relationship Type="http://schemas.openxmlformats.org/officeDocument/2006/relationships/notesMaster" Target="/ppt/notesMasters/notesMaster1.xml" Id="Refec5f87b4514f83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bd99c40c09b24572" /><Relationship Type="http://schemas.openxmlformats.org/officeDocument/2006/relationships/notesMaster" Target="/ppt/notesMasters/notesMaster1.xml" Id="R0f1a97c1e1634593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4b2a1f71b8ca4f96" /><Relationship Type="http://schemas.openxmlformats.org/officeDocument/2006/relationships/notesMaster" Target="/ppt/notesMasters/notesMaster1.xml" Id="Rf619378c3d24455c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2ef2bd02b93e4401" /><Relationship Type="http://schemas.openxmlformats.org/officeDocument/2006/relationships/notesMaster" Target="/ppt/notesMasters/notesMaster1.xml" Id="R555a6054987a4770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8c63f3f8817c4082" /><Relationship Type="http://schemas.openxmlformats.org/officeDocument/2006/relationships/notesMaster" Target="/ppt/notesMasters/notesMaster1.xml" Id="Ra0f59daf00d7448a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9f3296527ddd41a6" /><Relationship Type="http://schemas.openxmlformats.org/officeDocument/2006/relationships/notesMaster" Target="/ppt/notesMasters/notesMaster1.xml" Id="Ra02624f75f09450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本次汇报定位为近期工作分享和问题讨论。素材来源：260929_report/多机器人无线通信调度近期进展分享文档.md。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目录按问题—证据—方法—工程—演示—讨论展开，不把当前任务层证据表述成无线调度结果。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图源：assets/fig01_problem_chain.png；正文依据：多机器人无线通信调度近期进展分享文档.md 第 1 节。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正文依据：多机器人无线通信调度近期进展分享文档.md 1.2–1.4；消息敏感度用于引出 task-oriented communication 和应用层准入问题。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正文依据：多机器人无线通信调度近期进展分享文档.md 第 2 节；参考 RESEARCH_PLAN.md 中关于 RL go/no-go、任务结果与网络指标耦合的边界。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论文截图：assets/fig06_paper_drl_taxonomy.png（Luong 等，2019，Figure 2）；assets/fig07_paper_codesign_architecture.png（Gielis 等，2022，Figure 1）。截图用于证明论文关注点，不是封面。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论文截图：assets/fig08_paper_task_aoi.png（Charalambous 等任务导向通信综述 Figure 2 与 Yates 等 AoI 综述 Figure 2 拼图）；assets/fig09_paper_exploration_strategy.png（协同探索综述 Figure 9）。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内容综合：11 篇论文、综述论文调研.docx、RESEARCH_PLAN.md；节点为归纳而非逐篇枚举。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正文依据：多机器人无线通信调度近期进展分享文档.md 第 3 节；场景来源于 IMPLEMENTATION_PLAN.md 的 Gazebo/ROS 2 路线。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图源：assets/fig10_overall_framework.png（用户新增图片，放在方法边界页）；正文依据：RESEARCH_PLAN.md 与分享文档第 4 节。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正文依据：分享文档第 4.2 节；协议边界也对应 IMPLEMENTATION_PLAN.md 的 GatewayEnvelope、TTL/序号/ACK/重传和 message ledger 检查点。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路线依据：IMPLEMENTATION_PLAN.md、RESEARCH_PLAN.md 与分享文档第 5 节；P0–P8 在此按阶段合并，不展开每个子检查点。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证据依据：assets/fig05_evidence.png、wireless-rl/log.md、分享文档第 6 节；P1C/P2C/P2D/P3B 的准确口径保留“理想通信/应用层替身”边界。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失败与边界依据：wireless-rl/AGENTS.md、log.md、分享文档第 6.3–6.5 节；用于在分享中明确当前结果的适用范围。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演示依据：ros2-multi-robot-automap/user_guide.md、launch_commands.md、分享文档第 7 节；现场命令使用文档中的 my_world.world / robot_count:=2 / gazebo_seed:=303 组合。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讨论问题依据：分享文档第 8 节、RESEARCH_PLAN.md 的风险与 go/no-go 规则；用于把分享收束到可验证的选择。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下一步依据：IMPLEMENTATION_PLAN.md 的 P3/P4/P5 检查点、分享文档第 5.2 与第 8.3 节；顺序强调测量和强基线先于 RL。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收束：当前重点是验证可审计的系统因果链，再判断学习方法是否带来不可替代的价值。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d7d90e942c64b4b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0e945619ceb477d" /><Relationship Type="http://schemas.openxmlformats.org/officeDocument/2006/relationships/slideLayout" Target="/ppt/slideLayouts/slideLayout1.xml" Id="Rb17ec689631a4e25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17ec689631a4e2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1e2b8e3142f4393" /><Relationship Type="http://schemas.openxmlformats.org/officeDocument/2006/relationships/image" Target="/ppt/media/image.png" Id="R3ac95ae483b74ac3" /><Relationship Type="http://schemas.openxmlformats.org/officeDocument/2006/relationships/notesSlide" Target="/ppt/notesSlides/notesSlide1.xml" Id="R651801892d39412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b1508058d46487b" /><Relationship Type="http://schemas.openxmlformats.org/officeDocument/2006/relationships/image" Target="/ppt/media/image.png" Id="R1073528ebcb1461e" /><Relationship Type="http://schemas.openxmlformats.org/officeDocument/2006/relationships/notesSlide" Target="/ppt/notesSlides/notesSlide2.xml" Id="R2311f768e6f74411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83c000d8da9489e" /><Relationship Type="http://schemas.openxmlformats.org/officeDocument/2006/relationships/image" Target="/ppt/media/image.png" Id="R6a1409e977b54aaa" /><Relationship Type="http://schemas.openxmlformats.org/officeDocument/2006/relationships/image" Target="/ppt/media/image2.png" Id="R2bde18891eb44939" /><Relationship Type="http://schemas.openxmlformats.org/officeDocument/2006/relationships/notesSlide" Target="/ppt/notesSlides/notesSlide3.xml" Id="R911cddd4b1774ade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4651592897346ce" /><Relationship Type="http://schemas.openxmlformats.org/officeDocument/2006/relationships/image" Target="/ppt/media/image.png" Id="R170fdb9d9b644afc" /><Relationship Type="http://schemas.openxmlformats.org/officeDocument/2006/relationships/notesSlide" Target="/ppt/notesSlides/notesSlide4.xml" Id="Rf0471b8c7786438d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a4701434a094938" /><Relationship Type="http://schemas.openxmlformats.org/officeDocument/2006/relationships/image" Target="/ppt/media/image.png" Id="R73bd36cd9c8c49b3" /><Relationship Type="http://schemas.openxmlformats.org/officeDocument/2006/relationships/notesSlide" Target="/ppt/notesSlides/notesSlide5.xml" Id="R72028f9ea5d2469f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a08d94b62a54a31" /><Relationship Type="http://schemas.openxmlformats.org/officeDocument/2006/relationships/image" Target="/ppt/media/image.png" Id="R924a198022ca454f" /><Relationship Type="http://schemas.openxmlformats.org/officeDocument/2006/relationships/image" Target="/ppt/media/image3.png" Id="Rc13ef2a2a1344c33" /><Relationship Type="http://schemas.openxmlformats.org/officeDocument/2006/relationships/image" Target="/ppt/media/image4.png" Id="R92eeedd923664f9f" /><Relationship Type="http://schemas.openxmlformats.org/officeDocument/2006/relationships/notesSlide" Target="/ppt/notesSlides/notesSlide6.xml" Id="R99c1480831ab4f26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03b7ac7d571452a" /><Relationship Type="http://schemas.openxmlformats.org/officeDocument/2006/relationships/image" Target="/ppt/media/image.png" Id="Reb43f2a9ed594d10" /><Relationship Type="http://schemas.openxmlformats.org/officeDocument/2006/relationships/image" Target="/ppt/media/image5.png" Id="R4442d204f76b4883" /><Relationship Type="http://schemas.openxmlformats.org/officeDocument/2006/relationships/image" Target="/ppt/media/image6.png" Id="Rdd3e81147bd84116" /><Relationship Type="http://schemas.openxmlformats.org/officeDocument/2006/relationships/notesSlide" Target="/ppt/notesSlides/notesSlide7.xml" Id="R8d0f8607fc5a4ddf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72aadcbae3e48ff" /><Relationship Type="http://schemas.openxmlformats.org/officeDocument/2006/relationships/image" Target="/ppt/media/image.png" Id="Rdec61d8d6e7347a8" /><Relationship Type="http://schemas.openxmlformats.org/officeDocument/2006/relationships/notesSlide" Target="/ppt/notesSlides/notesSlide8.xml" Id="Rce8d97751f60422f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0aa091280da43c7" /><Relationship Type="http://schemas.openxmlformats.org/officeDocument/2006/relationships/image" Target="/ppt/media/image.png" Id="Rada6868d47d943dc" /><Relationship Type="http://schemas.openxmlformats.org/officeDocument/2006/relationships/notesSlide" Target="/ppt/notesSlides/notesSlide9.xml" Id="Ra60c3834f65842f7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ddb7b0555a7409b" /><Relationship Type="http://schemas.openxmlformats.org/officeDocument/2006/relationships/image" Target="/ppt/media/image.png" Id="Rdadc90793eda43a9" /><Relationship Type="http://schemas.openxmlformats.org/officeDocument/2006/relationships/image" Target="/ppt/media/image7.png" Id="Rb892015cb4284540" /><Relationship Type="http://schemas.openxmlformats.org/officeDocument/2006/relationships/notesSlide" Target="/ppt/notesSlides/notesSlide10.xml" Id="R049f1b6b51f24108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78a7d8e65874e53" /><Relationship Type="http://schemas.openxmlformats.org/officeDocument/2006/relationships/image" Target="/ppt/media/image.png" Id="R2307460f4c844b0d" /><Relationship Type="http://schemas.openxmlformats.org/officeDocument/2006/relationships/notesSlide" Target="/ppt/notesSlides/notesSlide11.xml" Id="Rf9f65cfbdb044937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b0fd342a1a44112" /><Relationship Type="http://schemas.openxmlformats.org/officeDocument/2006/relationships/image" Target="/ppt/media/image.png" Id="R8d286ab86efc4c94" /><Relationship Type="http://schemas.openxmlformats.org/officeDocument/2006/relationships/notesSlide" Target="/ppt/notesSlides/notesSlide12.xml" Id="R48de39f232414f59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4b5e02e08124e14" /><Relationship Type="http://schemas.openxmlformats.org/officeDocument/2006/relationships/image" Target="/ppt/media/image.png" Id="Red40d4b2366649a7" /><Relationship Type="http://schemas.openxmlformats.org/officeDocument/2006/relationships/notesSlide" Target="/ppt/notesSlides/notesSlide13.xml" Id="R614ebb1f23f44841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dc5e380e86346ff" /><Relationship Type="http://schemas.openxmlformats.org/officeDocument/2006/relationships/image" Target="/ppt/media/image.png" Id="R00f6bfed95d2454a" /><Relationship Type="http://schemas.openxmlformats.org/officeDocument/2006/relationships/notesSlide" Target="/ppt/notesSlides/notesSlide14.xml" Id="R9185c5cc45244f47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225b47afb354be4" /><Relationship Type="http://schemas.openxmlformats.org/officeDocument/2006/relationships/image" Target="/ppt/media/image.png" Id="R1b48470829d843d6" /><Relationship Type="http://schemas.openxmlformats.org/officeDocument/2006/relationships/notesSlide" Target="/ppt/notesSlides/notesSlide15.xml" Id="Rabeeb882fb6e47ae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6dca3a935e644e0" /><Relationship Type="http://schemas.openxmlformats.org/officeDocument/2006/relationships/image" Target="/ppt/media/image.png" Id="R8a891769a6f0436d" /><Relationship Type="http://schemas.openxmlformats.org/officeDocument/2006/relationships/notesSlide" Target="/ppt/notesSlides/notesSlide16.xml" Id="R25a4a54e1ed84c4a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6a4d7a5839a42cb" /><Relationship Type="http://schemas.openxmlformats.org/officeDocument/2006/relationships/image" Target="/ppt/media/image.png" Id="Rc9a12907e0884f0f" /><Relationship Type="http://schemas.openxmlformats.org/officeDocument/2006/relationships/notesSlide" Target="/ppt/notesSlides/notesSlide17.xml" Id="R62a6a25a898947fe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48ec2be27164857" /><Relationship Type="http://schemas.openxmlformats.org/officeDocument/2006/relationships/image" Target="/ppt/media/image.png" Id="Rbbfd618acb0e4821" /><Relationship Type="http://schemas.openxmlformats.org/officeDocument/2006/relationships/notesSlide" Target="/ppt/notesSlides/notesSlide18.xml" Id="Raba5daab8e2c4ecf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cover-border">
            <a:extLst xmlns:a="http://schemas.openxmlformats.org/drawingml/2006/main">
              <a:ext uri="{FF2B5EF4-FFF2-40B4-BE49-F238E27FC236}">
                <a16:creationId xmlns:a16="http://schemas.microsoft.com/office/drawing/2014/main" id="{B90CFDB9-89C0-4527-8F7B-BD9010FDF8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" y="190500"/>
            <a:ext cx="11772900" cy="647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23D8D"/>
            </a:solidFill>
            <a:prstDash val="solid"/>
          </a:ln>
        </p:spPr>
      </p:sp>
      <p:sp>
        <p:nvSpPr>
          <p:cNvPr id="2" name="cover-band">
            <a:extLst xmlns:a="http://schemas.openxmlformats.org/drawingml/2006/main">
              <a:ext uri="{FF2B5EF4-FFF2-40B4-BE49-F238E27FC236}">
                <a16:creationId xmlns:a16="http://schemas.microsoft.com/office/drawing/2014/main" id="{D239BAC5-7506-4C4B-9993-7D8FE044A6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" y="5381625"/>
            <a:ext cx="11772900" cy="1285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D8D"/>
          </a:solidFill>
          <a:ln xmlns:a="http://schemas.openxmlformats.org/drawingml/2006/main" w="0">
            <a:solidFill>
              <a:srgbClr val="123D8D"/>
            </a:solidFill>
            <a:prstDash val="solid"/>
          </a:ln>
        </p:spPr>
      </p:sp>
      <p:pic>
        <p:nvPicPr>
          <p:cNvPr id="14" name="图片 1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ac95ae483b74ac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368036" y="457200"/>
            <a:ext cx="3455928" cy="1104900"/>
          </a:xfrm>
          <a:prstGeom xmlns:a="http://schemas.openxmlformats.org/drawingml/2006/main" prst="rect">
            <a:avLst/>
          </a:prstGeom>
        </p:spPr>
      </p:pic>
      <p:sp>
        <p:nvSpPr>
          <p:cNvPr id="4" name="cover-title">
            <a:extLst xmlns:a="http://schemas.openxmlformats.org/drawingml/2006/main">
              <a:ext uri="{FF2B5EF4-FFF2-40B4-BE49-F238E27FC236}">
                <a16:creationId xmlns:a16="http://schemas.microsoft.com/office/drawing/2014/main" id="{2F3D06D5-3327-460D-8BAB-5D2B7BB62C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2020570"/>
            <a:ext cx="87630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550" b="1">
                <a:solidFill>
                  <a:srgbClr val="123D8D"/>
                </a:solidFill>
                <a:latin typeface="微软雅黑"/>
                <a:ea typeface="微软雅黑"/>
                <a:cs typeface="微软雅黑"/>
              </a:defRPr>
            </a:pPr>
            <a:r>
              <a:rPr sz="2550" b="1">
                <a:solidFill>
                  <a:srgbClr val="123D8D"/>
                </a:solidFill>
                <a:latin typeface="微软雅黑"/>
                <a:ea typeface="微软雅黑"/>
                <a:cs typeface="微软雅黑"/>
              </a:rPr>
              <a:t>复杂环境下</a:t>
            </a:r>
          </a:p>
          <a:p xmlns:a="http://schemas.openxmlformats.org/drawingml/2006/main">
            <a:pPr algn="ctr">
              <a:buNone/>
              <a:defRPr sz="2550" b="1">
                <a:solidFill>
                  <a:srgbClr val="123D8D"/>
                </a:solidFill>
                <a:latin typeface="微软雅黑"/>
                <a:ea typeface="微软雅黑"/>
                <a:cs typeface="微软雅黑"/>
              </a:defRPr>
            </a:pPr>
            <a:r>
              <a:rPr sz="2550" b="1">
                <a:solidFill>
                  <a:srgbClr val="123D8D"/>
                </a:solidFill>
                <a:latin typeface="微软雅黑"/>
                <a:ea typeface="微软雅黑"/>
                <a:cs typeface="微软雅黑"/>
              </a:rPr>
              <a:t>多机器人无线通信调度</a:t>
            </a:r>
          </a:p>
        </p:txBody>
      </p:sp>
      <p:sp>
        <p:nvSpPr>
          <p:cNvPr id="5" name="cover-subtitle">
            <a:extLst xmlns:a="http://schemas.openxmlformats.org/drawingml/2006/main">
              <a:ext uri="{FF2B5EF4-FFF2-40B4-BE49-F238E27FC236}">
                <a16:creationId xmlns:a16="http://schemas.microsoft.com/office/drawing/2014/main" id="{E146523B-0756-42BD-9FB3-00636D5971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3192145"/>
            <a:ext cx="7239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100" b="1">
                <a:solidFill>
                  <a:srgbClr val="0B2F6B"/>
                </a:solidFill>
                <a:latin typeface="微软雅黑"/>
                <a:ea typeface="微软雅黑"/>
                <a:cs typeface="微软雅黑"/>
              </a:defRPr>
            </a:pPr>
            <a:r>
              <a:rPr sz="2100" b="1">
                <a:solidFill>
                  <a:srgbClr val="0B2F6B"/>
                </a:solidFill>
                <a:latin typeface="微软雅黑"/>
                <a:ea typeface="微软雅黑"/>
                <a:cs typeface="微软雅黑"/>
              </a:rPr>
              <a:t>近期工作进展与研究路线</a:t>
            </a:r>
          </a:p>
        </p:txBody>
      </p:sp>
      <p:sp>
        <p:nvSpPr>
          <p:cNvPr id="6" name="cover-context">
            <a:extLst xmlns:a="http://schemas.openxmlformats.org/drawingml/2006/main">
              <a:ext uri="{FF2B5EF4-FFF2-40B4-BE49-F238E27FC236}">
                <a16:creationId xmlns:a16="http://schemas.microsoft.com/office/drawing/2014/main" id="{76C0293E-538D-473B-993B-331609D987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3887470"/>
            <a:ext cx="4572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5F6B76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5F6B76"/>
                </a:solidFill>
                <a:latin typeface="微软雅黑"/>
                <a:ea typeface="微软雅黑"/>
                <a:cs typeface="微软雅黑"/>
              </a:rPr>
              <a:t>从问题提出、文献调研到 Gazebo–ns-3 验证</a:t>
            </a:r>
          </a:p>
        </p:txBody>
      </p:sp>
      <p:sp>
        <p:nvSpPr>
          <p:cNvPr id="7" name="journal">
            <a:extLst xmlns:a="http://schemas.openxmlformats.org/drawingml/2006/main">
              <a:ext uri="{FF2B5EF4-FFF2-40B4-BE49-F238E27FC236}">
                <a16:creationId xmlns:a16="http://schemas.microsoft.com/office/drawing/2014/main" id="{A8734B45-F862-46BF-9F7C-4EB4186C56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4458970"/>
            <a:ext cx="342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500" b="0">
                <a:solidFill>
                  <a:srgbClr val="1B4F9A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0">
                <a:solidFill>
                  <a:srgbClr val="1B4F9A"/>
                </a:solidFill>
                <a:latin typeface="微软雅黑"/>
                <a:ea typeface="微软雅黑"/>
                <a:cs typeface="微软雅黑"/>
              </a:rPr>
              <a:t>工作分享 · 讨论</a:t>
            </a:r>
          </a:p>
        </p:txBody>
      </p:sp>
      <p:sp>
        <p:nvSpPr>
          <p:cNvPr id="8" name="presenter">
            <a:extLst xmlns:a="http://schemas.openxmlformats.org/drawingml/2006/main">
              <a:ext uri="{FF2B5EF4-FFF2-40B4-BE49-F238E27FC236}">
                <a16:creationId xmlns:a16="http://schemas.microsoft.com/office/drawing/2014/main" id="{E9A0DC57-C62E-435D-A5AF-3B94185AB3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5886450"/>
            <a:ext cx="247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5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汇报人：XXX</a:t>
            </a:r>
          </a:p>
        </p:txBody>
      </p:sp>
      <p:sp>
        <p:nvSpPr>
          <p:cNvPr id="9" name="date">
            <a:extLst xmlns:a="http://schemas.openxmlformats.org/drawingml/2006/main">
              <a:ext uri="{FF2B5EF4-FFF2-40B4-BE49-F238E27FC236}">
                <a16:creationId xmlns:a16="http://schemas.microsoft.com/office/drawing/2014/main" id="{7CE1B468-9F34-46BD-9234-7200D0CAF2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5886450"/>
            <a:ext cx="285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5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汇报日期：2026/09/29</a:t>
            </a:r>
          </a:p>
        </p:txBody>
      </p:sp>
    </p:spTree>
    <p:extLst>
      <p:ext uri="{BB962C8B-B14F-4D97-AF65-F5344CB8AC3E}">
        <p14:creationId xmlns:p14="http://schemas.microsoft.com/office/powerpoint/2010/main" val="98155450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7" name="图片 2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073528ebcb1461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482281" y="171450"/>
            <a:ext cx="2323814" cy="742950"/>
          </a:xfrm>
          <a:prstGeom xmlns:a="http://schemas.openxmlformats.org/drawingml/2006/main" prst="rect">
            <a:avLst/>
          </a:prstGeom>
        </p:spPr>
      </p:pic>
      <p:sp>
        <p:nvSpPr>
          <p:cNvPr id="2" name="contents-tab">
            <a:extLst xmlns:a="http://schemas.openxmlformats.org/drawingml/2006/main">
              <a:ext uri="{FF2B5EF4-FFF2-40B4-BE49-F238E27FC236}">
                <a16:creationId xmlns:a16="http://schemas.microsoft.com/office/drawing/2014/main" id="{8412FA2A-5238-4784-A290-8DB2BCCA4C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0"/>
            <a:ext cx="14287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D8D"/>
          </a:solidFill>
          <a:ln xmlns:a="http://schemas.openxmlformats.org/drawingml/2006/main" w="0">
            <a:solidFill>
              <a:srgbClr val="123D8D"/>
            </a:solidFill>
            <a:prstDash val="solid"/>
          </a:ln>
        </p:spPr>
      </p:sp>
      <p:sp>
        <p:nvSpPr>
          <p:cNvPr id="3" name="contents-title">
            <a:extLst xmlns:a="http://schemas.openxmlformats.org/drawingml/2006/main">
              <a:ext uri="{FF2B5EF4-FFF2-40B4-BE49-F238E27FC236}">
                <a16:creationId xmlns:a16="http://schemas.microsoft.com/office/drawing/2014/main" id="{F3750018-1AD3-4FA2-A3EB-EE8D8145D9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66700"/>
            <a:ext cx="10858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28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28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目录</a:t>
            </a:r>
          </a:p>
        </p:txBody>
      </p:sp>
      <p:sp>
        <p:nvSpPr>
          <p:cNvPr id="4" name="contents-en">
            <a:extLst xmlns:a="http://schemas.openxmlformats.org/drawingml/2006/main">
              <a:ext uri="{FF2B5EF4-FFF2-40B4-BE49-F238E27FC236}">
                <a16:creationId xmlns:a16="http://schemas.microsoft.com/office/drawing/2014/main" id="{F7CB861C-B239-4925-82AE-ED277D05C4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819150"/>
            <a:ext cx="1047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2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CONTENTS</a:t>
            </a:r>
          </a:p>
        </p:txBody>
      </p:sp>
      <p:sp>
        <p:nvSpPr>
          <p:cNvPr id="5" name="contents-rule">
            <a:extLst xmlns:a="http://schemas.openxmlformats.org/drawingml/2006/main">
              <a:ext uri="{FF2B5EF4-FFF2-40B4-BE49-F238E27FC236}">
                <a16:creationId xmlns:a16="http://schemas.microsoft.com/office/drawing/2014/main" id="{F7554395-A734-4E7C-9EEB-4316D03887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1200150"/>
            <a:ext cx="1143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6" name="contents-frame">
            <a:extLst xmlns:a="http://schemas.openxmlformats.org/drawingml/2006/main">
              <a:ext uri="{FF2B5EF4-FFF2-40B4-BE49-F238E27FC236}">
                <a16:creationId xmlns:a16="http://schemas.microsoft.com/office/drawing/2014/main" id="{B1147238-80D3-4A85-BB59-5AEEFF5279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771650"/>
            <a:ext cx="10287000" cy="3714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123D8D"/>
            </a:solidFill>
            <a:prstDash val="solid"/>
          </a:ln>
        </p:spPr>
      </p:sp>
      <p:sp>
        <p:nvSpPr>
          <p:cNvPr id="7" name="contents-no-0">
            <a:extLst xmlns:a="http://schemas.openxmlformats.org/drawingml/2006/main">
              <a:ext uri="{FF2B5EF4-FFF2-40B4-BE49-F238E27FC236}">
                <a16:creationId xmlns:a16="http://schemas.microsoft.com/office/drawing/2014/main" id="{76277525-3734-438A-9BFA-2E16AFD696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381250"/>
            <a:ext cx="6191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123D8D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23D8D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8" name="contents-under-0">
            <a:extLst xmlns:a="http://schemas.openxmlformats.org/drawingml/2006/main">
              <a:ext uri="{FF2B5EF4-FFF2-40B4-BE49-F238E27FC236}">
                <a16:creationId xmlns:a16="http://schemas.microsoft.com/office/drawing/2014/main" id="{F7199FC9-0BA7-4474-8877-2B2551251A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838450"/>
            <a:ext cx="666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D8D"/>
          </a:solidFill>
          <a:ln xmlns:a="http://schemas.openxmlformats.org/drawingml/2006/main" w="0">
            <a:solidFill>
              <a:srgbClr val="123D8D"/>
            </a:solidFill>
            <a:prstDash val="solid"/>
          </a:ln>
        </p:spPr>
      </p:sp>
      <p:sp>
        <p:nvSpPr>
          <p:cNvPr id="9" name="contents-label-0">
            <a:extLst xmlns:a="http://schemas.openxmlformats.org/drawingml/2006/main">
              <a:ext uri="{FF2B5EF4-FFF2-40B4-BE49-F238E27FC236}">
                <a16:creationId xmlns:a16="http://schemas.microsoft.com/office/drawing/2014/main" id="{A53F62E2-D923-41E4-850B-BE56DABF20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2409825"/>
            <a:ext cx="171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0B2F6B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1">
                <a:solidFill>
                  <a:srgbClr val="0B2F6B"/>
                </a:solidFill>
                <a:latin typeface="微软雅黑"/>
                <a:ea typeface="微软雅黑"/>
                <a:cs typeface="微软雅黑"/>
              </a:rPr>
              <a:t>问题提出</a:t>
            </a:r>
          </a:p>
        </p:txBody>
      </p:sp>
      <p:sp>
        <p:nvSpPr>
          <p:cNvPr id="10" name="contents-no-1">
            <a:extLst xmlns:a="http://schemas.openxmlformats.org/drawingml/2006/main">
              <a:ext uri="{FF2B5EF4-FFF2-40B4-BE49-F238E27FC236}">
                <a16:creationId xmlns:a16="http://schemas.microsoft.com/office/drawing/2014/main" id="{36091603-30DC-4B7D-B4ED-127D484AEE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2381250"/>
            <a:ext cx="6191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123D8D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23D8D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1" name="contents-under-1">
            <a:extLst xmlns:a="http://schemas.openxmlformats.org/drawingml/2006/main">
              <a:ext uri="{FF2B5EF4-FFF2-40B4-BE49-F238E27FC236}">
                <a16:creationId xmlns:a16="http://schemas.microsoft.com/office/drawing/2014/main" id="{9E990393-9E90-4449-9784-1E8EAE2D95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2838450"/>
            <a:ext cx="666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D8D"/>
          </a:solidFill>
          <a:ln xmlns:a="http://schemas.openxmlformats.org/drawingml/2006/main" w="0">
            <a:solidFill>
              <a:srgbClr val="123D8D"/>
            </a:solidFill>
            <a:prstDash val="solid"/>
          </a:ln>
        </p:spPr>
      </p:sp>
      <p:sp>
        <p:nvSpPr>
          <p:cNvPr id="12" name="contents-label-1">
            <a:extLst xmlns:a="http://schemas.openxmlformats.org/drawingml/2006/main">
              <a:ext uri="{FF2B5EF4-FFF2-40B4-BE49-F238E27FC236}">
                <a16:creationId xmlns:a16="http://schemas.microsoft.com/office/drawing/2014/main" id="{9F3CCB73-61F6-4020-B74A-0814FAD3C3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53075" y="2409825"/>
            <a:ext cx="171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0B2F6B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1">
                <a:solidFill>
                  <a:srgbClr val="0B2F6B"/>
                </a:solidFill>
                <a:latin typeface="微软雅黑"/>
                <a:ea typeface="微软雅黑"/>
                <a:cs typeface="微软雅黑"/>
              </a:rPr>
              <a:t>文献调研</a:t>
            </a:r>
          </a:p>
        </p:txBody>
      </p:sp>
      <p:sp>
        <p:nvSpPr>
          <p:cNvPr id="13" name="contents-no-2">
            <a:extLst xmlns:a="http://schemas.openxmlformats.org/drawingml/2006/main">
              <a:ext uri="{FF2B5EF4-FFF2-40B4-BE49-F238E27FC236}">
                <a16:creationId xmlns:a16="http://schemas.microsoft.com/office/drawing/2014/main" id="{C3689B65-B00B-4882-9A33-424A26AE02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381250"/>
            <a:ext cx="6191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123D8D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23D8D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4" name="contents-under-2">
            <a:extLst xmlns:a="http://schemas.openxmlformats.org/drawingml/2006/main">
              <a:ext uri="{FF2B5EF4-FFF2-40B4-BE49-F238E27FC236}">
                <a16:creationId xmlns:a16="http://schemas.microsoft.com/office/drawing/2014/main" id="{38005C27-5FF4-418F-B6C6-4D2837388F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838450"/>
            <a:ext cx="666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D8D"/>
          </a:solidFill>
          <a:ln xmlns:a="http://schemas.openxmlformats.org/drawingml/2006/main" w="0">
            <a:solidFill>
              <a:srgbClr val="123D8D"/>
            </a:solidFill>
            <a:prstDash val="solid"/>
          </a:ln>
        </p:spPr>
      </p:sp>
      <p:sp>
        <p:nvSpPr>
          <p:cNvPr id="15" name="contents-label-2">
            <a:extLst xmlns:a="http://schemas.openxmlformats.org/drawingml/2006/main">
              <a:ext uri="{FF2B5EF4-FFF2-40B4-BE49-F238E27FC236}">
                <a16:creationId xmlns:a16="http://schemas.microsoft.com/office/drawing/2014/main" id="{F545D5AB-B675-4D33-B1DF-929CB7E420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2409825"/>
            <a:ext cx="171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0B2F6B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1">
                <a:solidFill>
                  <a:srgbClr val="0B2F6B"/>
                </a:solidFill>
                <a:latin typeface="微软雅黑"/>
                <a:ea typeface="微软雅黑"/>
                <a:cs typeface="微软雅黑"/>
              </a:rPr>
              <a:t>方法与路线</a:t>
            </a:r>
          </a:p>
        </p:txBody>
      </p:sp>
      <p:sp>
        <p:nvSpPr>
          <p:cNvPr id="16" name="contents-no-3">
            <a:extLst xmlns:a="http://schemas.openxmlformats.org/drawingml/2006/main">
              <a:ext uri="{FF2B5EF4-FFF2-40B4-BE49-F238E27FC236}">
                <a16:creationId xmlns:a16="http://schemas.microsoft.com/office/drawing/2014/main" id="{7D6A8720-0DAC-4640-A64E-CD659D66EB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905250"/>
            <a:ext cx="6191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123D8D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23D8D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17" name="contents-under-3">
            <a:extLst xmlns:a="http://schemas.openxmlformats.org/drawingml/2006/main">
              <a:ext uri="{FF2B5EF4-FFF2-40B4-BE49-F238E27FC236}">
                <a16:creationId xmlns:a16="http://schemas.microsoft.com/office/drawing/2014/main" id="{4199EF18-9AB3-4187-BB2D-B5CEB264B0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362450"/>
            <a:ext cx="666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D8D"/>
          </a:solidFill>
          <a:ln xmlns:a="http://schemas.openxmlformats.org/drawingml/2006/main" w="0">
            <a:solidFill>
              <a:srgbClr val="123D8D"/>
            </a:solidFill>
            <a:prstDash val="solid"/>
          </a:ln>
        </p:spPr>
      </p:sp>
      <p:sp>
        <p:nvSpPr>
          <p:cNvPr id="18" name="contents-label-3">
            <a:extLst xmlns:a="http://schemas.openxmlformats.org/drawingml/2006/main">
              <a:ext uri="{FF2B5EF4-FFF2-40B4-BE49-F238E27FC236}">
                <a16:creationId xmlns:a16="http://schemas.microsoft.com/office/drawing/2014/main" id="{3C11CB5A-9241-410B-95BA-550CFBA0F7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3933825"/>
            <a:ext cx="171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0B2F6B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1">
                <a:solidFill>
                  <a:srgbClr val="0B2F6B"/>
                </a:solidFill>
                <a:latin typeface="微软雅黑"/>
                <a:ea typeface="微软雅黑"/>
                <a:cs typeface="微软雅黑"/>
              </a:rPr>
              <a:t>已完成工作</a:t>
            </a:r>
          </a:p>
        </p:txBody>
      </p:sp>
      <p:sp>
        <p:nvSpPr>
          <p:cNvPr id="19" name="contents-no-4">
            <a:extLst xmlns:a="http://schemas.openxmlformats.org/drawingml/2006/main">
              <a:ext uri="{FF2B5EF4-FFF2-40B4-BE49-F238E27FC236}">
                <a16:creationId xmlns:a16="http://schemas.microsoft.com/office/drawing/2014/main" id="{EA2CCD37-083E-434B-9C9F-E45A565922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3905250"/>
            <a:ext cx="6191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123D8D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23D8D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20" name="contents-under-4">
            <a:extLst xmlns:a="http://schemas.openxmlformats.org/drawingml/2006/main">
              <a:ext uri="{FF2B5EF4-FFF2-40B4-BE49-F238E27FC236}">
                <a16:creationId xmlns:a16="http://schemas.microsoft.com/office/drawing/2014/main" id="{A50B6553-8E60-44A2-88DF-325F069F23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4362450"/>
            <a:ext cx="666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D8D"/>
          </a:solidFill>
          <a:ln xmlns:a="http://schemas.openxmlformats.org/drawingml/2006/main" w="0">
            <a:solidFill>
              <a:srgbClr val="123D8D"/>
            </a:solidFill>
            <a:prstDash val="solid"/>
          </a:ln>
        </p:spPr>
      </p:sp>
      <p:sp>
        <p:nvSpPr>
          <p:cNvPr id="21" name="contents-label-4">
            <a:extLst xmlns:a="http://schemas.openxmlformats.org/drawingml/2006/main">
              <a:ext uri="{FF2B5EF4-FFF2-40B4-BE49-F238E27FC236}">
                <a16:creationId xmlns:a16="http://schemas.microsoft.com/office/drawing/2014/main" id="{4C4DBDF2-03B8-4CBA-9FB6-A955C7DE38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53075" y="3933825"/>
            <a:ext cx="171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0B2F6B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1">
                <a:solidFill>
                  <a:srgbClr val="0B2F6B"/>
                </a:solidFill>
                <a:latin typeface="微软雅黑"/>
                <a:ea typeface="微软雅黑"/>
                <a:cs typeface="微软雅黑"/>
              </a:rPr>
              <a:t>演示安排</a:t>
            </a:r>
          </a:p>
        </p:txBody>
      </p:sp>
      <p:sp>
        <p:nvSpPr>
          <p:cNvPr id="22" name="contents-no-5">
            <a:extLst xmlns:a="http://schemas.openxmlformats.org/drawingml/2006/main">
              <a:ext uri="{FF2B5EF4-FFF2-40B4-BE49-F238E27FC236}">
                <a16:creationId xmlns:a16="http://schemas.microsoft.com/office/drawing/2014/main" id="{569B1504-5EC1-47C9-A369-A791FA3DE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905250"/>
            <a:ext cx="6191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123D8D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23D8D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23" name="contents-under-5">
            <a:extLst xmlns:a="http://schemas.openxmlformats.org/drawingml/2006/main">
              <a:ext uri="{FF2B5EF4-FFF2-40B4-BE49-F238E27FC236}">
                <a16:creationId xmlns:a16="http://schemas.microsoft.com/office/drawing/2014/main" id="{B6E16D69-6F53-4971-BEF8-8F665EA5C1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4362450"/>
            <a:ext cx="666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D8D"/>
          </a:solidFill>
          <a:ln xmlns:a="http://schemas.openxmlformats.org/drawingml/2006/main" w="0">
            <a:solidFill>
              <a:srgbClr val="123D8D"/>
            </a:solidFill>
            <a:prstDash val="solid"/>
          </a:ln>
        </p:spPr>
      </p:sp>
      <p:sp>
        <p:nvSpPr>
          <p:cNvPr id="24" name="contents-label-5">
            <a:extLst xmlns:a="http://schemas.openxmlformats.org/drawingml/2006/main">
              <a:ext uri="{FF2B5EF4-FFF2-40B4-BE49-F238E27FC236}">
                <a16:creationId xmlns:a16="http://schemas.microsoft.com/office/drawing/2014/main" id="{CBE2A563-5023-4745-A93C-0B9ABF2C7B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3933825"/>
            <a:ext cx="171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0B2F6B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1">
                <a:solidFill>
                  <a:srgbClr val="0B2F6B"/>
                </a:solidFill>
                <a:latin typeface="微软雅黑"/>
                <a:ea typeface="微软雅黑"/>
                <a:cs typeface="微软雅黑"/>
              </a:rPr>
              <a:t>反思与讨论</a:t>
            </a:r>
          </a:p>
        </p:txBody>
      </p:sp>
      <p:sp>
        <p:nvSpPr>
          <p:cNvPr id="25" name="contents-message">
            <a:extLst xmlns:a="http://schemas.openxmlformats.org/drawingml/2006/main">
              <a:ext uri="{FF2B5EF4-FFF2-40B4-BE49-F238E27FC236}">
                <a16:creationId xmlns:a16="http://schemas.microsoft.com/office/drawing/2014/main" id="{982C4FA4-865B-42C8-A1F0-436407E1CC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5905500"/>
            <a:ext cx="8382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0">
                <a:solidFill>
                  <a:srgbClr val="5F6B76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0">
                <a:solidFill>
                  <a:srgbClr val="5F6B76"/>
                </a:solidFill>
                <a:latin typeface="微软雅黑"/>
                <a:ea typeface="微软雅黑"/>
                <a:cs typeface="微软雅黑"/>
              </a:rPr>
              <a:t>把任务、消息、网络和日志连成一条可复现、可质疑的证据链。</a:t>
            </a:r>
          </a:p>
        </p:txBody>
      </p:sp>
    </p:spTree>
    <p:extLst>
      <p:ext uri="{BB962C8B-B14F-4D97-AF65-F5344CB8AC3E}">
        <p14:creationId xmlns:p14="http://schemas.microsoft.com/office/powerpoint/2010/main" val="55257307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0" name="left-nav-bg">
            <a:extLst xmlns:a="http://schemas.openxmlformats.org/drawingml/2006/main">
              <a:ext uri="{FF2B5EF4-FFF2-40B4-BE49-F238E27FC236}">
                <a16:creationId xmlns:a16="http://schemas.microsoft.com/office/drawing/2014/main" id="{B8346035-D9C4-4FE5-AEF5-574B791FB5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906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D8D"/>
          </a:solidFill>
          <a:ln xmlns:a="http://schemas.openxmlformats.org/drawingml/2006/main" w="0">
            <a:solidFill>
              <a:srgbClr val="123D8D"/>
            </a:solidFill>
            <a:prstDash val="solid"/>
          </a:ln>
        </p:spPr>
      </p:sp>
      <p:sp>
        <p:nvSpPr>
          <p:cNvPr id="2" name="nav-label">
            <a:extLst xmlns:a="http://schemas.openxmlformats.org/drawingml/2006/main">
              <a:ext uri="{FF2B5EF4-FFF2-40B4-BE49-F238E27FC236}">
                <a16:creationId xmlns:a16="http://schemas.microsoft.com/office/drawing/2014/main" id="{816A2C3B-FBE1-4C5D-81D2-3A3ECA7FD4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" y="266700"/>
            <a:ext cx="933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8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近期工作分享</a:t>
            </a:r>
          </a:p>
        </p:txBody>
      </p:sp>
      <p:sp>
        <p:nvSpPr>
          <p:cNvPr id="3" name="nav-0">
            <a:extLst xmlns:a="http://schemas.openxmlformats.org/drawingml/2006/main">
              <a:ext uri="{FF2B5EF4-FFF2-40B4-BE49-F238E27FC236}">
                <a16:creationId xmlns:a16="http://schemas.microsoft.com/office/drawing/2014/main" id="{CC91EE01-8F5A-426F-BC0A-30B87A3BB3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" y="2095500"/>
            <a:ext cx="8763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7FD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4" name="nav-text-0">
            <a:extLst xmlns:a="http://schemas.openxmlformats.org/drawingml/2006/main">
              <a:ext uri="{FF2B5EF4-FFF2-40B4-BE49-F238E27FC236}">
                <a16:creationId xmlns:a16="http://schemas.microsoft.com/office/drawing/2014/main" id="{88FA0A0E-5562-4335-A3C8-8F50ECC07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" y="2181225"/>
            <a:ext cx="8191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38" b="1">
                <a:solidFill>
                  <a:srgbClr val="123D8D"/>
                </a:solidFill>
                <a:latin typeface="微软雅黑"/>
                <a:ea typeface="微软雅黑"/>
                <a:cs typeface="微软雅黑"/>
              </a:defRPr>
            </a:pPr>
            <a:r>
              <a:rPr sz="938" b="1">
                <a:solidFill>
                  <a:srgbClr val="123D8D"/>
                </a:solidFill>
                <a:latin typeface="微软雅黑"/>
                <a:ea typeface="微软雅黑"/>
                <a:cs typeface="微软雅黑"/>
              </a:rPr>
              <a:t>问题提出</a:t>
            </a:r>
          </a:p>
        </p:txBody>
      </p:sp>
      <p:sp>
        <p:nvSpPr>
          <p:cNvPr id="5" name="nav-1">
            <a:extLst xmlns:a="http://schemas.openxmlformats.org/drawingml/2006/main">
              <a:ext uri="{FF2B5EF4-FFF2-40B4-BE49-F238E27FC236}">
                <a16:creationId xmlns:a16="http://schemas.microsoft.com/office/drawing/2014/main" id="{0C8F8A44-88D8-4922-A31E-136E76D5E5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" y="2562225"/>
            <a:ext cx="8763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4F9A"/>
          </a:solidFill>
          <a:ln xmlns:a="http://schemas.openxmlformats.org/drawingml/2006/main" w="9525">
            <a:solidFill>
              <a:srgbClr val="3169AA"/>
            </a:solidFill>
            <a:prstDash val="solid"/>
          </a:ln>
        </p:spPr>
      </p:sp>
      <p:sp>
        <p:nvSpPr>
          <p:cNvPr id="6" name="nav-text-1">
            <a:extLst xmlns:a="http://schemas.openxmlformats.org/drawingml/2006/main">
              <a:ext uri="{FF2B5EF4-FFF2-40B4-BE49-F238E27FC236}">
                <a16:creationId xmlns:a16="http://schemas.microsoft.com/office/drawing/2014/main" id="{0C4CA5F0-E105-4159-AB66-EF6F929F9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" y="2647950"/>
            <a:ext cx="8191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38" b="0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938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文献调研</a:t>
            </a:r>
          </a:p>
        </p:txBody>
      </p:sp>
      <p:sp>
        <p:nvSpPr>
          <p:cNvPr id="7" name="nav-2">
            <a:extLst xmlns:a="http://schemas.openxmlformats.org/drawingml/2006/main">
              <a:ext uri="{FF2B5EF4-FFF2-40B4-BE49-F238E27FC236}">
                <a16:creationId xmlns:a16="http://schemas.microsoft.com/office/drawing/2014/main" id="{2CF26ED2-0D4B-4D27-BFD1-244E5AF5B3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" y="3028950"/>
            <a:ext cx="8763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4F9A"/>
          </a:solidFill>
          <a:ln xmlns:a="http://schemas.openxmlformats.org/drawingml/2006/main" w="9525">
            <a:solidFill>
              <a:srgbClr val="3169AA"/>
            </a:solidFill>
            <a:prstDash val="solid"/>
          </a:ln>
        </p:spPr>
      </p:sp>
      <p:sp>
        <p:nvSpPr>
          <p:cNvPr id="8" name="nav-text-2">
            <a:extLst xmlns:a="http://schemas.openxmlformats.org/drawingml/2006/main">
              <a:ext uri="{FF2B5EF4-FFF2-40B4-BE49-F238E27FC236}">
                <a16:creationId xmlns:a16="http://schemas.microsoft.com/office/drawing/2014/main" id="{44D1EC16-70F6-4138-9464-492F0A45BB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" y="3114675"/>
            <a:ext cx="8191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38" b="0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938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方法与路线</a:t>
            </a:r>
          </a:p>
        </p:txBody>
      </p:sp>
      <p:sp>
        <p:nvSpPr>
          <p:cNvPr id="9" name="nav-3">
            <a:extLst xmlns:a="http://schemas.openxmlformats.org/drawingml/2006/main">
              <a:ext uri="{FF2B5EF4-FFF2-40B4-BE49-F238E27FC236}">
                <a16:creationId xmlns:a16="http://schemas.microsoft.com/office/drawing/2014/main" id="{56870947-C791-486B-8472-3FCA8A7A75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" y="3495675"/>
            <a:ext cx="8763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4F9A"/>
          </a:solidFill>
          <a:ln xmlns:a="http://schemas.openxmlformats.org/drawingml/2006/main" w="9525">
            <a:solidFill>
              <a:srgbClr val="3169AA"/>
            </a:solidFill>
            <a:prstDash val="solid"/>
          </a:ln>
        </p:spPr>
      </p:sp>
      <p:sp>
        <p:nvSpPr>
          <p:cNvPr id="10" name="nav-text-3">
            <a:extLst xmlns:a="http://schemas.openxmlformats.org/drawingml/2006/main">
              <a:ext uri="{FF2B5EF4-FFF2-40B4-BE49-F238E27FC236}">
                <a16:creationId xmlns:a16="http://schemas.microsoft.com/office/drawing/2014/main" id="{2A6136C7-2634-4831-9FA7-7898C4CFDA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" y="3581400"/>
            <a:ext cx="8191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38" b="0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938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已完成工作</a:t>
            </a:r>
          </a:p>
        </p:txBody>
      </p:sp>
      <p:sp>
        <p:nvSpPr>
          <p:cNvPr id="11" name="nav-4">
            <a:extLst xmlns:a="http://schemas.openxmlformats.org/drawingml/2006/main">
              <a:ext uri="{FF2B5EF4-FFF2-40B4-BE49-F238E27FC236}">
                <a16:creationId xmlns:a16="http://schemas.microsoft.com/office/drawing/2014/main" id="{7814310C-5ECB-4418-BF9F-47A7172278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" y="3962400"/>
            <a:ext cx="8763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4F9A"/>
          </a:solidFill>
          <a:ln xmlns:a="http://schemas.openxmlformats.org/drawingml/2006/main" w="9525">
            <a:solidFill>
              <a:srgbClr val="3169AA"/>
            </a:solidFill>
            <a:prstDash val="solid"/>
          </a:ln>
        </p:spPr>
      </p:sp>
      <p:sp>
        <p:nvSpPr>
          <p:cNvPr id="12" name="nav-text-4">
            <a:extLst xmlns:a="http://schemas.openxmlformats.org/drawingml/2006/main">
              <a:ext uri="{FF2B5EF4-FFF2-40B4-BE49-F238E27FC236}">
                <a16:creationId xmlns:a16="http://schemas.microsoft.com/office/drawing/2014/main" id="{FC68C406-8C14-4C34-BD41-D8FA4B2CBE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" y="4048125"/>
            <a:ext cx="8191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38" b="0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938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演示安排</a:t>
            </a:r>
          </a:p>
        </p:txBody>
      </p:sp>
      <p:sp>
        <p:nvSpPr>
          <p:cNvPr id="13" name="nav-5">
            <a:extLst xmlns:a="http://schemas.openxmlformats.org/drawingml/2006/main">
              <a:ext uri="{FF2B5EF4-FFF2-40B4-BE49-F238E27FC236}">
                <a16:creationId xmlns:a16="http://schemas.microsoft.com/office/drawing/2014/main" id="{240187F5-2E31-4399-81AB-57983EA686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" y="4429125"/>
            <a:ext cx="8763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4F9A"/>
          </a:solidFill>
          <a:ln xmlns:a="http://schemas.openxmlformats.org/drawingml/2006/main" w="9525">
            <a:solidFill>
              <a:srgbClr val="3169AA"/>
            </a:solidFill>
            <a:prstDash val="solid"/>
          </a:ln>
        </p:spPr>
      </p:sp>
      <p:sp>
        <p:nvSpPr>
          <p:cNvPr id="14" name="nav-text-5">
            <a:extLst xmlns:a="http://schemas.openxmlformats.org/drawingml/2006/main">
              <a:ext uri="{FF2B5EF4-FFF2-40B4-BE49-F238E27FC236}">
                <a16:creationId xmlns:a16="http://schemas.microsoft.com/office/drawing/2014/main" id="{353389E1-5C5A-4127-958F-30877F778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" y="4514850"/>
            <a:ext cx="8191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38" b="0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938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反思讨论</a:t>
            </a:r>
          </a:p>
        </p:txBody>
      </p:sp>
      <p:sp>
        <p:nvSpPr>
          <p:cNvPr id="15" name="title-square">
            <a:extLst xmlns:a="http://schemas.openxmlformats.org/drawingml/2006/main">
              <a:ext uri="{FF2B5EF4-FFF2-40B4-BE49-F238E27FC236}">
                <a16:creationId xmlns:a16="http://schemas.microsoft.com/office/drawing/2014/main" id="{7A6281AB-D814-4B37-8547-2DA42D3D80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28600"/>
            <a:ext cx="1143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D8D"/>
          </a:solidFill>
          <a:ln xmlns:a="http://schemas.openxmlformats.org/drawingml/2006/main" w="0">
            <a:solidFill>
              <a:srgbClr val="123D8D"/>
            </a:solidFill>
            <a:prstDash val="solid"/>
          </a:ln>
        </p:spPr>
      </p:sp>
      <p:sp>
        <p:nvSpPr>
          <p:cNvPr id="16" name="slide-title">
            <a:extLst xmlns:a="http://schemas.openxmlformats.org/drawingml/2006/main">
              <a:ext uri="{FF2B5EF4-FFF2-40B4-BE49-F238E27FC236}">
                <a16:creationId xmlns:a16="http://schemas.microsoft.com/office/drawing/2014/main" id="{A7FB3438-20D6-40B3-B83C-3CC9A83BFF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161925"/>
            <a:ext cx="83343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1667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0B2F6B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1">
                <a:solidFill>
                  <a:srgbClr val="0B2F6B"/>
                </a:solidFill>
                <a:latin typeface="微软雅黑"/>
                <a:ea typeface="微软雅黑"/>
                <a:cs typeface="微软雅黑"/>
              </a:rPr>
              <a:t>1  从一个大问题开始：无线不确定性如何改变任务</a:t>
            </a:r>
          </a:p>
        </p:txBody>
      </p:sp>
      <p:sp>
        <p:nvSpPr>
          <p:cNvPr id="17" name="title-rule">
            <a:extLst xmlns:a="http://schemas.openxmlformats.org/drawingml/2006/main">
              <a:ext uri="{FF2B5EF4-FFF2-40B4-BE49-F238E27FC236}">
                <a16:creationId xmlns:a16="http://schemas.microsoft.com/office/drawing/2014/main" id="{21D4DF2D-4DAE-489D-B831-CF7D4A2588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590550"/>
            <a:ext cx="87153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D8D"/>
          </a:solidFill>
          <a:ln xmlns:a="http://schemas.openxmlformats.org/drawingml/2006/main" w="0">
            <a:solidFill>
              <a:srgbClr val="123D8D"/>
            </a:solidFill>
            <a:prstDash val="solid"/>
          </a:ln>
        </p:spPr>
      </p:sp>
      <p:pic>
        <p:nvPicPr>
          <p:cNvPr id="61" name="图片 5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a1409e977b54aa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220791" y="66675"/>
            <a:ext cx="1608794" cy="514350"/>
          </a:xfrm>
          <a:prstGeom xmlns:a="http://schemas.openxmlformats.org/drawingml/2006/main" prst="rect">
            <a:avLst/>
          </a:prstGeom>
        </p:spPr>
      </p:pic>
      <p:sp>
        <p:nvSpPr>
          <p:cNvPr id="19" name="page-number">
            <a:extLst xmlns:a="http://schemas.openxmlformats.org/drawingml/2006/main">
              <a:ext uri="{FF2B5EF4-FFF2-40B4-BE49-F238E27FC236}">
                <a16:creationId xmlns:a16="http://schemas.microsoft.com/office/drawing/2014/main" id="{39CB49B9-45EB-4E80-B6D8-39D86EC42F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2375" y="6486525"/>
            <a:ext cx="47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7A8894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7A8894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20" name="citation-footer">
            <a:extLst xmlns:a="http://schemas.openxmlformats.org/drawingml/2006/main">
              <a:ext uri="{FF2B5EF4-FFF2-40B4-BE49-F238E27FC236}">
                <a16:creationId xmlns:a16="http://schemas.microsoft.com/office/drawing/2014/main" id="{8177FC77-2DF9-4F45-B783-E7612322CD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6457950"/>
            <a:ext cx="495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0834"/>
          </a:bodyPr>
          <a:lstStyle xmlns:a="http://schemas.openxmlformats.org/drawingml/2006/main"/>
          <a:p xmlns:a="http://schemas.openxmlformats.org/drawingml/2006/main">
            <a:pPr algn="l">
              <a:buNone/>
              <a:defRPr sz="863" b="0">
                <a:solidFill>
                  <a:srgbClr val="7A8894"/>
                </a:solidFill>
                <a:latin typeface="微软雅黑"/>
                <a:ea typeface="微软雅黑"/>
                <a:cs typeface="微软雅黑"/>
              </a:defRPr>
            </a:pPr>
            <a:r>
              <a:rPr sz="863" b="0">
                <a:solidFill>
                  <a:srgbClr val="7A8894"/>
                </a:solidFill>
                <a:latin typeface="微软雅黑"/>
                <a:ea typeface="微软雅黑"/>
                <a:cs typeface="微软雅黑"/>
              </a:rPr>
              <a:t>问题提出 · 任务需求—消息准入—无线交付—任务后果</a:t>
            </a:r>
          </a:p>
        </p:txBody>
      </p:sp>
      <p:pic>
        <p:nvPicPr>
          <p:cNvPr id="6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bde18891eb44939"/>
          <a:stretch xmlns:a="http://schemas.openxmlformats.org/drawingml/2006/main"/>
        </p:blipFill>
        <p:spPr>
          <a:xfrm xmlns:a="http://schemas.openxmlformats.org/drawingml/2006/main">
            <a:off x="1352550" y="944166"/>
            <a:ext cx="10429875" cy="4693444"/>
          </a:xfrm>
          <a:prstGeom xmlns:a="http://schemas.openxmlformats.org/drawingml/2006/main" prst="rect">
            <a:avLst/>
          </a:prstGeom>
        </p:spPr>
      </p:pic>
      <p:sp>
        <p:nvSpPr>
          <p:cNvPr id="43" name="problem-caption">
            <a:extLst xmlns:a="http://schemas.openxmlformats.org/drawingml/2006/main">
              <a:ext uri="{FF2B5EF4-FFF2-40B4-BE49-F238E27FC236}">
                <a16:creationId xmlns:a16="http://schemas.microsoft.com/office/drawing/2014/main" id="{615ABDAB-64C5-46E1-A50C-F63132CC49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5781675"/>
            <a:ext cx="96678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63">
                <a:solidFill>
                  <a:srgbClr val="5F6B76"/>
                </a:solidFill>
                <a:latin typeface="微软雅黑"/>
                <a:ea typeface="微软雅黑"/>
                <a:cs typeface="微软雅黑"/>
              </a:defRPr>
            </a:pPr>
            <a:r>
              <a:rPr sz="1163">
                <a:solidFill>
                  <a:srgbClr val="5F6B76"/>
                </a:solidFill>
                <a:latin typeface="微软雅黑"/>
                <a:ea typeface="微软雅黑"/>
                <a:cs typeface="微软雅黑"/>
              </a:rPr>
              <a:t>同一条信息链里，候选消息会经历准入、排队、竞争、交付、消费；只看最终吞吐率，解释不了任务为什么变差。</a:t>
            </a:r>
          </a:p>
        </p:txBody>
      </p:sp>
    </p:spTree>
    <p:extLst>
      <p:ext uri="{BB962C8B-B14F-4D97-AF65-F5344CB8AC3E}">
        <p14:creationId xmlns:p14="http://schemas.microsoft.com/office/powerpoint/2010/main" val="105648135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7" name="left-nav-bg">
            <a:extLst xmlns:a="http://schemas.openxmlformats.org/drawingml/2006/main">
              <a:ext uri="{FF2B5EF4-FFF2-40B4-BE49-F238E27FC236}">
                <a16:creationId xmlns:a16="http://schemas.microsoft.com/office/drawing/2014/main" id="{84510785-B90E-4A1C-A417-71C9B323F3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906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D8D"/>
          </a:solidFill>
          <a:ln xmlns:a="http://schemas.openxmlformats.org/drawingml/2006/main" w="0">
            <a:solidFill>
              <a:srgbClr val="123D8D"/>
            </a:solidFill>
            <a:prstDash val="solid"/>
          </a:ln>
        </p:spPr>
      </p:sp>
      <p:sp>
        <p:nvSpPr>
          <p:cNvPr id="2" name="nav-label">
            <a:extLst xmlns:a="http://schemas.openxmlformats.org/drawingml/2006/main">
              <a:ext uri="{FF2B5EF4-FFF2-40B4-BE49-F238E27FC236}">
                <a16:creationId xmlns:a16="http://schemas.microsoft.com/office/drawing/2014/main" id="{EB5AC645-3E14-4BB9-9336-F6987323FC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" y="266700"/>
            <a:ext cx="933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8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近期工作分享</a:t>
            </a:r>
          </a:p>
        </p:txBody>
      </p:sp>
      <p:sp>
        <p:nvSpPr>
          <p:cNvPr id="3" name="nav-0">
            <a:extLst xmlns:a="http://schemas.openxmlformats.org/drawingml/2006/main">
              <a:ext uri="{FF2B5EF4-FFF2-40B4-BE49-F238E27FC236}">
                <a16:creationId xmlns:a16="http://schemas.microsoft.com/office/drawing/2014/main" id="{1ADB5CF6-0E3B-4DD3-8E3C-C960ED671B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" y="2095500"/>
            <a:ext cx="8763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7FD"/>
          </a:solidFill>
          <a:ln xmlns:a="http://schemas.openxmlformats.org/drawingml/2006/main" w="9525">
            <a:solidFill>
              <a:srgbClr val="3169AA"/>
            </a:solidFill>
            <a:prstDash val="solid"/>
          </a:ln>
        </p:spPr>
      </p:sp>
      <p:sp>
        <p:nvSpPr>
          <p:cNvPr id="4" name="nav-text-0">
            <a:extLst xmlns:a="http://schemas.openxmlformats.org/drawingml/2006/main">
              <a:ext uri="{FF2B5EF4-FFF2-40B4-BE49-F238E27FC236}">
                <a16:creationId xmlns:a16="http://schemas.microsoft.com/office/drawing/2014/main" id="{B295AC4A-1126-47D2-82EC-976CD22229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" y="2181225"/>
            <a:ext cx="8191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38" b="1">
                <a:solidFill>
                  <a:srgbClr val="123D8D"/>
                </a:solidFill>
                <a:latin typeface="微软雅黑"/>
                <a:ea typeface="微软雅黑"/>
                <a:cs typeface="微软雅黑"/>
              </a:defRPr>
            </a:pPr>
            <a:r>
              <a:rPr sz="938" b="1">
                <a:solidFill>
                  <a:srgbClr val="123D8D"/>
                </a:solidFill>
                <a:latin typeface="微软雅黑"/>
                <a:ea typeface="微软雅黑"/>
                <a:cs typeface="微软雅黑"/>
              </a:rPr>
              <a:t>问题提出</a:t>
            </a:r>
          </a:p>
        </p:txBody>
      </p:sp>
      <p:sp>
        <p:nvSpPr>
          <p:cNvPr id="5" name="nav-1">
            <a:extLst xmlns:a="http://schemas.openxmlformats.org/drawingml/2006/main">
              <a:ext uri="{FF2B5EF4-FFF2-40B4-BE49-F238E27FC236}">
                <a16:creationId xmlns:a16="http://schemas.microsoft.com/office/drawing/2014/main" id="{8E331A54-2FCF-471A-9971-FAC147AFF4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" y="2562225"/>
            <a:ext cx="8763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4F9A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6" name="nav-text-1">
            <a:extLst xmlns:a="http://schemas.openxmlformats.org/drawingml/2006/main">
              <a:ext uri="{FF2B5EF4-FFF2-40B4-BE49-F238E27FC236}">
                <a16:creationId xmlns:a16="http://schemas.microsoft.com/office/drawing/2014/main" id="{9B3B3193-1E22-41DE-877D-14EE114161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" y="2647950"/>
            <a:ext cx="8191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38" b="0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938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文献调研</a:t>
            </a:r>
          </a:p>
        </p:txBody>
      </p:sp>
      <p:sp>
        <p:nvSpPr>
          <p:cNvPr id="7" name="nav-2">
            <a:extLst xmlns:a="http://schemas.openxmlformats.org/drawingml/2006/main">
              <a:ext uri="{FF2B5EF4-FFF2-40B4-BE49-F238E27FC236}">
                <a16:creationId xmlns:a16="http://schemas.microsoft.com/office/drawing/2014/main" id="{59CF9F56-21E6-479A-88DB-FDBF2A8AD4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" y="3028950"/>
            <a:ext cx="8763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4F9A"/>
          </a:solidFill>
          <a:ln xmlns:a="http://schemas.openxmlformats.org/drawingml/2006/main" w="9525">
            <a:solidFill>
              <a:srgbClr val="3169AA"/>
            </a:solidFill>
            <a:prstDash val="solid"/>
          </a:ln>
        </p:spPr>
      </p:sp>
      <p:sp>
        <p:nvSpPr>
          <p:cNvPr id="8" name="nav-text-2">
            <a:extLst xmlns:a="http://schemas.openxmlformats.org/drawingml/2006/main">
              <a:ext uri="{FF2B5EF4-FFF2-40B4-BE49-F238E27FC236}">
                <a16:creationId xmlns:a16="http://schemas.microsoft.com/office/drawing/2014/main" id="{58777911-C081-4877-BF4E-CB9CE991EA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" y="3114675"/>
            <a:ext cx="8191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38" b="0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938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方法与路线</a:t>
            </a:r>
          </a:p>
        </p:txBody>
      </p:sp>
      <p:sp>
        <p:nvSpPr>
          <p:cNvPr id="9" name="nav-3">
            <a:extLst xmlns:a="http://schemas.openxmlformats.org/drawingml/2006/main">
              <a:ext uri="{FF2B5EF4-FFF2-40B4-BE49-F238E27FC236}">
                <a16:creationId xmlns:a16="http://schemas.microsoft.com/office/drawing/2014/main" id="{45D7D8C1-4BB8-4D79-B1C8-29E3085B65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" y="3495675"/>
            <a:ext cx="8763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4F9A"/>
          </a:solidFill>
          <a:ln xmlns:a="http://schemas.openxmlformats.org/drawingml/2006/main" w="9525">
            <a:solidFill>
              <a:srgbClr val="3169AA"/>
            </a:solidFill>
            <a:prstDash val="solid"/>
          </a:ln>
        </p:spPr>
      </p:sp>
      <p:sp>
        <p:nvSpPr>
          <p:cNvPr id="10" name="nav-text-3">
            <a:extLst xmlns:a="http://schemas.openxmlformats.org/drawingml/2006/main">
              <a:ext uri="{FF2B5EF4-FFF2-40B4-BE49-F238E27FC236}">
                <a16:creationId xmlns:a16="http://schemas.microsoft.com/office/drawing/2014/main" id="{789023A8-D5E5-4C2C-BA0B-EBB2139335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" y="3581400"/>
            <a:ext cx="8191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38" b="0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938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已完成工作</a:t>
            </a:r>
          </a:p>
        </p:txBody>
      </p:sp>
      <p:sp>
        <p:nvSpPr>
          <p:cNvPr id="11" name="nav-4">
            <a:extLst xmlns:a="http://schemas.openxmlformats.org/drawingml/2006/main">
              <a:ext uri="{FF2B5EF4-FFF2-40B4-BE49-F238E27FC236}">
                <a16:creationId xmlns:a16="http://schemas.microsoft.com/office/drawing/2014/main" id="{B14E2B43-0715-4580-BB2B-4B22B09DF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" y="3962400"/>
            <a:ext cx="8763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4F9A"/>
          </a:solidFill>
          <a:ln xmlns:a="http://schemas.openxmlformats.org/drawingml/2006/main" w="9525">
            <a:solidFill>
              <a:srgbClr val="3169AA"/>
            </a:solidFill>
            <a:prstDash val="solid"/>
          </a:ln>
        </p:spPr>
      </p:sp>
      <p:sp>
        <p:nvSpPr>
          <p:cNvPr id="12" name="nav-text-4">
            <a:extLst xmlns:a="http://schemas.openxmlformats.org/drawingml/2006/main">
              <a:ext uri="{FF2B5EF4-FFF2-40B4-BE49-F238E27FC236}">
                <a16:creationId xmlns:a16="http://schemas.microsoft.com/office/drawing/2014/main" id="{D698FD60-36EC-48A2-90A4-E6E6752B9C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" y="4048125"/>
            <a:ext cx="8191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38" b="0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938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演示安排</a:t>
            </a:r>
          </a:p>
        </p:txBody>
      </p:sp>
      <p:sp>
        <p:nvSpPr>
          <p:cNvPr id="13" name="nav-5">
            <a:extLst xmlns:a="http://schemas.openxmlformats.org/drawingml/2006/main">
              <a:ext uri="{FF2B5EF4-FFF2-40B4-BE49-F238E27FC236}">
                <a16:creationId xmlns:a16="http://schemas.microsoft.com/office/drawing/2014/main" id="{B817B142-0B0E-43A4-8FDA-763199989F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" y="4429125"/>
            <a:ext cx="8763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4F9A"/>
          </a:solidFill>
          <a:ln xmlns:a="http://schemas.openxmlformats.org/drawingml/2006/main" w="9525">
            <a:solidFill>
              <a:srgbClr val="3169AA"/>
            </a:solidFill>
            <a:prstDash val="solid"/>
          </a:ln>
        </p:spPr>
      </p:sp>
      <p:sp>
        <p:nvSpPr>
          <p:cNvPr id="14" name="nav-text-5">
            <a:extLst xmlns:a="http://schemas.openxmlformats.org/drawingml/2006/main">
              <a:ext uri="{FF2B5EF4-FFF2-40B4-BE49-F238E27FC236}">
                <a16:creationId xmlns:a16="http://schemas.microsoft.com/office/drawing/2014/main" id="{11FEC3B5-A724-4E8E-84BE-BA39E894B0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" y="4514850"/>
            <a:ext cx="8191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38" b="0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938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反思讨论</a:t>
            </a:r>
          </a:p>
        </p:txBody>
      </p:sp>
      <p:sp>
        <p:nvSpPr>
          <p:cNvPr id="15" name="title-square">
            <a:extLst xmlns:a="http://schemas.openxmlformats.org/drawingml/2006/main">
              <a:ext uri="{FF2B5EF4-FFF2-40B4-BE49-F238E27FC236}">
                <a16:creationId xmlns:a16="http://schemas.microsoft.com/office/drawing/2014/main" id="{C788E6C4-7AD5-436A-9687-F29556CE5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28600"/>
            <a:ext cx="1143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D8D"/>
          </a:solidFill>
          <a:ln xmlns:a="http://schemas.openxmlformats.org/drawingml/2006/main" w="0">
            <a:solidFill>
              <a:srgbClr val="123D8D"/>
            </a:solidFill>
            <a:prstDash val="solid"/>
          </a:ln>
        </p:spPr>
      </p:sp>
      <p:sp>
        <p:nvSpPr>
          <p:cNvPr id="16" name="slide-title">
            <a:extLst xmlns:a="http://schemas.openxmlformats.org/drawingml/2006/main">
              <a:ext uri="{FF2B5EF4-FFF2-40B4-BE49-F238E27FC236}">
                <a16:creationId xmlns:a16="http://schemas.microsoft.com/office/drawing/2014/main" id="{4B5F4ABC-E6D5-4190-BCF3-977D95A808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161925"/>
            <a:ext cx="83343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1667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0B2F6B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1">
                <a:solidFill>
                  <a:srgbClr val="0B2F6B"/>
                </a:solidFill>
                <a:latin typeface="微软雅黑"/>
                <a:ea typeface="微软雅黑"/>
                <a:cs typeface="微软雅黑"/>
              </a:rPr>
              <a:t>1.1  同一个任务里，消息的敏感度并不一样</a:t>
            </a:r>
          </a:p>
        </p:txBody>
      </p:sp>
      <p:sp>
        <p:nvSpPr>
          <p:cNvPr id="17" name="title-rule">
            <a:extLst xmlns:a="http://schemas.openxmlformats.org/drawingml/2006/main">
              <a:ext uri="{FF2B5EF4-FFF2-40B4-BE49-F238E27FC236}">
                <a16:creationId xmlns:a16="http://schemas.microsoft.com/office/drawing/2014/main" id="{83C1891E-BE43-4080-85FE-C88C58B276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590550"/>
            <a:ext cx="87153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D8D"/>
          </a:solidFill>
          <a:ln xmlns:a="http://schemas.openxmlformats.org/drawingml/2006/main" w="0">
            <a:solidFill>
              <a:srgbClr val="123D8D"/>
            </a:solidFill>
            <a:prstDash val="solid"/>
          </a:ln>
        </p:spPr>
      </p:sp>
      <p:pic>
        <p:nvPicPr>
          <p:cNvPr id="70" name="图片 5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70fdb9d9b644afc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220791" y="66675"/>
            <a:ext cx="1608794" cy="514350"/>
          </a:xfrm>
          <a:prstGeom xmlns:a="http://schemas.openxmlformats.org/drawingml/2006/main" prst="rect">
            <a:avLst/>
          </a:prstGeom>
        </p:spPr>
      </p:pic>
      <p:sp>
        <p:nvSpPr>
          <p:cNvPr id="19" name="page-number">
            <a:extLst xmlns:a="http://schemas.openxmlformats.org/drawingml/2006/main">
              <a:ext uri="{FF2B5EF4-FFF2-40B4-BE49-F238E27FC236}">
                <a16:creationId xmlns:a16="http://schemas.microsoft.com/office/drawing/2014/main" id="{E0EFE05B-8E40-4197-89FA-F6455505FA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2375" y="6486525"/>
            <a:ext cx="47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7A8894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7A8894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20" name="citation-footer">
            <a:extLst xmlns:a="http://schemas.openxmlformats.org/drawingml/2006/main">
              <a:ext uri="{FF2B5EF4-FFF2-40B4-BE49-F238E27FC236}">
                <a16:creationId xmlns:a16="http://schemas.microsoft.com/office/drawing/2014/main" id="{452CE5CF-B921-4E8C-8ED5-C0F0AE0C67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6457950"/>
            <a:ext cx="495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0834"/>
          </a:bodyPr>
          <a:lstStyle xmlns:a="http://schemas.openxmlformats.org/drawingml/2006/main"/>
          <a:p xmlns:a="http://schemas.openxmlformats.org/drawingml/2006/main">
            <a:pPr algn="l">
              <a:buNone/>
              <a:defRPr sz="863" b="0">
                <a:solidFill>
                  <a:srgbClr val="7A8894"/>
                </a:solidFill>
                <a:latin typeface="微软雅黑"/>
                <a:ea typeface="微软雅黑"/>
                <a:cs typeface="微软雅黑"/>
              </a:defRPr>
            </a:pPr>
            <a:r>
              <a:rPr sz="863" b="0">
                <a:solidFill>
                  <a:srgbClr val="7A8894"/>
                </a:solidFill>
                <a:latin typeface="微软雅黑"/>
                <a:ea typeface="微软雅黑"/>
                <a:cs typeface="微软雅黑"/>
              </a:rPr>
              <a:t>问题提出 · 消息价值与任务后果</a:t>
            </a:r>
          </a:p>
        </p:txBody>
      </p:sp>
      <p:sp>
        <p:nvSpPr>
          <p:cNvPr id="39" name="card-0">
            <a:extLst xmlns:a="http://schemas.openxmlformats.org/drawingml/2006/main">
              <a:ext uri="{FF2B5EF4-FFF2-40B4-BE49-F238E27FC236}">
                <a16:creationId xmlns:a16="http://schemas.microsoft.com/office/drawing/2014/main" id="{F28AE85B-2357-44CA-9BE0-21D0AB9C18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1238250"/>
            <a:ext cx="2286000" cy="3333750"/>
          </a:xfrm>
          <a:prstGeom xmlns:a="http://schemas.openxmlformats.org/drawingml/2006/main" prst="roundRect">
            <a:avLst>
              <a:gd name="adj" fmla="val 3333"/>
            </a:avLst>
          </a:prstGeom>
          <a:solidFill xmlns:a="http://schemas.openxmlformats.org/drawingml/2006/main">
            <a:srgbClr val="EEF7FD"/>
          </a:solidFill>
          <a:ln xmlns:a="http://schemas.openxmlformats.org/drawingml/2006/main" w="11906">
            <a:solidFill>
              <a:srgbClr val="1B4F9A"/>
            </a:solidFill>
            <a:prstDash val="solid"/>
          </a:ln>
        </p:spPr>
      </p:sp>
      <p:sp>
        <p:nvSpPr>
          <p:cNvPr id="40" name="card-no-0">
            <a:extLst xmlns:a="http://schemas.openxmlformats.org/drawingml/2006/main">
              <a:ext uri="{FF2B5EF4-FFF2-40B4-BE49-F238E27FC236}">
                <a16:creationId xmlns:a16="http://schemas.microsoft.com/office/drawing/2014/main" id="{071ABC43-801B-4773-8BD3-4EAD82EFA3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1466850"/>
            <a:ext cx="8001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1B4F9A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B4F9A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41" name="card-title-0">
            <a:extLst xmlns:a="http://schemas.openxmlformats.org/drawingml/2006/main">
              <a:ext uri="{FF2B5EF4-FFF2-40B4-BE49-F238E27FC236}">
                <a16:creationId xmlns:a16="http://schemas.microsoft.com/office/drawing/2014/main" id="{1333F13E-5F22-4ECA-A862-64EBC3D751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2333625"/>
            <a:ext cx="19431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0B2F6B"/>
                </a:solidFill>
                <a:latin typeface="微软雅黑"/>
                <a:ea typeface="微软雅黑"/>
                <a:cs typeface="微软雅黑"/>
              </a:defRPr>
            </a:pPr>
            <a:r>
              <a:rPr sz="1575" b="1">
                <a:solidFill>
                  <a:srgbClr val="0B2F6B"/>
                </a:solidFill>
                <a:latin typeface="微软雅黑"/>
                <a:ea typeface="微软雅黑"/>
                <a:cs typeface="微软雅黑"/>
              </a:rPr>
              <a:t>普通状态</a:t>
            </a:r>
          </a:p>
        </p:txBody>
      </p:sp>
      <p:sp>
        <p:nvSpPr>
          <p:cNvPr id="42" name="card-body-0">
            <a:extLst xmlns:a="http://schemas.openxmlformats.org/drawingml/2006/main">
              <a:ext uri="{FF2B5EF4-FFF2-40B4-BE49-F238E27FC236}">
                <a16:creationId xmlns:a16="http://schemas.microsoft.com/office/drawing/2014/main" id="{EDC5BCAA-6B71-41B0-B716-0A667B9CE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3028950"/>
            <a:ext cx="190500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38">
                <a:solidFill>
                  <a:srgbClr val="1F2937"/>
                </a:solidFill>
                <a:latin typeface="微软雅黑"/>
                <a:ea typeface="微软雅黑"/>
                <a:cs typeface="微软雅黑"/>
              </a:defRPr>
            </a:pPr>
            <a:r>
              <a:rPr sz="1238">
                <a:solidFill>
                  <a:srgbClr val="1F2937"/>
                </a:solidFill>
                <a:latin typeface="微软雅黑"/>
                <a:ea typeface="微软雅黑"/>
                <a:cs typeface="微软雅黑"/>
              </a:rPr>
              <a:t>心跳、位姿、电量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38">
                <a:solidFill>
                  <a:srgbClr val="1F2937"/>
                </a:solidFill>
                <a:latin typeface="微软雅黑"/>
                <a:ea typeface="微软雅黑"/>
                <a:cs typeface="微软雅黑"/>
              </a:defRPr>
            </a:pPr>
            <a:r>
              <a:rPr sz="1238">
                <a:solidFill>
                  <a:srgbClr val="1F2937"/>
                </a:solidFill>
                <a:latin typeface="微软雅黑"/>
                <a:ea typeface="微软雅黑"/>
                <a:cs typeface="微软雅黑"/>
              </a:rPr>
              <a:t>周期更新，允许一定陈旧</a:t>
            </a:r>
          </a:p>
        </p:txBody>
      </p:sp>
      <p:sp>
        <p:nvSpPr>
          <p:cNvPr id="43" name="card-1">
            <a:extLst xmlns:a="http://schemas.openxmlformats.org/drawingml/2006/main">
              <a:ext uri="{FF2B5EF4-FFF2-40B4-BE49-F238E27FC236}">
                <a16:creationId xmlns:a16="http://schemas.microsoft.com/office/drawing/2014/main" id="{AE765DA7-348E-4DD7-94AB-FC7B09800C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1238250"/>
            <a:ext cx="2286000" cy="3333750"/>
          </a:xfrm>
          <a:prstGeom xmlns:a="http://schemas.openxmlformats.org/drawingml/2006/main" prst="roundRect">
            <a:avLst>
              <a:gd name="adj" fmla="val 3333"/>
            </a:avLst>
          </a:prstGeom>
          <a:solidFill xmlns:a="http://schemas.openxmlformats.org/drawingml/2006/main">
            <a:srgbClr val="E7F4EB"/>
          </a:solidFill>
          <a:ln xmlns:a="http://schemas.openxmlformats.org/drawingml/2006/main" w="11906">
            <a:solidFill>
              <a:srgbClr val="4C8A5A"/>
            </a:solidFill>
            <a:prstDash val="solid"/>
          </a:ln>
        </p:spPr>
      </p:sp>
      <p:sp>
        <p:nvSpPr>
          <p:cNvPr id="44" name="card-no-1">
            <a:extLst xmlns:a="http://schemas.openxmlformats.org/drawingml/2006/main">
              <a:ext uri="{FF2B5EF4-FFF2-40B4-BE49-F238E27FC236}">
                <a16:creationId xmlns:a16="http://schemas.microsoft.com/office/drawing/2014/main" id="{C356EBF1-D123-40A7-8537-42D5941A23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1466850"/>
            <a:ext cx="8001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4C8A5A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4C8A5A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45" name="card-title-1">
            <a:extLst xmlns:a="http://schemas.openxmlformats.org/drawingml/2006/main">
              <a:ext uri="{FF2B5EF4-FFF2-40B4-BE49-F238E27FC236}">
                <a16:creationId xmlns:a16="http://schemas.microsoft.com/office/drawing/2014/main" id="{7EDE7DD1-5575-4046-94DB-81555F33A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333625"/>
            <a:ext cx="19431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0B2F6B"/>
                </a:solidFill>
                <a:latin typeface="微软雅黑"/>
                <a:ea typeface="微软雅黑"/>
                <a:cs typeface="微软雅黑"/>
              </a:defRPr>
            </a:pPr>
            <a:r>
              <a:rPr sz="1575" b="1">
                <a:solidFill>
                  <a:srgbClr val="0B2F6B"/>
                </a:solidFill>
                <a:latin typeface="微软雅黑"/>
                <a:ea typeface="微软雅黑"/>
                <a:cs typeface="微软雅黑"/>
              </a:rPr>
              <a:t>协作信息</a:t>
            </a:r>
          </a:p>
        </p:txBody>
      </p:sp>
      <p:sp>
        <p:nvSpPr>
          <p:cNvPr id="46" name="card-body-1">
            <a:extLst xmlns:a="http://schemas.openxmlformats.org/drawingml/2006/main">
              <a:ext uri="{FF2B5EF4-FFF2-40B4-BE49-F238E27FC236}">
                <a16:creationId xmlns:a16="http://schemas.microsoft.com/office/drawing/2014/main" id="{AB0A7378-E703-4AEE-B9CC-9B40F1448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028950"/>
            <a:ext cx="190500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38">
                <a:solidFill>
                  <a:srgbClr val="1F2937"/>
                </a:solidFill>
                <a:latin typeface="微软雅黑"/>
                <a:ea typeface="微软雅黑"/>
                <a:cs typeface="微软雅黑"/>
              </a:defRPr>
            </a:pPr>
            <a:r>
              <a:rPr sz="1238">
                <a:solidFill>
                  <a:srgbClr val="1F2937"/>
                </a:solidFill>
                <a:latin typeface="微软雅黑"/>
                <a:ea typeface="微软雅黑"/>
                <a:cs typeface="微软雅黑"/>
              </a:rPr>
              <a:t>地图、frontier、目标摘要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38">
                <a:solidFill>
                  <a:srgbClr val="1F2937"/>
                </a:solidFill>
                <a:latin typeface="微软雅黑"/>
                <a:ea typeface="微软雅黑"/>
                <a:cs typeface="微软雅黑"/>
              </a:defRPr>
            </a:pPr>
            <a:r>
              <a:rPr sz="1238">
                <a:solidFill>
                  <a:srgbClr val="1F2937"/>
                </a:solidFill>
                <a:latin typeface="微软雅黑"/>
                <a:ea typeface="微软雅黑"/>
                <a:cs typeface="微软雅黑"/>
              </a:rPr>
              <a:t>价值取决于是否改变决策</a:t>
            </a:r>
          </a:p>
        </p:txBody>
      </p:sp>
      <p:sp>
        <p:nvSpPr>
          <p:cNvPr id="47" name="card-2">
            <a:extLst xmlns:a="http://schemas.openxmlformats.org/drawingml/2006/main">
              <a:ext uri="{FF2B5EF4-FFF2-40B4-BE49-F238E27FC236}">
                <a16:creationId xmlns:a16="http://schemas.microsoft.com/office/drawing/2014/main" id="{2DD52410-99AC-4D6C-886E-9E5A4CE23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1238250"/>
            <a:ext cx="2286000" cy="3333750"/>
          </a:xfrm>
          <a:prstGeom xmlns:a="http://schemas.openxmlformats.org/drawingml/2006/main" prst="roundRect">
            <a:avLst>
              <a:gd name="adj" fmla="val 3333"/>
            </a:avLst>
          </a:prstGeom>
          <a:solidFill xmlns:a="http://schemas.openxmlformats.org/drawingml/2006/main">
            <a:srgbClr val="FBE9EB"/>
          </a:solidFill>
          <a:ln xmlns:a="http://schemas.openxmlformats.org/drawingml/2006/main" w="11906">
            <a:solidFill>
              <a:srgbClr val="C7333E"/>
            </a:solidFill>
            <a:prstDash val="solid"/>
          </a:ln>
        </p:spPr>
      </p:sp>
      <p:sp>
        <p:nvSpPr>
          <p:cNvPr id="48" name="card-no-2">
            <a:extLst xmlns:a="http://schemas.openxmlformats.org/drawingml/2006/main">
              <a:ext uri="{FF2B5EF4-FFF2-40B4-BE49-F238E27FC236}">
                <a16:creationId xmlns:a16="http://schemas.microsoft.com/office/drawing/2014/main" id="{676FC579-C15C-49C6-99C2-46513A33FD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1466850"/>
            <a:ext cx="8001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C7333E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C7333E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49" name="card-title-2">
            <a:extLst xmlns:a="http://schemas.openxmlformats.org/drawingml/2006/main">
              <a:ext uri="{FF2B5EF4-FFF2-40B4-BE49-F238E27FC236}">
                <a16:creationId xmlns:a16="http://schemas.microsoft.com/office/drawing/2014/main" id="{DC9F22F3-3C75-405A-9502-5A82552C81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333625"/>
            <a:ext cx="19431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0B2F6B"/>
                </a:solidFill>
                <a:latin typeface="微软雅黑"/>
                <a:ea typeface="微软雅黑"/>
                <a:cs typeface="微软雅黑"/>
              </a:defRPr>
            </a:pPr>
            <a:r>
              <a:rPr sz="1575" b="1">
                <a:solidFill>
                  <a:srgbClr val="0B2F6B"/>
                </a:solidFill>
                <a:latin typeface="微软雅黑"/>
                <a:ea typeface="微软雅黑"/>
                <a:cs typeface="微软雅黑"/>
              </a:rPr>
              <a:t>关键事件</a:t>
            </a:r>
          </a:p>
        </p:txBody>
      </p:sp>
      <p:sp>
        <p:nvSpPr>
          <p:cNvPr id="50" name="card-body-2">
            <a:extLst xmlns:a="http://schemas.openxmlformats.org/drawingml/2006/main">
              <a:ext uri="{FF2B5EF4-FFF2-40B4-BE49-F238E27FC236}">
                <a16:creationId xmlns:a16="http://schemas.microsoft.com/office/drawing/2014/main" id="{296807E4-F93E-4E23-8BA3-09C8DD5DF8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3028950"/>
            <a:ext cx="190500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38">
                <a:solidFill>
                  <a:srgbClr val="1F2937"/>
                </a:solidFill>
                <a:latin typeface="微软雅黑"/>
                <a:ea typeface="微软雅黑"/>
                <a:cs typeface="微软雅黑"/>
              </a:defRPr>
            </a:pPr>
            <a:r>
              <a:rPr sz="1238">
                <a:solidFill>
                  <a:srgbClr val="1F2937"/>
                </a:solidFill>
                <a:latin typeface="微软雅黑"/>
                <a:ea typeface="微软雅黑"/>
                <a:cs typeface="微软雅黑"/>
              </a:rPr>
              <a:t>目标确认、集合、返航、急停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38">
                <a:solidFill>
                  <a:srgbClr val="1F2937"/>
                </a:solidFill>
                <a:latin typeface="微软雅黑"/>
                <a:ea typeface="微软雅黑"/>
                <a:cs typeface="微软雅黑"/>
              </a:defRPr>
            </a:pPr>
            <a:r>
              <a:rPr sz="1238">
                <a:solidFill>
                  <a:srgbClr val="1F2937"/>
                </a:solidFill>
                <a:latin typeface="微软雅黑"/>
                <a:ea typeface="微软雅黑"/>
                <a:cs typeface="微软雅黑"/>
              </a:rPr>
              <a:t>更强的时限与安全约束</a:t>
            </a:r>
          </a:p>
        </p:txBody>
      </p:sp>
      <p:sp>
        <p:nvSpPr>
          <p:cNvPr id="51" name="message-question">
            <a:extLst xmlns:a="http://schemas.openxmlformats.org/drawingml/2006/main">
              <a:ext uri="{FF2B5EF4-FFF2-40B4-BE49-F238E27FC236}">
                <a16:creationId xmlns:a16="http://schemas.microsoft.com/office/drawing/2014/main" id="{902F60CB-FB65-43EB-91A6-E10BE193D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5219700"/>
            <a:ext cx="8572500" cy="590550"/>
          </a:xfrm>
          <a:prstGeom xmlns:a="http://schemas.openxmlformats.org/drawingml/2006/main" prst="roundRect">
            <a:avLst>
              <a:gd name="adj" fmla="val 4839"/>
            </a:avLst>
          </a:prstGeom>
          <a:solidFill xmlns:a="http://schemas.openxmlformats.org/drawingml/2006/main">
            <a:srgbClr val="123D8D"/>
          </a:solidFill>
          <a:ln xmlns:a="http://schemas.openxmlformats.org/drawingml/2006/main" w="11906">
            <a:solidFill>
              <a:srgbClr val="123D8D"/>
            </a:solidFill>
            <a:prstDash val="solid"/>
          </a:ln>
        </p:spPr>
      </p:sp>
      <p:sp>
        <p:nvSpPr>
          <p:cNvPr id="52" name="message-question-text">
            <a:extLst xmlns:a="http://schemas.openxmlformats.org/drawingml/2006/main">
              <a:ext uri="{FF2B5EF4-FFF2-40B4-BE49-F238E27FC236}">
                <a16:creationId xmlns:a16="http://schemas.microsoft.com/office/drawing/2014/main" id="{E4A2E9BD-D983-4070-A263-8D75433407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5343525"/>
            <a:ext cx="82296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队列里不只要问“谁先产生”，还要问“谁更值得被送达”。</a:t>
            </a:r>
          </a:p>
        </p:txBody>
      </p:sp>
    </p:spTree>
    <p:extLst>
      <p:ext uri="{BB962C8B-B14F-4D97-AF65-F5344CB8AC3E}">
        <p14:creationId xmlns:p14="http://schemas.microsoft.com/office/powerpoint/2010/main" val="80151587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left-nav-bg">
            <a:extLst xmlns:a="http://schemas.openxmlformats.org/drawingml/2006/main">
              <a:ext uri="{FF2B5EF4-FFF2-40B4-BE49-F238E27FC236}">
                <a16:creationId xmlns:a16="http://schemas.microsoft.com/office/drawing/2014/main" id="{273C3BF8-5DE1-4602-AA72-9866FE1783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906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D8D"/>
          </a:solidFill>
          <a:ln xmlns:a="http://schemas.openxmlformats.org/drawingml/2006/main" w="0">
            <a:solidFill>
              <a:srgbClr val="123D8D"/>
            </a:solidFill>
            <a:prstDash val="solid"/>
          </a:ln>
        </p:spPr>
      </p:sp>
      <p:sp>
        <p:nvSpPr>
          <p:cNvPr id="2" name="nav-label">
            <a:extLst xmlns:a="http://schemas.openxmlformats.org/drawingml/2006/main">
              <a:ext uri="{FF2B5EF4-FFF2-40B4-BE49-F238E27FC236}">
                <a16:creationId xmlns:a16="http://schemas.microsoft.com/office/drawing/2014/main" id="{4F4A8EE9-74B7-456A-BE23-F3282DB34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" y="266700"/>
            <a:ext cx="933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8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近期工作分享</a:t>
            </a:r>
          </a:p>
        </p:txBody>
      </p:sp>
      <p:sp>
        <p:nvSpPr>
          <p:cNvPr id="3" name="nav-0">
            <a:extLst xmlns:a="http://schemas.openxmlformats.org/drawingml/2006/main">
              <a:ext uri="{FF2B5EF4-FFF2-40B4-BE49-F238E27FC236}">
                <a16:creationId xmlns:a16="http://schemas.microsoft.com/office/drawing/2014/main" id="{E10771FC-E4A7-4EF3-9B81-E062E2022C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" y="2095500"/>
            <a:ext cx="8763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4F9A"/>
          </a:solidFill>
          <a:ln xmlns:a="http://schemas.openxmlformats.org/drawingml/2006/main" w="9525">
            <a:solidFill>
              <a:srgbClr val="3169AA"/>
            </a:solidFill>
            <a:prstDash val="solid"/>
          </a:ln>
        </p:spPr>
      </p:sp>
      <p:sp>
        <p:nvSpPr>
          <p:cNvPr id="4" name="nav-text-0">
            <a:extLst xmlns:a="http://schemas.openxmlformats.org/drawingml/2006/main">
              <a:ext uri="{FF2B5EF4-FFF2-40B4-BE49-F238E27FC236}">
                <a16:creationId xmlns:a16="http://schemas.microsoft.com/office/drawing/2014/main" id="{F3C44EE0-D265-4284-826C-4B970FBAEA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" y="2181225"/>
            <a:ext cx="8191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38" b="0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938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问题提出</a:t>
            </a:r>
          </a:p>
        </p:txBody>
      </p:sp>
      <p:sp>
        <p:nvSpPr>
          <p:cNvPr id="5" name="nav-1">
            <a:extLst xmlns:a="http://schemas.openxmlformats.org/drawingml/2006/main">
              <a:ext uri="{FF2B5EF4-FFF2-40B4-BE49-F238E27FC236}">
                <a16:creationId xmlns:a16="http://schemas.microsoft.com/office/drawing/2014/main" id="{806C3B30-D175-4997-AC91-516FBBB20A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" y="2562225"/>
            <a:ext cx="8763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7FD"/>
          </a:solidFill>
          <a:ln xmlns:a="http://schemas.openxmlformats.org/drawingml/2006/main" w="9525">
            <a:solidFill>
              <a:srgbClr val="3169AA"/>
            </a:solidFill>
            <a:prstDash val="solid"/>
          </a:ln>
        </p:spPr>
      </p:sp>
      <p:sp>
        <p:nvSpPr>
          <p:cNvPr id="6" name="nav-text-1">
            <a:extLst xmlns:a="http://schemas.openxmlformats.org/drawingml/2006/main">
              <a:ext uri="{FF2B5EF4-FFF2-40B4-BE49-F238E27FC236}">
                <a16:creationId xmlns:a16="http://schemas.microsoft.com/office/drawing/2014/main" id="{E0229006-7BFE-4C23-92E7-2EE285FB7E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" y="2647950"/>
            <a:ext cx="8191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38" b="1">
                <a:solidFill>
                  <a:srgbClr val="123D8D"/>
                </a:solidFill>
                <a:latin typeface="微软雅黑"/>
                <a:ea typeface="微软雅黑"/>
                <a:cs typeface="微软雅黑"/>
              </a:defRPr>
            </a:pPr>
            <a:r>
              <a:rPr sz="938" b="1">
                <a:solidFill>
                  <a:srgbClr val="123D8D"/>
                </a:solidFill>
                <a:latin typeface="微软雅黑"/>
                <a:ea typeface="微软雅黑"/>
                <a:cs typeface="微软雅黑"/>
              </a:rPr>
              <a:t>文献调研</a:t>
            </a:r>
          </a:p>
        </p:txBody>
      </p:sp>
      <p:sp>
        <p:nvSpPr>
          <p:cNvPr id="7" name="nav-2">
            <a:extLst xmlns:a="http://schemas.openxmlformats.org/drawingml/2006/main">
              <a:ext uri="{FF2B5EF4-FFF2-40B4-BE49-F238E27FC236}">
                <a16:creationId xmlns:a16="http://schemas.microsoft.com/office/drawing/2014/main" id="{806DCB7E-0F5A-438C-900A-960916B97D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" y="3028950"/>
            <a:ext cx="8763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4F9A"/>
          </a:solidFill>
          <a:ln xmlns:a="http://schemas.openxmlformats.org/drawingml/2006/main" w="9525">
            <a:solidFill>
              <a:srgbClr val="3169AA"/>
            </a:solidFill>
            <a:prstDash val="solid"/>
          </a:ln>
        </p:spPr>
      </p:sp>
      <p:sp>
        <p:nvSpPr>
          <p:cNvPr id="8" name="nav-text-2">
            <a:extLst xmlns:a="http://schemas.openxmlformats.org/drawingml/2006/main">
              <a:ext uri="{FF2B5EF4-FFF2-40B4-BE49-F238E27FC236}">
                <a16:creationId xmlns:a16="http://schemas.microsoft.com/office/drawing/2014/main" id="{88AECD27-4DE8-4F08-8451-743878E43B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" y="3114675"/>
            <a:ext cx="8191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38" b="0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938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方法与路线</a:t>
            </a:r>
          </a:p>
        </p:txBody>
      </p:sp>
      <p:sp>
        <p:nvSpPr>
          <p:cNvPr id="9" name="nav-3">
            <a:extLst xmlns:a="http://schemas.openxmlformats.org/drawingml/2006/main">
              <a:ext uri="{FF2B5EF4-FFF2-40B4-BE49-F238E27FC236}">
                <a16:creationId xmlns:a16="http://schemas.microsoft.com/office/drawing/2014/main" id="{0FE4B3CD-3A6A-4E4D-AB02-66C1AF4C6E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" y="3495675"/>
            <a:ext cx="8763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4F9A"/>
          </a:solidFill>
          <a:ln xmlns:a="http://schemas.openxmlformats.org/drawingml/2006/main" w="9525">
            <a:solidFill>
              <a:srgbClr val="3169AA"/>
            </a:solidFill>
            <a:prstDash val="solid"/>
          </a:ln>
        </p:spPr>
      </p:sp>
      <p:sp>
        <p:nvSpPr>
          <p:cNvPr id="10" name="nav-text-3">
            <a:extLst xmlns:a="http://schemas.openxmlformats.org/drawingml/2006/main">
              <a:ext uri="{FF2B5EF4-FFF2-40B4-BE49-F238E27FC236}">
                <a16:creationId xmlns:a16="http://schemas.microsoft.com/office/drawing/2014/main" id="{12959561-F4DA-4559-83C1-9B4177EA6A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" y="3581400"/>
            <a:ext cx="8191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38" b="0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938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已完成工作</a:t>
            </a:r>
          </a:p>
        </p:txBody>
      </p:sp>
      <p:sp>
        <p:nvSpPr>
          <p:cNvPr id="11" name="nav-4">
            <a:extLst xmlns:a="http://schemas.openxmlformats.org/drawingml/2006/main">
              <a:ext uri="{FF2B5EF4-FFF2-40B4-BE49-F238E27FC236}">
                <a16:creationId xmlns:a16="http://schemas.microsoft.com/office/drawing/2014/main" id="{EF00D1BF-506B-42C4-9359-305368A38B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" y="3962400"/>
            <a:ext cx="8763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4F9A"/>
          </a:solidFill>
          <a:ln xmlns:a="http://schemas.openxmlformats.org/drawingml/2006/main" w="9525">
            <a:solidFill>
              <a:srgbClr val="3169AA"/>
            </a:solidFill>
            <a:prstDash val="solid"/>
          </a:ln>
        </p:spPr>
      </p:sp>
      <p:sp>
        <p:nvSpPr>
          <p:cNvPr id="12" name="nav-text-4">
            <a:extLst xmlns:a="http://schemas.openxmlformats.org/drawingml/2006/main">
              <a:ext uri="{FF2B5EF4-FFF2-40B4-BE49-F238E27FC236}">
                <a16:creationId xmlns:a16="http://schemas.microsoft.com/office/drawing/2014/main" id="{5AEFBCA2-56FE-4268-BCD6-5CC714E1A9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" y="4048125"/>
            <a:ext cx="8191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38" b="0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938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演示安排</a:t>
            </a:r>
          </a:p>
        </p:txBody>
      </p:sp>
      <p:sp>
        <p:nvSpPr>
          <p:cNvPr id="13" name="nav-5">
            <a:extLst xmlns:a="http://schemas.openxmlformats.org/drawingml/2006/main">
              <a:ext uri="{FF2B5EF4-FFF2-40B4-BE49-F238E27FC236}">
                <a16:creationId xmlns:a16="http://schemas.microsoft.com/office/drawing/2014/main" id="{51F01115-9AC8-4A57-B514-9F0DA40F6C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" y="4429125"/>
            <a:ext cx="8763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4F9A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4" name="nav-text-5">
            <a:extLst xmlns:a="http://schemas.openxmlformats.org/drawingml/2006/main">
              <a:ext uri="{FF2B5EF4-FFF2-40B4-BE49-F238E27FC236}">
                <a16:creationId xmlns:a16="http://schemas.microsoft.com/office/drawing/2014/main" id="{16526EDB-6865-4EF4-864E-AAB8CC5446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" y="4514850"/>
            <a:ext cx="8191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38" b="0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938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反思讨论</a:t>
            </a:r>
          </a:p>
        </p:txBody>
      </p:sp>
      <p:sp>
        <p:nvSpPr>
          <p:cNvPr id="15" name="title-square">
            <a:extLst xmlns:a="http://schemas.openxmlformats.org/drawingml/2006/main">
              <a:ext uri="{FF2B5EF4-FFF2-40B4-BE49-F238E27FC236}">
                <a16:creationId xmlns:a16="http://schemas.microsoft.com/office/drawing/2014/main" id="{1097F4BD-211A-453A-AC4D-B41E66FC7C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28600"/>
            <a:ext cx="1143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D8D"/>
          </a:solidFill>
          <a:ln xmlns:a="http://schemas.openxmlformats.org/drawingml/2006/main" w="0">
            <a:solidFill>
              <a:srgbClr val="123D8D"/>
            </a:solidFill>
            <a:prstDash val="solid"/>
          </a:ln>
        </p:spPr>
      </p:sp>
      <p:sp>
        <p:nvSpPr>
          <p:cNvPr id="16" name="slide-title">
            <a:extLst xmlns:a="http://schemas.openxmlformats.org/drawingml/2006/main">
              <a:ext uri="{FF2B5EF4-FFF2-40B4-BE49-F238E27FC236}">
                <a16:creationId xmlns:a16="http://schemas.microsoft.com/office/drawing/2014/main" id="{6B255990-0953-41F9-BACA-0DB1C58C66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161925"/>
            <a:ext cx="83343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1667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0B2F6B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1">
                <a:solidFill>
                  <a:srgbClr val="0B2F6B"/>
                </a:solidFill>
                <a:latin typeface="微软雅黑"/>
                <a:ea typeface="微软雅黑"/>
                <a:cs typeface="微软雅黑"/>
              </a:rPr>
              <a:t>2  文献调研：四条共同判断，逐步收窄问题</a:t>
            </a:r>
          </a:p>
        </p:txBody>
      </p:sp>
      <p:sp>
        <p:nvSpPr>
          <p:cNvPr id="17" name="title-rule">
            <a:extLst xmlns:a="http://schemas.openxmlformats.org/drawingml/2006/main">
              <a:ext uri="{FF2B5EF4-FFF2-40B4-BE49-F238E27FC236}">
                <a16:creationId xmlns:a16="http://schemas.microsoft.com/office/drawing/2014/main" id="{97F39360-AD1D-494B-8DAB-AED49ACBF1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590550"/>
            <a:ext cx="87153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D8D"/>
          </a:solidFill>
          <a:ln xmlns:a="http://schemas.openxmlformats.org/drawingml/2006/main" w="0">
            <a:solidFill>
              <a:srgbClr val="123D8D"/>
            </a:solidFill>
            <a:prstDash val="solid"/>
          </a:ln>
        </p:spPr>
      </p:sp>
      <p:pic>
        <p:nvPicPr>
          <p:cNvPr id="57" name="图片 4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3bd36cd9c8c49b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220791" y="66675"/>
            <a:ext cx="1608794" cy="514350"/>
          </a:xfrm>
          <a:prstGeom xmlns:a="http://schemas.openxmlformats.org/drawingml/2006/main" prst="rect">
            <a:avLst/>
          </a:prstGeom>
        </p:spPr>
      </p:pic>
      <p:sp>
        <p:nvSpPr>
          <p:cNvPr id="19" name="page-number">
            <a:extLst xmlns:a="http://schemas.openxmlformats.org/drawingml/2006/main">
              <a:ext uri="{FF2B5EF4-FFF2-40B4-BE49-F238E27FC236}">
                <a16:creationId xmlns:a16="http://schemas.microsoft.com/office/drawing/2014/main" id="{350B63F5-3C2C-4123-AE2B-13241FE345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2375" y="6486525"/>
            <a:ext cx="47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7A8894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7A8894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20" name="citation-footer">
            <a:extLst xmlns:a="http://schemas.openxmlformats.org/drawingml/2006/main">
              <a:ext uri="{FF2B5EF4-FFF2-40B4-BE49-F238E27FC236}">
                <a16:creationId xmlns:a16="http://schemas.microsoft.com/office/drawing/2014/main" id="{16437C18-1385-401F-952F-AADE043940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6457950"/>
            <a:ext cx="495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0834"/>
          </a:bodyPr>
          <a:lstStyle xmlns:a="http://schemas.openxmlformats.org/drawingml/2006/main"/>
          <a:p xmlns:a="http://schemas.openxmlformats.org/drawingml/2006/main">
            <a:pPr algn="l">
              <a:buNone/>
              <a:defRPr sz="863" b="0">
                <a:solidFill>
                  <a:srgbClr val="7A8894"/>
                </a:solidFill>
                <a:latin typeface="微软雅黑"/>
                <a:ea typeface="微软雅黑"/>
                <a:cs typeface="微软雅黑"/>
              </a:defRPr>
            </a:pPr>
            <a:r>
              <a:rPr sz="863" b="0">
                <a:solidFill>
                  <a:srgbClr val="7A8894"/>
                </a:solidFill>
                <a:latin typeface="微软雅黑"/>
                <a:ea typeface="微软雅黑"/>
                <a:cs typeface="微软雅黑"/>
              </a:rPr>
              <a:t>文献调研 · 11 篇论文的综合判断</a:t>
            </a:r>
          </a:p>
        </p:txBody>
      </p:sp>
      <p:sp>
        <p:nvSpPr>
          <p:cNvPr id="32" name="left-heading">
            <a:extLst xmlns:a="http://schemas.openxmlformats.org/drawingml/2006/main">
              <a:ext uri="{FF2B5EF4-FFF2-40B4-BE49-F238E27FC236}">
                <a16:creationId xmlns:a16="http://schemas.microsoft.com/office/drawing/2014/main" id="{75B9350B-2924-4A29-B1D6-10845F4F8E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9875" y="1000125"/>
            <a:ext cx="2000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23D8D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1">
                <a:solidFill>
                  <a:srgbClr val="123D8D"/>
                </a:solidFill>
                <a:latin typeface="微软雅黑"/>
                <a:ea typeface="微软雅黑"/>
                <a:cs typeface="微软雅黑"/>
              </a:rPr>
              <a:t>网络侧</a:t>
            </a:r>
          </a:p>
        </p:txBody>
      </p:sp>
      <p:sp>
        <p:nvSpPr>
          <p:cNvPr id="33" name="right-heading">
            <a:extLst xmlns:a="http://schemas.openxmlformats.org/drawingml/2006/main">
              <a:ext uri="{FF2B5EF4-FFF2-40B4-BE49-F238E27FC236}">
                <a16:creationId xmlns:a16="http://schemas.microsoft.com/office/drawing/2014/main" id="{771F0769-B6DC-4037-B698-48F5FE710D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1000125"/>
            <a:ext cx="2000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23D8D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1">
                <a:solidFill>
                  <a:srgbClr val="123D8D"/>
                </a:solidFill>
                <a:latin typeface="微软雅黑"/>
                <a:ea typeface="微软雅黑"/>
                <a:cs typeface="微软雅黑"/>
              </a:rPr>
              <a:t>任务侧</a:t>
            </a:r>
          </a:p>
        </p:txBody>
      </p:sp>
      <p:sp>
        <p:nvSpPr>
          <p:cNvPr id="34" name="literature-network">
            <a:extLst xmlns:a="http://schemas.openxmlformats.org/drawingml/2006/main">
              <a:ext uri="{FF2B5EF4-FFF2-40B4-BE49-F238E27FC236}">
                <a16:creationId xmlns:a16="http://schemas.microsoft.com/office/drawing/2014/main" id="{24A0F3EA-45B6-4779-8161-993FA9C983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1571625"/>
            <a:ext cx="4476750" cy="3476625"/>
          </a:xfrm>
          <a:prstGeom xmlns:a="http://schemas.openxmlformats.org/drawingml/2006/main" prst="roundRect">
            <a:avLst>
              <a:gd name="adj" fmla="val 2192"/>
            </a:avLst>
          </a:prstGeom>
          <a:solidFill xmlns:a="http://schemas.openxmlformats.org/drawingml/2006/main">
            <a:srgbClr val="EEF7FD"/>
          </a:solidFill>
          <a:ln xmlns:a="http://schemas.openxmlformats.org/drawingml/2006/main" w="11906">
            <a:solidFill>
              <a:srgbClr val="AFCFE2"/>
            </a:solidFill>
            <a:prstDash val="solid"/>
          </a:ln>
        </p:spPr>
      </p:sp>
      <p:sp>
        <p:nvSpPr>
          <p:cNvPr id="35" name="literature-task">
            <a:extLst xmlns:a="http://schemas.openxmlformats.org/drawingml/2006/main">
              <a:ext uri="{FF2B5EF4-FFF2-40B4-BE49-F238E27FC236}">
                <a16:creationId xmlns:a16="http://schemas.microsoft.com/office/drawing/2014/main" id="{EA36C031-9095-4C39-9733-46DA969B87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1571625"/>
            <a:ext cx="4476750" cy="3476625"/>
          </a:xfrm>
          <a:prstGeom xmlns:a="http://schemas.openxmlformats.org/drawingml/2006/main" prst="roundRect">
            <a:avLst>
              <a:gd name="adj" fmla="val 2192"/>
            </a:avLst>
          </a:prstGeom>
          <a:solidFill xmlns:a="http://schemas.openxmlformats.org/drawingml/2006/main">
            <a:srgbClr val="E7F4EB"/>
          </a:solidFill>
          <a:ln xmlns:a="http://schemas.openxmlformats.org/drawingml/2006/main" w="11906">
            <a:solidFill>
              <a:srgbClr val="B9D6BE"/>
            </a:solidFill>
            <a:prstDash val="solid"/>
          </a:ln>
        </p:spPr>
      </p:sp>
      <p:sp>
        <p:nvSpPr>
          <p:cNvPr id="36" name="network-bullets">
            <a:extLst xmlns:a="http://schemas.openxmlformats.org/drawingml/2006/main">
              <a:ext uri="{FF2B5EF4-FFF2-40B4-BE49-F238E27FC236}">
                <a16:creationId xmlns:a16="http://schemas.microsoft.com/office/drawing/2014/main" id="{ECE348AC-2E0E-48C8-9D82-33EEDD250B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1952625"/>
            <a:ext cx="3810000" cy="2571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>
                <a:solidFill>
                  <a:srgbClr val="1F2937"/>
                </a:solidFill>
                <a:latin typeface="微软雅黑"/>
                <a:ea typeface="微软雅黑"/>
                <a:cs typeface="微软雅黑"/>
              </a:defRPr>
            </a:pPr>
            <a:r>
              <a:rPr sz="1425">
                <a:solidFill>
                  <a:srgbClr val="1F2937"/>
                </a:solidFill>
                <a:latin typeface="微软雅黑"/>
                <a:ea typeface="微软雅黑"/>
                <a:cs typeface="微软雅黑"/>
              </a:rPr>
              <a:t>① DRL 适合动态、大状态空间决策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425">
                <a:solidFill>
                  <a:srgbClr val="1F2937"/>
                </a:solidFill>
                <a:latin typeface="微软雅黑"/>
                <a:ea typeface="微软雅黑"/>
                <a:cs typeface="微软雅黑"/>
              </a:defRPr>
            </a:pPr>
            <a:r>
              <a:rPr sz="1425">
                <a:solidFill>
                  <a:srgbClr val="1F2937"/>
                </a:solidFill>
                <a:latin typeface="微软雅黑"/>
                <a:ea typeface="微软雅黑"/>
                <a:cs typeface="微软雅黑"/>
              </a:rPr>
              <a:t>② 但必须先做真实负载审计和强基线比较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425">
                <a:solidFill>
                  <a:srgbClr val="1F2937"/>
                </a:solidFill>
                <a:latin typeface="微软雅黑"/>
                <a:ea typeface="微软雅黑"/>
                <a:cs typeface="微软雅黑"/>
              </a:defRPr>
            </a:pPr>
            <a:r>
              <a:rPr sz="1425">
                <a:solidFill>
                  <a:srgbClr val="1F2937"/>
                </a:solidFill>
                <a:latin typeface="微软雅黑"/>
                <a:ea typeface="微软雅黑"/>
                <a:cs typeface="微软雅黑"/>
              </a:rPr>
              <a:t>→ 学习方法是候选，不是默认结论</a:t>
            </a:r>
          </a:p>
        </p:txBody>
      </p:sp>
      <p:sp>
        <p:nvSpPr>
          <p:cNvPr id="37" name="task-bullets">
            <a:extLst xmlns:a="http://schemas.openxmlformats.org/drawingml/2006/main">
              <a:ext uri="{FF2B5EF4-FFF2-40B4-BE49-F238E27FC236}">
                <a16:creationId xmlns:a16="http://schemas.microsoft.com/office/drawing/2014/main" id="{5F211164-53C9-4C92-B3F8-8361E1614A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1952625"/>
            <a:ext cx="3810000" cy="2571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>
                <a:solidFill>
                  <a:srgbClr val="1F2937"/>
                </a:solidFill>
                <a:latin typeface="微软雅黑"/>
                <a:ea typeface="微软雅黑"/>
                <a:cs typeface="微软雅黑"/>
              </a:defRPr>
            </a:pPr>
            <a:r>
              <a:rPr sz="1425">
                <a:solidFill>
                  <a:srgbClr val="1F2937"/>
                </a:solidFill>
                <a:latin typeface="微软雅黑"/>
                <a:ea typeface="微软雅黑"/>
                <a:cs typeface="微软雅黑"/>
              </a:rPr>
              <a:t>③ 机器人与网络需要共同设计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425">
                <a:solidFill>
                  <a:srgbClr val="1F2937"/>
                </a:solidFill>
                <a:latin typeface="微软雅黑"/>
                <a:ea typeface="微软雅黑"/>
                <a:cs typeface="微软雅黑"/>
              </a:defRPr>
            </a:pPr>
            <a:r>
              <a:rPr sz="1425">
                <a:solidFill>
                  <a:srgbClr val="1F2937"/>
                </a:solidFill>
                <a:latin typeface="微软雅黑"/>
                <a:ea typeface="微软雅黑"/>
                <a:cs typeface="微软雅黑"/>
              </a:rPr>
              <a:t>④ 信息价值不只由比特数或 AoI 决定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425">
                <a:solidFill>
                  <a:srgbClr val="1F2937"/>
                </a:solidFill>
                <a:latin typeface="微软雅黑"/>
                <a:ea typeface="微软雅黑"/>
                <a:cs typeface="微软雅黑"/>
              </a:defRPr>
            </a:pPr>
            <a:r>
              <a:rPr sz="1425">
                <a:solidFill>
                  <a:srgbClr val="1F2937"/>
                </a:solidFill>
                <a:latin typeface="微软雅黑"/>
                <a:ea typeface="微软雅黑"/>
                <a:cs typeface="微软雅黑"/>
              </a:rPr>
              <a:t>→ 要把消息是否改变任务写进评价</a:t>
            </a:r>
          </a:p>
        </p:txBody>
      </p:sp>
      <p:sp>
        <p:nvSpPr>
          <p:cNvPr id="38" name="literature-takeaway">
            <a:extLst xmlns:a="http://schemas.openxmlformats.org/drawingml/2006/main">
              <a:ext uri="{FF2B5EF4-FFF2-40B4-BE49-F238E27FC236}">
                <a16:creationId xmlns:a16="http://schemas.microsoft.com/office/drawing/2014/main" id="{32F65798-4CD3-4283-8829-12CBE3422D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5467350"/>
            <a:ext cx="7810500" cy="495300"/>
          </a:xfrm>
          <a:prstGeom xmlns:a="http://schemas.openxmlformats.org/drawingml/2006/main" prst="roundRect">
            <a:avLst>
              <a:gd name="adj" fmla="val 5769"/>
            </a:avLst>
          </a:prstGeom>
          <a:solidFill xmlns:a="http://schemas.openxmlformats.org/drawingml/2006/main">
            <a:srgbClr val="123D8D"/>
          </a:solidFill>
          <a:ln xmlns:a="http://schemas.openxmlformats.org/drawingml/2006/main" w="11906">
            <a:solidFill>
              <a:srgbClr val="123D8D"/>
            </a:solidFill>
            <a:prstDash val="solid"/>
          </a:ln>
        </p:spPr>
      </p:sp>
      <p:sp>
        <p:nvSpPr>
          <p:cNvPr id="39" name="literature-takeaway-text">
            <a:extLst xmlns:a="http://schemas.openxmlformats.org/drawingml/2006/main">
              <a:ext uri="{FF2B5EF4-FFF2-40B4-BE49-F238E27FC236}">
                <a16:creationId xmlns:a16="http://schemas.microsoft.com/office/drawing/2014/main" id="{6B92BD68-1E51-47AB-87E8-67F2B0F110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5591175"/>
            <a:ext cx="74676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文献共同把问题推向：消息何时值得进入发送通道，以及交付后是否改变任务。</a:t>
            </a:r>
          </a:p>
        </p:txBody>
      </p:sp>
    </p:spTree>
    <p:extLst>
      <p:ext uri="{BB962C8B-B14F-4D97-AF65-F5344CB8AC3E}">
        <p14:creationId xmlns:p14="http://schemas.microsoft.com/office/powerpoint/2010/main" val="1886959717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0" name="left-nav-bg">
            <a:extLst xmlns:a="http://schemas.openxmlformats.org/drawingml/2006/main">
              <a:ext uri="{FF2B5EF4-FFF2-40B4-BE49-F238E27FC236}">
                <a16:creationId xmlns:a16="http://schemas.microsoft.com/office/drawing/2014/main" id="{B8346035-D9C4-4FE5-AEF5-574B791FB5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906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D8D"/>
          </a:solidFill>
          <a:ln xmlns:a="http://schemas.openxmlformats.org/drawingml/2006/main" w="0">
            <a:solidFill>
              <a:srgbClr val="123D8D"/>
            </a:solidFill>
            <a:prstDash val="solid"/>
          </a:ln>
        </p:spPr>
      </p:sp>
      <p:sp>
        <p:nvSpPr>
          <p:cNvPr id="2" name="nav-label">
            <a:extLst xmlns:a="http://schemas.openxmlformats.org/drawingml/2006/main">
              <a:ext uri="{FF2B5EF4-FFF2-40B4-BE49-F238E27FC236}">
                <a16:creationId xmlns:a16="http://schemas.microsoft.com/office/drawing/2014/main" id="{816A2C3B-FBE1-4C5D-81D2-3A3ECA7FD4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" y="266700"/>
            <a:ext cx="933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8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近期工作分享</a:t>
            </a:r>
          </a:p>
        </p:txBody>
      </p:sp>
      <p:sp>
        <p:nvSpPr>
          <p:cNvPr id="3" name="nav-0">
            <a:extLst xmlns:a="http://schemas.openxmlformats.org/drawingml/2006/main">
              <a:ext uri="{FF2B5EF4-FFF2-40B4-BE49-F238E27FC236}">
                <a16:creationId xmlns:a16="http://schemas.microsoft.com/office/drawing/2014/main" id="{CC91EE01-8F5A-426F-BC0A-30B87A3BB3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" y="2095500"/>
            <a:ext cx="8763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4F9A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4" name="nav-text-0">
            <a:extLst xmlns:a="http://schemas.openxmlformats.org/drawingml/2006/main">
              <a:ext uri="{FF2B5EF4-FFF2-40B4-BE49-F238E27FC236}">
                <a16:creationId xmlns:a16="http://schemas.microsoft.com/office/drawing/2014/main" id="{88FA0A0E-5562-4335-A3C8-8F50ECC07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" y="2181225"/>
            <a:ext cx="8191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38" b="0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938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问题提出</a:t>
            </a:r>
          </a:p>
        </p:txBody>
      </p:sp>
      <p:sp>
        <p:nvSpPr>
          <p:cNvPr id="5" name="nav-1">
            <a:extLst xmlns:a="http://schemas.openxmlformats.org/drawingml/2006/main">
              <a:ext uri="{FF2B5EF4-FFF2-40B4-BE49-F238E27FC236}">
                <a16:creationId xmlns:a16="http://schemas.microsoft.com/office/drawing/2014/main" id="{0C8F8A44-88D8-4922-A31E-136E76D5E5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" y="2562225"/>
            <a:ext cx="8763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7FD"/>
          </a:solidFill>
          <a:ln xmlns:a="http://schemas.openxmlformats.org/drawingml/2006/main" w="9525">
            <a:solidFill>
              <a:srgbClr val="3169AA"/>
            </a:solidFill>
            <a:prstDash val="solid"/>
          </a:ln>
        </p:spPr>
      </p:sp>
      <p:sp>
        <p:nvSpPr>
          <p:cNvPr id="6" name="nav-text-1">
            <a:extLst xmlns:a="http://schemas.openxmlformats.org/drawingml/2006/main">
              <a:ext uri="{FF2B5EF4-FFF2-40B4-BE49-F238E27FC236}">
                <a16:creationId xmlns:a16="http://schemas.microsoft.com/office/drawing/2014/main" id="{0C4CA5F0-E105-4159-AB66-EF6F929F9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" y="2647950"/>
            <a:ext cx="8191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38" b="1">
                <a:solidFill>
                  <a:srgbClr val="123D8D"/>
                </a:solidFill>
                <a:latin typeface="微软雅黑"/>
                <a:ea typeface="微软雅黑"/>
                <a:cs typeface="微软雅黑"/>
              </a:defRPr>
            </a:pPr>
            <a:r>
              <a:rPr sz="938" b="1">
                <a:solidFill>
                  <a:srgbClr val="123D8D"/>
                </a:solidFill>
                <a:latin typeface="微软雅黑"/>
                <a:ea typeface="微软雅黑"/>
                <a:cs typeface="微软雅黑"/>
              </a:rPr>
              <a:t>文献调研</a:t>
            </a:r>
          </a:p>
        </p:txBody>
      </p:sp>
      <p:sp>
        <p:nvSpPr>
          <p:cNvPr id="7" name="nav-2">
            <a:extLst xmlns:a="http://schemas.openxmlformats.org/drawingml/2006/main">
              <a:ext uri="{FF2B5EF4-FFF2-40B4-BE49-F238E27FC236}">
                <a16:creationId xmlns:a16="http://schemas.microsoft.com/office/drawing/2014/main" id="{2CF26ED2-0D4B-4D27-BFD1-244E5AF5B3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" y="3028950"/>
            <a:ext cx="8763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4F9A"/>
          </a:solidFill>
          <a:ln xmlns:a="http://schemas.openxmlformats.org/drawingml/2006/main" w="9525">
            <a:solidFill>
              <a:srgbClr val="3169AA"/>
            </a:solidFill>
            <a:prstDash val="solid"/>
          </a:ln>
        </p:spPr>
      </p:sp>
      <p:sp>
        <p:nvSpPr>
          <p:cNvPr id="8" name="nav-text-2">
            <a:extLst xmlns:a="http://schemas.openxmlformats.org/drawingml/2006/main">
              <a:ext uri="{FF2B5EF4-FFF2-40B4-BE49-F238E27FC236}">
                <a16:creationId xmlns:a16="http://schemas.microsoft.com/office/drawing/2014/main" id="{44D1EC16-70F6-4138-9464-492F0A45BB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" y="3114675"/>
            <a:ext cx="8191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38" b="0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938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方法与路线</a:t>
            </a:r>
          </a:p>
        </p:txBody>
      </p:sp>
      <p:sp>
        <p:nvSpPr>
          <p:cNvPr id="9" name="nav-3">
            <a:extLst xmlns:a="http://schemas.openxmlformats.org/drawingml/2006/main">
              <a:ext uri="{FF2B5EF4-FFF2-40B4-BE49-F238E27FC236}">
                <a16:creationId xmlns:a16="http://schemas.microsoft.com/office/drawing/2014/main" id="{56870947-C791-486B-8472-3FCA8A7A75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" y="3495675"/>
            <a:ext cx="8763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4F9A"/>
          </a:solidFill>
          <a:ln xmlns:a="http://schemas.openxmlformats.org/drawingml/2006/main" w="9525">
            <a:solidFill>
              <a:srgbClr val="3169AA"/>
            </a:solidFill>
            <a:prstDash val="solid"/>
          </a:ln>
        </p:spPr>
      </p:sp>
      <p:sp>
        <p:nvSpPr>
          <p:cNvPr id="10" name="nav-text-3">
            <a:extLst xmlns:a="http://schemas.openxmlformats.org/drawingml/2006/main">
              <a:ext uri="{FF2B5EF4-FFF2-40B4-BE49-F238E27FC236}">
                <a16:creationId xmlns:a16="http://schemas.microsoft.com/office/drawing/2014/main" id="{2A6136C7-2634-4831-9FA7-7898C4CFDA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" y="3581400"/>
            <a:ext cx="8191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38" b="0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938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已完成工作</a:t>
            </a:r>
          </a:p>
        </p:txBody>
      </p:sp>
      <p:sp>
        <p:nvSpPr>
          <p:cNvPr id="11" name="nav-4">
            <a:extLst xmlns:a="http://schemas.openxmlformats.org/drawingml/2006/main">
              <a:ext uri="{FF2B5EF4-FFF2-40B4-BE49-F238E27FC236}">
                <a16:creationId xmlns:a16="http://schemas.microsoft.com/office/drawing/2014/main" id="{7814310C-5ECB-4418-BF9F-47A7172278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" y="3962400"/>
            <a:ext cx="8763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4F9A"/>
          </a:solidFill>
          <a:ln xmlns:a="http://schemas.openxmlformats.org/drawingml/2006/main" w="9525">
            <a:solidFill>
              <a:srgbClr val="3169AA"/>
            </a:solidFill>
            <a:prstDash val="solid"/>
          </a:ln>
        </p:spPr>
      </p:sp>
      <p:sp>
        <p:nvSpPr>
          <p:cNvPr id="12" name="nav-text-4">
            <a:extLst xmlns:a="http://schemas.openxmlformats.org/drawingml/2006/main">
              <a:ext uri="{FF2B5EF4-FFF2-40B4-BE49-F238E27FC236}">
                <a16:creationId xmlns:a16="http://schemas.microsoft.com/office/drawing/2014/main" id="{FC68C406-8C14-4C34-BD41-D8FA4B2CBE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" y="4048125"/>
            <a:ext cx="8191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38" b="0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938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演示安排</a:t>
            </a:r>
          </a:p>
        </p:txBody>
      </p:sp>
      <p:sp>
        <p:nvSpPr>
          <p:cNvPr id="13" name="nav-5">
            <a:extLst xmlns:a="http://schemas.openxmlformats.org/drawingml/2006/main">
              <a:ext uri="{FF2B5EF4-FFF2-40B4-BE49-F238E27FC236}">
                <a16:creationId xmlns:a16="http://schemas.microsoft.com/office/drawing/2014/main" id="{240187F5-2E31-4399-81AB-57983EA686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" y="4429125"/>
            <a:ext cx="8763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4F9A"/>
          </a:solidFill>
          <a:ln xmlns:a="http://schemas.openxmlformats.org/drawingml/2006/main" w="9525">
            <a:solidFill>
              <a:srgbClr val="3169AA"/>
            </a:solidFill>
            <a:prstDash val="solid"/>
          </a:ln>
        </p:spPr>
      </p:sp>
      <p:sp>
        <p:nvSpPr>
          <p:cNvPr id="14" name="nav-text-5">
            <a:extLst xmlns:a="http://schemas.openxmlformats.org/drawingml/2006/main">
              <a:ext uri="{FF2B5EF4-FFF2-40B4-BE49-F238E27FC236}">
                <a16:creationId xmlns:a16="http://schemas.microsoft.com/office/drawing/2014/main" id="{353389E1-5C5A-4127-958F-30877F778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" y="4514850"/>
            <a:ext cx="8191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38" b="0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938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反思讨论</a:t>
            </a:r>
          </a:p>
        </p:txBody>
      </p:sp>
      <p:sp>
        <p:nvSpPr>
          <p:cNvPr id="15" name="title-square">
            <a:extLst xmlns:a="http://schemas.openxmlformats.org/drawingml/2006/main">
              <a:ext uri="{FF2B5EF4-FFF2-40B4-BE49-F238E27FC236}">
                <a16:creationId xmlns:a16="http://schemas.microsoft.com/office/drawing/2014/main" id="{7A6281AB-D814-4B37-8547-2DA42D3D80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28600"/>
            <a:ext cx="1143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D8D"/>
          </a:solidFill>
          <a:ln xmlns:a="http://schemas.openxmlformats.org/drawingml/2006/main" w="0">
            <a:solidFill>
              <a:srgbClr val="123D8D"/>
            </a:solidFill>
            <a:prstDash val="solid"/>
          </a:ln>
        </p:spPr>
      </p:sp>
      <p:sp>
        <p:nvSpPr>
          <p:cNvPr id="16" name="slide-title">
            <a:extLst xmlns:a="http://schemas.openxmlformats.org/drawingml/2006/main">
              <a:ext uri="{FF2B5EF4-FFF2-40B4-BE49-F238E27FC236}">
                <a16:creationId xmlns:a16="http://schemas.microsoft.com/office/drawing/2014/main" id="{A7FB3438-20D6-40B3-B83C-3CC9A83BFF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161925"/>
            <a:ext cx="83343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1667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0B2F6B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1">
                <a:solidFill>
                  <a:srgbClr val="0B2F6B"/>
                </a:solidFill>
                <a:latin typeface="微软雅黑"/>
                <a:ea typeface="微软雅黑"/>
                <a:cs typeface="微软雅黑"/>
              </a:rPr>
              <a:t>2.1  论文图证：通信侧关注动态决策，系统侧强调共同设计</a:t>
            </a:r>
          </a:p>
        </p:txBody>
      </p:sp>
      <p:sp>
        <p:nvSpPr>
          <p:cNvPr id="17" name="title-rule">
            <a:extLst xmlns:a="http://schemas.openxmlformats.org/drawingml/2006/main">
              <a:ext uri="{FF2B5EF4-FFF2-40B4-BE49-F238E27FC236}">
                <a16:creationId xmlns:a16="http://schemas.microsoft.com/office/drawing/2014/main" id="{21D4DF2D-4DAE-489D-B831-CF7D4A2588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590550"/>
            <a:ext cx="87153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D8D"/>
          </a:solidFill>
          <a:ln xmlns:a="http://schemas.openxmlformats.org/drawingml/2006/main" w="0">
            <a:solidFill>
              <a:srgbClr val="123D8D"/>
            </a:solidFill>
            <a:prstDash val="solid"/>
          </a:ln>
        </p:spPr>
      </p:sp>
      <p:pic>
        <p:nvPicPr>
          <p:cNvPr id="67" name="图片 5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24a198022ca454f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220791" y="66675"/>
            <a:ext cx="1608794" cy="514350"/>
          </a:xfrm>
          <a:prstGeom xmlns:a="http://schemas.openxmlformats.org/drawingml/2006/main" prst="rect">
            <a:avLst/>
          </a:prstGeom>
        </p:spPr>
      </p:pic>
      <p:sp>
        <p:nvSpPr>
          <p:cNvPr id="19" name="page-number">
            <a:extLst xmlns:a="http://schemas.openxmlformats.org/drawingml/2006/main">
              <a:ext uri="{FF2B5EF4-FFF2-40B4-BE49-F238E27FC236}">
                <a16:creationId xmlns:a16="http://schemas.microsoft.com/office/drawing/2014/main" id="{39CB49B9-45EB-4E80-B6D8-39D86EC42F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2375" y="6486525"/>
            <a:ext cx="47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7A8894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7A8894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20" name="citation-footer">
            <a:extLst xmlns:a="http://schemas.openxmlformats.org/drawingml/2006/main">
              <a:ext uri="{FF2B5EF4-FFF2-40B4-BE49-F238E27FC236}">
                <a16:creationId xmlns:a16="http://schemas.microsoft.com/office/drawing/2014/main" id="{8177FC77-2DF9-4F45-B783-E7612322CD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6457950"/>
            <a:ext cx="495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0834"/>
          </a:bodyPr>
          <a:lstStyle xmlns:a="http://schemas.openxmlformats.org/drawingml/2006/main"/>
          <a:p xmlns:a="http://schemas.openxmlformats.org/drawingml/2006/main">
            <a:pPr algn="l">
              <a:buNone/>
              <a:defRPr sz="863" b="0">
                <a:solidFill>
                  <a:srgbClr val="7A8894"/>
                </a:solidFill>
                <a:latin typeface="微软雅黑"/>
                <a:ea typeface="微软雅黑"/>
                <a:cs typeface="微软雅黑"/>
              </a:defRPr>
            </a:pPr>
            <a:r>
              <a:rPr sz="863" b="0">
                <a:solidFill>
                  <a:srgbClr val="7A8894"/>
                </a:solidFill>
                <a:latin typeface="微软雅黑"/>
                <a:ea typeface="微软雅黑"/>
                <a:cs typeface="微软雅黑"/>
              </a:rPr>
              <a:t>文献调研 · Figure 2 / Figure 1 截图</a:t>
            </a:r>
          </a:p>
        </p:txBody>
      </p:sp>
      <p:sp>
        <p:nvSpPr>
          <p:cNvPr id="42" name="figure-frame-a">
            <a:extLst xmlns:a="http://schemas.openxmlformats.org/drawingml/2006/main">
              <a:ext uri="{FF2B5EF4-FFF2-40B4-BE49-F238E27FC236}">
                <a16:creationId xmlns:a16="http://schemas.microsoft.com/office/drawing/2014/main" id="{BB4BD024-0538-4D05-8A75-76D7836CCC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914400"/>
            <a:ext cx="4857750" cy="3619500"/>
          </a:xfrm>
          <a:prstGeom xmlns:a="http://schemas.openxmlformats.org/drawingml/2006/main" prst="roundRect">
            <a:avLst>
              <a:gd name="adj" fmla="val 105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906">
            <a:solidFill>
              <a:srgbClr val="CBD8E5"/>
            </a:solidFill>
            <a:prstDash val="solid"/>
          </a:ln>
        </p:spPr>
      </p:sp>
      <p:sp>
        <p:nvSpPr>
          <p:cNvPr id="43" name="figure-frame-b">
            <a:extLst xmlns:a="http://schemas.openxmlformats.org/drawingml/2006/main">
              <a:ext uri="{FF2B5EF4-FFF2-40B4-BE49-F238E27FC236}">
                <a16:creationId xmlns:a16="http://schemas.microsoft.com/office/drawing/2014/main" id="{037D2456-CC5F-4152-B46A-196019C171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914400"/>
            <a:ext cx="4857750" cy="3619500"/>
          </a:xfrm>
          <a:prstGeom xmlns:a="http://schemas.openxmlformats.org/drawingml/2006/main" prst="roundRect">
            <a:avLst>
              <a:gd name="adj" fmla="val 105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906">
            <a:solidFill>
              <a:srgbClr val="CBD8E5"/>
            </a:solidFill>
            <a:prstDash val="solid"/>
          </a:ln>
        </p:spPr>
      </p:sp>
      <p:pic>
        <p:nvPicPr>
          <p:cNvPr id="7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13ef2a2a1344c33"/>
          <a:stretch xmlns:a="http://schemas.openxmlformats.org/drawingml/2006/main"/>
        </p:blipFill>
        <p:spPr>
          <a:xfrm xmlns:a="http://schemas.openxmlformats.org/drawingml/2006/main">
            <a:off x="1543050" y="1362603"/>
            <a:ext cx="4629150" cy="2170643"/>
          </a:xfrm>
          <a:prstGeom xmlns:a="http://schemas.openxmlformats.org/drawingml/2006/main" prst="rect">
            <a:avLst/>
          </a:prstGeom>
        </p:spPr>
      </p:pic>
      <p:pic>
        <p:nvPicPr>
          <p:cNvPr id="7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2eeedd923664f9f"/>
          <a:stretch xmlns:a="http://schemas.openxmlformats.org/drawingml/2006/main"/>
        </p:blipFill>
        <p:spPr>
          <a:xfrm xmlns:a="http://schemas.openxmlformats.org/drawingml/2006/main">
            <a:off x="7196560" y="1095375"/>
            <a:ext cx="3799631" cy="2857500"/>
          </a:xfrm>
          <a:prstGeom xmlns:a="http://schemas.openxmlformats.org/drawingml/2006/main" prst="rect">
            <a:avLst/>
          </a:prstGeom>
        </p:spPr>
      </p:pic>
      <p:sp>
        <p:nvSpPr>
          <p:cNvPr id="46" name="figure-label-a">
            <a:extLst xmlns:a="http://schemas.openxmlformats.org/drawingml/2006/main">
              <a:ext uri="{FF2B5EF4-FFF2-40B4-BE49-F238E27FC236}">
                <a16:creationId xmlns:a16="http://schemas.microsoft.com/office/drawing/2014/main" id="{CD50332D-4D8B-47AB-A701-8055B2A925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971925"/>
            <a:ext cx="4476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63" b="1">
                <a:solidFill>
                  <a:srgbClr val="0B2F6B"/>
                </a:solidFill>
                <a:latin typeface="微软雅黑"/>
                <a:ea typeface="微软雅黑"/>
                <a:cs typeface="微软雅黑"/>
              </a:defRPr>
            </a:pPr>
            <a:r>
              <a:rPr sz="1163" b="1">
                <a:solidFill>
                  <a:srgbClr val="0B2F6B"/>
                </a:solidFill>
                <a:latin typeface="微软雅黑"/>
                <a:ea typeface="微软雅黑"/>
                <a:cs typeface="微软雅黑"/>
              </a:rPr>
              <a:t>网络资源、接入、缓存、卸载和调度 → 动态决策空间</a:t>
            </a:r>
          </a:p>
        </p:txBody>
      </p:sp>
      <p:sp>
        <p:nvSpPr>
          <p:cNvPr id="47" name="figure-label-b">
            <a:extLst xmlns:a="http://schemas.openxmlformats.org/drawingml/2006/main">
              <a:ext uri="{FF2B5EF4-FFF2-40B4-BE49-F238E27FC236}">
                <a16:creationId xmlns:a16="http://schemas.microsoft.com/office/drawing/2014/main" id="{AFE486A0-9682-4187-A0FD-E1CDEB790A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971925"/>
            <a:ext cx="4476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63" b="1">
                <a:solidFill>
                  <a:srgbClr val="0B2F6B"/>
                </a:solidFill>
                <a:latin typeface="微软雅黑"/>
                <a:ea typeface="微软雅黑"/>
                <a:cs typeface="微软雅黑"/>
              </a:defRPr>
            </a:pPr>
            <a:r>
              <a:rPr sz="1163" b="1">
                <a:solidFill>
                  <a:srgbClr val="0B2F6B"/>
                </a:solidFill>
                <a:latin typeface="微软雅黑"/>
                <a:ea typeface="微软雅黑"/>
                <a:cs typeface="微软雅黑"/>
              </a:rPr>
              <a:t>感知、控制、通信策略与信道竞争 → 同一机器人网络闭环</a:t>
            </a:r>
          </a:p>
        </p:txBody>
      </p:sp>
      <p:sp>
        <p:nvSpPr>
          <p:cNvPr id="48" name="figure-takeaway-a">
            <a:extLst xmlns:a="http://schemas.openxmlformats.org/drawingml/2006/main">
              <a:ext uri="{FF2B5EF4-FFF2-40B4-BE49-F238E27FC236}">
                <a16:creationId xmlns:a16="http://schemas.microsoft.com/office/drawing/2014/main" id="{2060B83C-90AE-4B6F-9D10-63A382BED7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8875" y="5095875"/>
            <a:ext cx="7334250" cy="533400"/>
          </a:xfrm>
          <a:prstGeom xmlns:a="http://schemas.openxmlformats.org/drawingml/2006/main" prst="roundRect">
            <a:avLst>
              <a:gd name="adj" fmla="val 5357"/>
            </a:avLst>
          </a:prstGeom>
          <a:solidFill xmlns:a="http://schemas.openxmlformats.org/drawingml/2006/main">
            <a:srgbClr val="123D8D"/>
          </a:solidFill>
          <a:ln xmlns:a="http://schemas.openxmlformats.org/drawingml/2006/main" w="11906">
            <a:solidFill>
              <a:srgbClr val="123D8D"/>
            </a:solidFill>
            <a:prstDash val="solid"/>
          </a:ln>
        </p:spPr>
      </p:sp>
      <p:sp>
        <p:nvSpPr>
          <p:cNvPr id="49" name="figure-takeaway-a-text">
            <a:extLst xmlns:a="http://schemas.openxmlformats.org/drawingml/2006/main">
              <a:ext uri="{FF2B5EF4-FFF2-40B4-BE49-F238E27FC236}">
                <a16:creationId xmlns:a16="http://schemas.microsoft.com/office/drawing/2014/main" id="{2F7251EC-F4CE-46B5-AF0E-3ABC16A6D4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0325" y="5219700"/>
            <a:ext cx="69913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直接帮助：固定任务栈，先把应用层通信准入作为可控变量。</a:t>
            </a:r>
          </a:p>
        </p:txBody>
      </p:sp>
    </p:spTree>
    <p:extLst>
      <p:ext uri="{BB962C8B-B14F-4D97-AF65-F5344CB8AC3E}">
        <p14:creationId xmlns:p14="http://schemas.microsoft.com/office/powerpoint/2010/main" val="1056481352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0" name="left-nav-bg">
            <a:extLst xmlns:a="http://schemas.openxmlformats.org/drawingml/2006/main">
              <a:ext uri="{FF2B5EF4-FFF2-40B4-BE49-F238E27FC236}">
                <a16:creationId xmlns:a16="http://schemas.microsoft.com/office/drawing/2014/main" id="{B8346035-D9C4-4FE5-AEF5-574B791FB5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906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D8D"/>
          </a:solidFill>
          <a:ln xmlns:a="http://schemas.openxmlformats.org/drawingml/2006/main" w="0">
            <a:solidFill>
              <a:srgbClr val="123D8D"/>
            </a:solidFill>
            <a:prstDash val="solid"/>
          </a:ln>
        </p:spPr>
      </p:sp>
      <p:sp>
        <p:nvSpPr>
          <p:cNvPr id="2" name="nav-label">
            <a:extLst xmlns:a="http://schemas.openxmlformats.org/drawingml/2006/main">
              <a:ext uri="{FF2B5EF4-FFF2-40B4-BE49-F238E27FC236}">
                <a16:creationId xmlns:a16="http://schemas.microsoft.com/office/drawing/2014/main" id="{816A2C3B-FBE1-4C5D-81D2-3A3ECA7FD4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" y="266700"/>
            <a:ext cx="933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8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近期工作分享</a:t>
            </a:r>
          </a:p>
        </p:txBody>
      </p:sp>
      <p:sp>
        <p:nvSpPr>
          <p:cNvPr id="3" name="nav-0">
            <a:extLst xmlns:a="http://schemas.openxmlformats.org/drawingml/2006/main">
              <a:ext uri="{FF2B5EF4-FFF2-40B4-BE49-F238E27FC236}">
                <a16:creationId xmlns:a16="http://schemas.microsoft.com/office/drawing/2014/main" id="{CC91EE01-8F5A-426F-BC0A-30B87A3BB3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" y="2095500"/>
            <a:ext cx="8763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4F9A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4" name="nav-text-0">
            <a:extLst xmlns:a="http://schemas.openxmlformats.org/drawingml/2006/main">
              <a:ext uri="{FF2B5EF4-FFF2-40B4-BE49-F238E27FC236}">
                <a16:creationId xmlns:a16="http://schemas.microsoft.com/office/drawing/2014/main" id="{88FA0A0E-5562-4335-A3C8-8F50ECC07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" y="2181225"/>
            <a:ext cx="8191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38" b="0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938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问题提出</a:t>
            </a:r>
          </a:p>
        </p:txBody>
      </p:sp>
      <p:sp>
        <p:nvSpPr>
          <p:cNvPr id="5" name="nav-1">
            <a:extLst xmlns:a="http://schemas.openxmlformats.org/drawingml/2006/main">
              <a:ext uri="{FF2B5EF4-FFF2-40B4-BE49-F238E27FC236}">
                <a16:creationId xmlns:a16="http://schemas.microsoft.com/office/drawing/2014/main" id="{0C8F8A44-88D8-4922-A31E-136E76D5E5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" y="2562225"/>
            <a:ext cx="8763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7FD"/>
          </a:solidFill>
          <a:ln xmlns:a="http://schemas.openxmlformats.org/drawingml/2006/main" w="9525">
            <a:solidFill>
              <a:srgbClr val="3169AA"/>
            </a:solidFill>
            <a:prstDash val="solid"/>
          </a:ln>
        </p:spPr>
      </p:sp>
      <p:sp>
        <p:nvSpPr>
          <p:cNvPr id="6" name="nav-text-1">
            <a:extLst xmlns:a="http://schemas.openxmlformats.org/drawingml/2006/main">
              <a:ext uri="{FF2B5EF4-FFF2-40B4-BE49-F238E27FC236}">
                <a16:creationId xmlns:a16="http://schemas.microsoft.com/office/drawing/2014/main" id="{0C4CA5F0-E105-4159-AB66-EF6F929F9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" y="2647950"/>
            <a:ext cx="8191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38" b="1">
                <a:solidFill>
                  <a:srgbClr val="123D8D"/>
                </a:solidFill>
                <a:latin typeface="微软雅黑"/>
                <a:ea typeface="微软雅黑"/>
                <a:cs typeface="微软雅黑"/>
              </a:defRPr>
            </a:pPr>
            <a:r>
              <a:rPr sz="938" b="1">
                <a:solidFill>
                  <a:srgbClr val="123D8D"/>
                </a:solidFill>
                <a:latin typeface="微软雅黑"/>
                <a:ea typeface="微软雅黑"/>
                <a:cs typeface="微软雅黑"/>
              </a:rPr>
              <a:t>文献调研</a:t>
            </a:r>
          </a:p>
        </p:txBody>
      </p:sp>
      <p:sp>
        <p:nvSpPr>
          <p:cNvPr id="7" name="nav-2">
            <a:extLst xmlns:a="http://schemas.openxmlformats.org/drawingml/2006/main">
              <a:ext uri="{FF2B5EF4-FFF2-40B4-BE49-F238E27FC236}">
                <a16:creationId xmlns:a16="http://schemas.microsoft.com/office/drawing/2014/main" id="{2CF26ED2-0D4B-4D27-BFD1-244E5AF5B3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" y="3028950"/>
            <a:ext cx="8763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4F9A"/>
          </a:solidFill>
          <a:ln xmlns:a="http://schemas.openxmlformats.org/drawingml/2006/main" w="9525">
            <a:solidFill>
              <a:srgbClr val="3169AA"/>
            </a:solidFill>
            <a:prstDash val="solid"/>
          </a:ln>
        </p:spPr>
      </p:sp>
      <p:sp>
        <p:nvSpPr>
          <p:cNvPr id="8" name="nav-text-2">
            <a:extLst xmlns:a="http://schemas.openxmlformats.org/drawingml/2006/main">
              <a:ext uri="{FF2B5EF4-FFF2-40B4-BE49-F238E27FC236}">
                <a16:creationId xmlns:a16="http://schemas.microsoft.com/office/drawing/2014/main" id="{44D1EC16-70F6-4138-9464-492F0A45BB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" y="3114675"/>
            <a:ext cx="8191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38" b="0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938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方法与路线</a:t>
            </a:r>
          </a:p>
        </p:txBody>
      </p:sp>
      <p:sp>
        <p:nvSpPr>
          <p:cNvPr id="9" name="nav-3">
            <a:extLst xmlns:a="http://schemas.openxmlformats.org/drawingml/2006/main">
              <a:ext uri="{FF2B5EF4-FFF2-40B4-BE49-F238E27FC236}">
                <a16:creationId xmlns:a16="http://schemas.microsoft.com/office/drawing/2014/main" id="{56870947-C791-486B-8472-3FCA8A7A75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" y="3495675"/>
            <a:ext cx="8763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4F9A"/>
          </a:solidFill>
          <a:ln xmlns:a="http://schemas.openxmlformats.org/drawingml/2006/main" w="9525">
            <a:solidFill>
              <a:srgbClr val="3169AA"/>
            </a:solidFill>
            <a:prstDash val="solid"/>
          </a:ln>
        </p:spPr>
      </p:sp>
      <p:sp>
        <p:nvSpPr>
          <p:cNvPr id="10" name="nav-text-3">
            <a:extLst xmlns:a="http://schemas.openxmlformats.org/drawingml/2006/main">
              <a:ext uri="{FF2B5EF4-FFF2-40B4-BE49-F238E27FC236}">
                <a16:creationId xmlns:a16="http://schemas.microsoft.com/office/drawing/2014/main" id="{2A6136C7-2634-4831-9FA7-7898C4CFDA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" y="3581400"/>
            <a:ext cx="8191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38" b="0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938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已完成工作</a:t>
            </a:r>
          </a:p>
        </p:txBody>
      </p:sp>
      <p:sp>
        <p:nvSpPr>
          <p:cNvPr id="11" name="nav-4">
            <a:extLst xmlns:a="http://schemas.openxmlformats.org/drawingml/2006/main">
              <a:ext uri="{FF2B5EF4-FFF2-40B4-BE49-F238E27FC236}">
                <a16:creationId xmlns:a16="http://schemas.microsoft.com/office/drawing/2014/main" id="{7814310C-5ECB-4418-BF9F-47A7172278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" y="3962400"/>
            <a:ext cx="8763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4F9A"/>
          </a:solidFill>
          <a:ln xmlns:a="http://schemas.openxmlformats.org/drawingml/2006/main" w="9525">
            <a:solidFill>
              <a:srgbClr val="3169AA"/>
            </a:solidFill>
            <a:prstDash val="solid"/>
          </a:ln>
        </p:spPr>
      </p:sp>
      <p:sp>
        <p:nvSpPr>
          <p:cNvPr id="12" name="nav-text-4">
            <a:extLst xmlns:a="http://schemas.openxmlformats.org/drawingml/2006/main">
              <a:ext uri="{FF2B5EF4-FFF2-40B4-BE49-F238E27FC236}">
                <a16:creationId xmlns:a16="http://schemas.microsoft.com/office/drawing/2014/main" id="{FC68C406-8C14-4C34-BD41-D8FA4B2CBE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" y="4048125"/>
            <a:ext cx="8191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38" b="0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938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演示安排</a:t>
            </a:r>
          </a:p>
        </p:txBody>
      </p:sp>
      <p:sp>
        <p:nvSpPr>
          <p:cNvPr id="13" name="nav-5">
            <a:extLst xmlns:a="http://schemas.openxmlformats.org/drawingml/2006/main">
              <a:ext uri="{FF2B5EF4-FFF2-40B4-BE49-F238E27FC236}">
                <a16:creationId xmlns:a16="http://schemas.microsoft.com/office/drawing/2014/main" id="{240187F5-2E31-4399-81AB-57983EA686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" y="4429125"/>
            <a:ext cx="8763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4F9A"/>
          </a:solidFill>
          <a:ln xmlns:a="http://schemas.openxmlformats.org/drawingml/2006/main" w="9525">
            <a:solidFill>
              <a:srgbClr val="3169AA"/>
            </a:solidFill>
            <a:prstDash val="solid"/>
          </a:ln>
        </p:spPr>
      </p:sp>
      <p:sp>
        <p:nvSpPr>
          <p:cNvPr id="14" name="nav-text-5">
            <a:extLst xmlns:a="http://schemas.openxmlformats.org/drawingml/2006/main">
              <a:ext uri="{FF2B5EF4-FFF2-40B4-BE49-F238E27FC236}">
                <a16:creationId xmlns:a16="http://schemas.microsoft.com/office/drawing/2014/main" id="{353389E1-5C5A-4127-958F-30877F778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" y="4514850"/>
            <a:ext cx="8191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38" b="0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938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反思讨论</a:t>
            </a:r>
          </a:p>
        </p:txBody>
      </p:sp>
      <p:sp>
        <p:nvSpPr>
          <p:cNvPr id="15" name="title-square">
            <a:extLst xmlns:a="http://schemas.openxmlformats.org/drawingml/2006/main">
              <a:ext uri="{FF2B5EF4-FFF2-40B4-BE49-F238E27FC236}">
                <a16:creationId xmlns:a16="http://schemas.microsoft.com/office/drawing/2014/main" id="{7A6281AB-D814-4B37-8547-2DA42D3D80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28600"/>
            <a:ext cx="1143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D8D"/>
          </a:solidFill>
          <a:ln xmlns:a="http://schemas.openxmlformats.org/drawingml/2006/main" w="0">
            <a:solidFill>
              <a:srgbClr val="123D8D"/>
            </a:solidFill>
            <a:prstDash val="solid"/>
          </a:ln>
        </p:spPr>
      </p:sp>
      <p:sp>
        <p:nvSpPr>
          <p:cNvPr id="16" name="slide-title">
            <a:extLst xmlns:a="http://schemas.openxmlformats.org/drawingml/2006/main">
              <a:ext uri="{FF2B5EF4-FFF2-40B4-BE49-F238E27FC236}">
                <a16:creationId xmlns:a16="http://schemas.microsoft.com/office/drawing/2014/main" id="{A7FB3438-20D6-40B3-B83C-3CC9A83BFF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161925"/>
            <a:ext cx="83343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1667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0B2F6B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1">
                <a:solidFill>
                  <a:srgbClr val="0B2F6B"/>
                </a:solidFill>
                <a:latin typeface="微软雅黑"/>
                <a:ea typeface="微软雅黑"/>
                <a:cs typeface="微软雅黑"/>
              </a:rPr>
              <a:t>2.2  论文图证：任务价值与信息新鲜度需要同时考虑</a:t>
            </a:r>
          </a:p>
        </p:txBody>
      </p:sp>
      <p:sp>
        <p:nvSpPr>
          <p:cNvPr id="17" name="title-rule">
            <a:extLst xmlns:a="http://schemas.openxmlformats.org/drawingml/2006/main">
              <a:ext uri="{FF2B5EF4-FFF2-40B4-BE49-F238E27FC236}">
                <a16:creationId xmlns:a16="http://schemas.microsoft.com/office/drawing/2014/main" id="{21D4DF2D-4DAE-489D-B831-CF7D4A2588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590550"/>
            <a:ext cx="87153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D8D"/>
          </a:solidFill>
          <a:ln xmlns:a="http://schemas.openxmlformats.org/drawingml/2006/main" w="0">
            <a:solidFill>
              <a:srgbClr val="123D8D"/>
            </a:solidFill>
            <a:prstDash val="solid"/>
          </a:ln>
        </p:spPr>
      </p:sp>
      <p:pic>
        <p:nvPicPr>
          <p:cNvPr id="67" name="图片 5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b43f2a9ed594d1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220791" y="66675"/>
            <a:ext cx="1608794" cy="514350"/>
          </a:xfrm>
          <a:prstGeom xmlns:a="http://schemas.openxmlformats.org/drawingml/2006/main" prst="rect">
            <a:avLst/>
          </a:prstGeom>
        </p:spPr>
      </p:pic>
      <p:sp>
        <p:nvSpPr>
          <p:cNvPr id="19" name="page-number">
            <a:extLst xmlns:a="http://schemas.openxmlformats.org/drawingml/2006/main">
              <a:ext uri="{FF2B5EF4-FFF2-40B4-BE49-F238E27FC236}">
                <a16:creationId xmlns:a16="http://schemas.microsoft.com/office/drawing/2014/main" id="{39CB49B9-45EB-4E80-B6D8-39D86EC42F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2375" y="6486525"/>
            <a:ext cx="47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7A8894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7A8894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sp>
        <p:nvSpPr>
          <p:cNvPr id="20" name="citation-footer">
            <a:extLst xmlns:a="http://schemas.openxmlformats.org/drawingml/2006/main">
              <a:ext uri="{FF2B5EF4-FFF2-40B4-BE49-F238E27FC236}">
                <a16:creationId xmlns:a16="http://schemas.microsoft.com/office/drawing/2014/main" id="{8177FC77-2DF9-4F45-B783-E7612322CD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6457950"/>
            <a:ext cx="495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0834"/>
          </a:bodyPr>
          <a:lstStyle xmlns:a="http://schemas.openxmlformats.org/drawingml/2006/main"/>
          <a:p xmlns:a="http://schemas.openxmlformats.org/drawingml/2006/main">
            <a:pPr algn="l">
              <a:buNone/>
              <a:defRPr sz="863" b="0">
                <a:solidFill>
                  <a:srgbClr val="7A8894"/>
                </a:solidFill>
                <a:latin typeface="微软雅黑"/>
                <a:ea typeface="微软雅黑"/>
                <a:cs typeface="微软雅黑"/>
              </a:defRPr>
            </a:pPr>
            <a:r>
              <a:rPr sz="863" b="0">
                <a:solidFill>
                  <a:srgbClr val="7A8894"/>
                </a:solidFill>
                <a:latin typeface="微软雅黑"/>
                <a:ea typeface="微软雅黑"/>
                <a:cs typeface="微软雅黑"/>
              </a:rPr>
              <a:t>文献调研 · 任务导向通信 / AoI / 协同探索</a:t>
            </a:r>
          </a:p>
        </p:txBody>
      </p:sp>
      <p:sp>
        <p:nvSpPr>
          <p:cNvPr id="42" name="figure-frame-c">
            <a:extLst xmlns:a="http://schemas.openxmlformats.org/drawingml/2006/main">
              <a:ext uri="{FF2B5EF4-FFF2-40B4-BE49-F238E27FC236}">
                <a16:creationId xmlns:a16="http://schemas.microsoft.com/office/drawing/2014/main" id="{344C4A8B-F530-45D3-886B-3A25F26D72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914400"/>
            <a:ext cx="4857750" cy="3619500"/>
          </a:xfrm>
          <a:prstGeom xmlns:a="http://schemas.openxmlformats.org/drawingml/2006/main" prst="roundRect">
            <a:avLst>
              <a:gd name="adj" fmla="val 105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906">
            <a:solidFill>
              <a:srgbClr val="CBD8E5"/>
            </a:solidFill>
            <a:prstDash val="solid"/>
          </a:ln>
        </p:spPr>
      </p:sp>
      <p:sp>
        <p:nvSpPr>
          <p:cNvPr id="43" name="figure-frame-d">
            <a:extLst xmlns:a="http://schemas.openxmlformats.org/drawingml/2006/main">
              <a:ext uri="{FF2B5EF4-FFF2-40B4-BE49-F238E27FC236}">
                <a16:creationId xmlns:a16="http://schemas.microsoft.com/office/drawing/2014/main" id="{A6E5EDB0-4B37-4FEF-BB94-5A61B4D7E1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914400"/>
            <a:ext cx="4857750" cy="3619500"/>
          </a:xfrm>
          <a:prstGeom xmlns:a="http://schemas.openxmlformats.org/drawingml/2006/main" prst="roundRect">
            <a:avLst>
              <a:gd name="adj" fmla="val 105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906">
            <a:solidFill>
              <a:srgbClr val="CBD8E5"/>
            </a:solidFill>
            <a:prstDash val="solid"/>
          </a:ln>
        </p:spPr>
      </p:sp>
      <p:pic>
        <p:nvPicPr>
          <p:cNvPr id="7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442d204f76b4883"/>
          <a:stretch xmlns:a="http://schemas.openxmlformats.org/drawingml/2006/main"/>
        </p:blipFill>
        <p:spPr>
          <a:xfrm xmlns:a="http://schemas.openxmlformats.org/drawingml/2006/main">
            <a:off x="1543050" y="1658590"/>
            <a:ext cx="4629150" cy="1492945"/>
          </a:xfrm>
          <a:prstGeom xmlns:a="http://schemas.openxmlformats.org/drawingml/2006/main" prst="rect">
            <a:avLst/>
          </a:prstGeom>
        </p:spPr>
      </p:pic>
      <p:pic>
        <p:nvPicPr>
          <p:cNvPr id="7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d3e81147bd84116"/>
          <a:stretch xmlns:a="http://schemas.openxmlformats.org/drawingml/2006/main"/>
        </p:blipFill>
        <p:spPr>
          <a:xfrm xmlns:a="http://schemas.openxmlformats.org/drawingml/2006/main">
            <a:off x="6783440" y="1143000"/>
            <a:ext cx="4625871" cy="3095625"/>
          </a:xfrm>
          <a:prstGeom xmlns:a="http://schemas.openxmlformats.org/drawingml/2006/main" prst="rect">
            <a:avLst/>
          </a:prstGeom>
        </p:spPr>
      </p:pic>
      <p:sp>
        <p:nvSpPr>
          <p:cNvPr id="46" name="figure-label-c">
            <a:extLst xmlns:a="http://schemas.openxmlformats.org/drawingml/2006/main">
              <a:ext uri="{FF2B5EF4-FFF2-40B4-BE49-F238E27FC236}">
                <a16:creationId xmlns:a16="http://schemas.microsoft.com/office/drawing/2014/main" id="{9B189D21-715F-438B-A78F-49882D8C23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810000"/>
            <a:ext cx="4476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63" b="1">
                <a:solidFill>
                  <a:srgbClr val="0B2F6B"/>
                </a:solidFill>
                <a:latin typeface="微软雅黑"/>
                <a:ea typeface="微软雅黑"/>
                <a:cs typeface="微软雅黑"/>
              </a:defRPr>
            </a:pPr>
            <a:r>
              <a:rPr sz="1163" b="1">
                <a:solidFill>
                  <a:srgbClr val="0B2F6B"/>
                </a:solidFill>
                <a:latin typeface="微软雅黑"/>
                <a:ea typeface="微软雅黑"/>
                <a:cs typeface="微软雅黑"/>
              </a:rPr>
              <a:t>what / when / why to communicate；AoI 是必要但不充分的指标</a:t>
            </a:r>
          </a:p>
        </p:txBody>
      </p:sp>
      <p:sp>
        <p:nvSpPr>
          <p:cNvPr id="47" name="figure-label-d">
            <a:extLst xmlns:a="http://schemas.openxmlformats.org/drawingml/2006/main">
              <a:ext uri="{FF2B5EF4-FFF2-40B4-BE49-F238E27FC236}">
                <a16:creationId xmlns:a16="http://schemas.microsoft.com/office/drawing/2014/main" id="{B2A996EC-9300-40CF-B0F7-1B6B6E9B05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971925"/>
            <a:ext cx="4476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63" b="1">
                <a:solidFill>
                  <a:srgbClr val="0B2F6B"/>
                </a:solidFill>
                <a:latin typeface="微软雅黑"/>
                <a:ea typeface="微软雅黑"/>
                <a:cs typeface="微软雅黑"/>
              </a:defRPr>
            </a:pPr>
            <a:r>
              <a:rPr sz="1163" b="1">
                <a:solidFill>
                  <a:srgbClr val="0B2F6B"/>
                </a:solidFill>
                <a:latin typeface="微软雅黑"/>
                <a:ea typeface="微软雅黑"/>
                <a:cs typeface="微软雅黑"/>
              </a:rPr>
              <a:t>中继、主动/被动感知和广播策略，把通信作为探索变量</a:t>
            </a:r>
          </a:p>
        </p:txBody>
      </p:sp>
      <p:sp>
        <p:nvSpPr>
          <p:cNvPr id="48" name="figure-takeaway-b">
            <a:extLst xmlns:a="http://schemas.openxmlformats.org/drawingml/2006/main">
              <a:ext uri="{FF2B5EF4-FFF2-40B4-BE49-F238E27FC236}">
                <a16:creationId xmlns:a16="http://schemas.microsoft.com/office/drawing/2014/main" id="{D72A32B3-DA2A-4BCA-837B-D1D1CA05BA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8875" y="5095875"/>
            <a:ext cx="7334250" cy="533400"/>
          </a:xfrm>
          <a:prstGeom xmlns:a="http://schemas.openxmlformats.org/drawingml/2006/main" prst="roundRect">
            <a:avLst>
              <a:gd name="adj" fmla="val 5357"/>
            </a:avLst>
          </a:prstGeom>
          <a:solidFill xmlns:a="http://schemas.openxmlformats.org/drawingml/2006/main">
            <a:srgbClr val="123D8D"/>
          </a:solidFill>
          <a:ln xmlns:a="http://schemas.openxmlformats.org/drawingml/2006/main" w="11906">
            <a:solidFill>
              <a:srgbClr val="123D8D"/>
            </a:solidFill>
            <a:prstDash val="solid"/>
          </a:ln>
        </p:spPr>
      </p:sp>
      <p:sp>
        <p:nvSpPr>
          <p:cNvPr id="49" name="figure-takeaway-b-text">
            <a:extLst xmlns:a="http://schemas.openxmlformats.org/drawingml/2006/main">
              <a:ext uri="{FF2B5EF4-FFF2-40B4-BE49-F238E27FC236}">
                <a16:creationId xmlns:a16="http://schemas.microsoft.com/office/drawing/2014/main" id="{6FCE0012-8C77-428E-A3CA-127A93AC42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0325" y="5219700"/>
            <a:ext cx="69913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当前工作假设：消息价值 = 任务贡献 + 时效 + 通信代价。</a:t>
            </a:r>
          </a:p>
        </p:txBody>
      </p:sp>
    </p:spTree>
    <p:extLst>
      <p:ext uri="{BB962C8B-B14F-4D97-AF65-F5344CB8AC3E}">
        <p14:creationId xmlns:p14="http://schemas.microsoft.com/office/powerpoint/2010/main" val="1056481352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7" name="left-nav-bg">
            <a:extLst xmlns:a="http://schemas.openxmlformats.org/drawingml/2006/main">
              <a:ext uri="{FF2B5EF4-FFF2-40B4-BE49-F238E27FC236}">
                <a16:creationId xmlns:a16="http://schemas.microsoft.com/office/drawing/2014/main" id="{3413D371-179F-42AF-B519-EA4A6E06E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906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D8D"/>
          </a:solidFill>
          <a:ln xmlns:a="http://schemas.openxmlformats.org/drawingml/2006/main" w="0">
            <a:solidFill>
              <a:srgbClr val="123D8D"/>
            </a:solidFill>
            <a:prstDash val="solid"/>
          </a:ln>
        </p:spPr>
      </p:sp>
      <p:sp>
        <p:nvSpPr>
          <p:cNvPr id="2" name="nav-label">
            <a:extLst xmlns:a="http://schemas.openxmlformats.org/drawingml/2006/main">
              <a:ext uri="{FF2B5EF4-FFF2-40B4-BE49-F238E27FC236}">
                <a16:creationId xmlns:a16="http://schemas.microsoft.com/office/drawing/2014/main" id="{191986CB-0AE9-4D8A-9D4F-B09D2AE3D9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" y="266700"/>
            <a:ext cx="933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8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近期工作分享</a:t>
            </a:r>
          </a:p>
        </p:txBody>
      </p:sp>
      <p:sp>
        <p:nvSpPr>
          <p:cNvPr id="3" name="nav-0">
            <a:extLst xmlns:a="http://schemas.openxmlformats.org/drawingml/2006/main">
              <a:ext uri="{FF2B5EF4-FFF2-40B4-BE49-F238E27FC236}">
                <a16:creationId xmlns:a16="http://schemas.microsoft.com/office/drawing/2014/main" id="{8016F1B0-110D-4563-B015-E806F9D1E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" y="2095500"/>
            <a:ext cx="8763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4F9A"/>
          </a:solidFill>
          <a:ln xmlns:a="http://schemas.openxmlformats.org/drawingml/2006/main" w="9525">
            <a:solidFill>
              <a:srgbClr val="3169AA"/>
            </a:solidFill>
            <a:prstDash val="solid"/>
          </a:ln>
        </p:spPr>
      </p:sp>
      <p:sp>
        <p:nvSpPr>
          <p:cNvPr id="4" name="nav-text-0">
            <a:extLst xmlns:a="http://schemas.openxmlformats.org/drawingml/2006/main">
              <a:ext uri="{FF2B5EF4-FFF2-40B4-BE49-F238E27FC236}">
                <a16:creationId xmlns:a16="http://schemas.microsoft.com/office/drawing/2014/main" id="{E3805088-7099-4374-A75F-5DFC61942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" y="2181225"/>
            <a:ext cx="8191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38" b="0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938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问题提出</a:t>
            </a:r>
          </a:p>
        </p:txBody>
      </p:sp>
      <p:sp>
        <p:nvSpPr>
          <p:cNvPr id="5" name="nav-1">
            <a:extLst xmlns:a="http://schemas.openxmlformats.org/drawingml/2006/main">
              <a:ext uri="{FF2B5EF4-FFF2-40B4-BE49-F238E27FC236}">
                <a16:creationId xmlns:a16="http://schemas.microsoft.com/office/drawing/2014/main" id="{776CEA64-9C5F-4184-AA78-228E888D8C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" y="2562225"/>
            <a:ext cx="8763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7FD"/>
          </a:solidFill>
          <a:ln xmlns:a="http://schemas.openxmlformats.org/drawingml/2006/main" w="9525">
            <a:solidFill>
              <a:srgbClr val="3169AA"/>
            </a:solidFill>
            <a:prstDash val="solid"/>
          </a:ln>
        </p:spPr>
      </p:sp>
      <p:sp>
        <p:nvSpPr>
          <p:cNvPr id="6" name="nav-text-1">
            <a:extLst xmlns:a="http://schemas.openxmlformats.org/drawingml/2006/main">
              <a:ext uri="{FF2B5EF4-FFF2-40B4-BE49-F238E27FC236}">
                <a16:creationId xmlns:a16="http://schemas.microsoft.com/office/drawing/2014/main" id="{ECE73AC3-278F-485F-A685-07E8853353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" y="2647950"/>
            <a:ext cx="8191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38" b="1">
                <a:solidFill>
                  <a:srgbClr val="123D8D"/>
                </a:solidFill>
                <a:latin typeface="微软雅黑"/>
                <a:ea typeface="微软雅黑"/>
                <a:cs typeface="微软雅黑"/>
              </a:defRPr>
            </a:pPr>
            <a:r>
              <a:rPr sz="938" b="1">
                <a:solidFill>
                  <a:srgbClr val="123D8D"/>
                </a:solidFill>
                <a:latin typeface="微软雅黑"/>
                <a:ea typeface="微软雅黑"/>
                <a:cs typeface="微软雅黑"/>
              </a:rPr>
              <a:t>文献调研</a:t>
            </a:r>
          </a:p>
        </p:txBody>
      </p:sp>
      <p:sp>
        <p:nvSpPr>
          <p:cNvPr id="7" name="nav-2">
            <a:extLst xmlns:a="http://schemas.openxmlformats.org/drawingml/2006/main">
              <a:ext uri="{FF2B5EF4-FFF2-40B4-BE49-F238E27FC236}">
                <a16:creationId xmlns:a16="http://schemas.microsoft.com/office/drawing/2014/main" id="{DDB4F678-F243-49BD-9CA0-B21A339091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" y="3028950"/>
            <a:ext cx="8763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4F9A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8" name="nav-text-2">
            <a:extLst xmlns:a="http://schemas.openxmlformats.org/drawingml/2006/main">
              <a:ext uri="{FF2B5EF4-FFF2-40B4-BE49-F238E27FC236}">
                <a16:creationId xmlns:a16="http://schemas.microsoft.com/office/drawing/2014/main" id="{5BA5A1EE-1412-4C7D-952B-EECDE88FA0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" y="3114675"/>
            <a:ext cx="8191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38" b="0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938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方法与路线</a:t>
            </a:r>
          </a:p>
        </p:txBody>
      </p:sp>
      <p:sp>
        <p:nvSpPr>
          <p:cNvPr id="9" name="nav-3">
            <a:extLst xmlns:a="http://schemas.openxmlformats.org/drawingml/2006/main">
              <a:ext uri="{FF2B5EF4-FFF2-40B4-BE49-F238E27FC236}">
                <a16:creationId xmlns:a16="http://schemas.microsoft.com/office/drawing/2014/main" id="{CF33EC08-5446-47F7-9469-2F24C46944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" y="3495675"/>
            <a:ext cx="8763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4F9A"/>
          </a:solidFill>
          <a:ln xmlns:a="http://schemas.openxmlformats.org/drawingml/2006/main" w="9525">
            <a:solidFill>
              <a:srgbClr val="3169AA"/>
            </a:solidFill>
            <a:prstDash val="solid"/>
          </a:ln>
        </p:spPr>
      </p:sp>
      <p:sp>
        <p:nvSpPr>
          <p:cNvPr id="10" name="nav-text-3">
            <a:extLst xmlns:a="http://schemas.openxmlformats.org/drawingml/2006/main">
              <a:ext uri="{FF2B5EF4-FFF2-40B4-BE49-F238E27FC236}">
                <a16:creationId xmlns:a16="http://schemas.microsoft.com/office/drawing/2014/main" id="{F1BBDCAC-57BF-4F86-A97F-5D7DEE095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" y="3581400"/>
            <a:ext cx="8191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38" b="0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938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已完成工作</a:t>
            </a:r>
          </a:p>
        </p:txBody>
      </p:sp>
      <p:sp>
        <p:nvSpPr>
          <p:cNvPr id="11" name="nav-4">
            <a:extLst xmlns:a="http://schemas.openxmlformats.org/drawingml/2006/main">
              <a:ext uri="{FF2B5EF4-FFF2-40B4-BE49-F238E27FC236}">
                <a16:creationId xmlns:a16="http://schemas.microsoft.com/office/drawing/2014/main" id="{2B4F8C05-FC89-4DE0-B1C9-FE74C85C32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" y="3962400"/>
            <a:ext cx="8763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4F9A"/>
          </a:solidFill>
          <a:ln xmlns:a="http://schemas.openxmlformats.org/drawingml/2006/main" w="9525">
            <a:solidFill>
              <a:srgbClr val="3169AA"/>
            </a:solidFill>
            <a:prstDash val="solid"/>
          </a:ln>
        </p:spPr>
      </p:sp>
      <p:sp>
        <p:nvSpPr>
          <p:cNvPr id="12" name="nav-text-4">
            <a:extLst xmlns:a="http://schemas.openxmlformats.org/drawingml/2006/main">
              <a:ext uri="{FF2B5EF4-FFF2-40B4-BE49-F238E27FC236}">
                <a16:creationId xmlns:a16="http://schemas.microsoft.com/office/drawing/2014/main" id="{772BADB5-A2B9-4F61-BE4A-DAD1AE1FC9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" y="4048125"/>
            <a:ext cx="8191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38" b="0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938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演示安排</a:t>
            </a:r>
          </a:p>
        </p:txBody>
      </p:sp>
      <p:sp>
        <p:nvSpPr>
          <p:cNvPr id="13" name="nav-5">
            <a:extLst xmlns:a="http://schemas.openxmlformats.org/drawingml/2006/main">
              <a:ext uri="{FF2B5EF4-FFF2-40B4-BE49-F238E27FC236}">
                <a16:creationId xmlns:a16="http://schemas.microsoft.com/office/drawing/2014/main" id="{5C080286-5202-4996-92F1-409DD274A2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" y="4429125"/>
            <a:ext cx="8763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4F9A"/>
          </a:solidFill>
          <a:ln xmlns:a="http://schemas.openxmlformats.org/drawingml/2006/main" w="9525">
            <a:solidFill>
              <a:srgbClr val="3169AA"/>
            </a:solidFill>
            <a:prstDash val="solid"/>
          </a:ln>
        </p:spPr>
      </p:sp>
      <p:sp>
        <p:nvSpPr>
          <p:cNvPr id="14" name="nav-text-5">
            <a:extLst xmlns:a="http://schemas.openxmlformats.org/drawingml/2006/main">
              <a:ext uri="{FF2B5EF4-FFF2-40B4-BE49-F238E27FC236}">
                <a16:creationId xmlns:a16="http://schemas.microsoft.com/office/drawing/2014/main" id="{C2085408-FF08-431F-B28E-663476340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" y="4514850"/>
            <a:ext cx="8191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38" b="0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938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反思讨论</a:t>
            </a:r>
          </a:p>
        </p:txBody>
      </p:sp>
      <p:sp>
        <p:nvSpPr>
          <p:cNvPr id="15" name="title-square">
            <a:extLst xmlns:a="http://schemas.openxmlformats.org/drawingml/2006/main">
              <a:ext uri="{FF2B5EF4-FFF2-40B4-BE49-F238E27FC236}">
                <a16:creationId xmlns:a16="http://schemas.microsoft.com/office/drawing/2014/main" id="{C8C0E237-D33B-4BA6-BC4B-471DCB33A8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28600"/>
            <a:ext cx="1143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D8D"/>
          </a:solidFill>
          <a:ln xmlns:a="http://schemas.openxmlformats.org/drawingml/2006/main" w="0">
            <a:solidFill>
              <a:srgbClr val="123D8D"/>
            </a:solidFill>
            <a:prstDash val="solid"/>
          </a:ln>
        </p:spPr>
      </p:sp>
      <p:sp>
        <p:nvSpPr>
          <p:cNvPr id="16" name="slide-title">
            <a:extLst xmlns:a="http://schemas.openxmlformats.org/drawingml/2006/main">
              <a:ext uri="{FF2B5EF4-FFF2-40B4-BE49-F238E27FC236}">
                <a16:creationId xmlns:a16="http://schemas.microsoft.com/office/drawing/2014/main" id="{3FDB6B0A-07B1-4E33-A76D-CE3504ADFE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161925"/>
            <a:ext cx="83343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1667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0B2F6B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1">
                <a:solidFill>
                  <a:srgbClr val="0B2F6B"/>
                </a:solidFill>
                <a:latin typeface="微软雅黑"/>
                <a:ea typeface="微软雅黑"/>
                <a:cs typeface="微软雅黑"/>
              </a:rPr>
              <a:t>2.3  11 篇论文合起来后的问题地图</a:t>
            </a:r>
          </a:p>
        </p:txBody>
      </p:sp>
      <p:sp>
        <p:nvSpPr>
          <p:cNvPr id="17" name="title-rule">
            <a:extLst xmlns:a="http://schemas.openxmlformats.org/drawingml/2006/main">
              <a:ext uri="{FF2B5EF4-FFF2-40B4-BE49-F238E27FC236}">
                <a16:creationId xmlns:a16="http://schemas.microsoft.com/office/drawing/2014/main" id="{3D4EB8DC-4A9C-4F22-A5BB-AA5B963A20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590550"/>
            <a:ext cx="87153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D8D"/>
          </a:solidFill>
          <a:ln xmlns:a="http://schemas.openxmlformats.org/drawingml/2006/main" w="0">
            <a:solidFill>
              <a:srgbClr val="123D8D"/>
            </a:solidFill>
            <a:prstDash val="solid"/>
          </a:ln>
        </p:spPr>
      </p:sp>
      <p:pic>
        <p:nvPicPr>
          <p:cNvPr id="103" name="图片 7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ec61d8d6e7347a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220791" y="66675"/>
            <a:ext cx="1608794" cy="514350"/>
          </a:xfrm>
          <a:prstGeom xmlns:a="http://schemas.openxmlformats.org/drawingml/2006/main" prst="rect">
            <a:avLst/>
          </a:prstGeom>
        </p:spPr>
      </p:pic>
      <p:sp>
        <p:nvSpPr>
          <p:cNvPr id="19" name="page-number">
            <a:extLst xmlns:a="http://schemas.openxmlformats.org/drawingml/2006/main">
              <a:ext uri="{FF2B5EF4-FFF2-40B4-BE49-F238E27FC236}">
                <a16:creationId xmlns:a16="http://schemas.microsoft.com/office/drawing/2014/main" id="{F2193C27-C303-41BE-AEBA-503EF92677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2375" y="6486525"/>
            <a:ext cx="47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7A8894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7A8894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sp>
        <p:nvSpPr>
          <p:cNvPr id="20" name="citation-footer">
            <a:extLst xmlns:a="http://schemas.openxmlformats.org/drawingml/2006/main">
              <a:ext uri="{FF2B5EF4-FFF2-40B4-BE49-F238E27FC236}">
                <a16:creationId xmlns:a16="http://schemas.microsoft.com/office/drawing/2014/main" id="{BACF2A39-AAC0-44A4-A1A9-A28B113A92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6457950"/>
            <a:ext cx="495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0834"/>
          </a:bodyPr>
          <a:lstStyle xmlns:a="http://schemas.openxmlformats.org/drawingml/2006/main"/>
          <a:p xmlns:a="http://schemas.openxmlformats.org/drawingml/2006/main">
            <a:pPr algn="l">
              <a:buNone/>
              <a:defRPr sz="863" b="0">
                <a:solidFill>
                  <a:srgbClr val="7A8894"/>
                </a:solidFill>
                <a:latin typeface="微软雅黑"/>
                <a:ea typeface="微软雅黑"/>
                <a:cs typeface="微软雅黑"/>
              </a:defRPr>
            </a:pPr>
            <a:r>
              <a:rPr sz="863" b="0">
                <a:solidFill>
                  <a:srgbClr val="7A8894"/>
                </a:solidFill>
                <a:latin typeface="微软雅黑"/>
                <a:ea typeface="微软雅黑"/>
                <a:cs typeface="微软雅黑"/>
              </a:rPr>
              <a:t>文献调研 · 从论文判断到当前路线</a:t>
            </a:r>
          </a:p>
        </p:txBody>
      </p:sp>
      <p:sp>
        <p:nvSpPr>
          <p:cNvPr id="59" name="map-node-0">
            <a:extLst xmlns:a="http://schemas.openxmlformats.org/drawingml/2006/main">
              <a:ext uri="{FF2B5EF4-FFF2-40B4-BE49-F238E27FC236}">
                <a16:creationId xmlns:a16="http://schemas.microsoft.com/office/drawing/2014/main" id="{4F5C66B7-F725-413F-8B57-40F29D7FEE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1571625"/>
            <a:ext cx="1809750" cy="2000250"/>
          </a:xfrm>
          <a:prstGeom xmlns:a="http://schemas.openxmlformats.org/drawingml/2006/main" prst="roundRect">
            <a:avLst>
              <a:gd name="adj" fmla="val 3158"/>
            </a:avLst>
          </a:prstGeom>
          <a:solidFill xmlns:a="http://schemas.openxmlformats.org/drawingml/2006/main">
            <a:srgbClr val="EEF7FD"/>
          </a:solidFill>
          <a:ln xmlns:a="http://schemas.openxmlformats.org/drawingml/2006/main" w="11906">
            <a:solidFill>
              <a:srgbClr val="123D8D"/>
            </a:solidFill>
            <a:prstDash val="solid"/>
          </a:ln>
        </p:spPr>
      </p:sp>
      <p:sp>
        <p:nvSpPr>
          <p:cNvPr id="60" name="map-no-0">
            <a:extLst xmlns:a="http://schemas.openxmlformats.org/drawingml/2006/main">
              <a:ext uri="{FF2B5EF4-FFF2-40B4-BE49-F238E27FC236}">
                <a16:creationId xmlns:a16="http://schemas.microsoft.com/office/drawing/2014/main" id="{BB182850-8A3F-495D-BA7E-0BC344838F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1733550"/>
            <a:ext cx="514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4722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23D8D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23D8D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61" name="map-title-0">
            <a:extLst xmlns:a="http://schemas.openxmlformats.org/drawingml/2006/main">
              <a:ext uri="{FF2B5EF4-FFF2-40B4-BE49-F238E27FC236}">
                <a16:creationId xmlns:a16="http://schemas.microsoft.com/office/drawing/2014/main" id="{69D3AD07-0AF7-464E-A2D0-C0D855C80D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5425" y="2219325"/>
            <a:ext cx="15811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2F6B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0B2F6B"/>
                </a:solidFill>
                <a:latin typeface="微软雅黑"/>
                <a:ea typeface="微软雅黑"/>
                <a:cs typeface="微软雅黑"/>
              </a:rPr>
              <a:t>网络资源与 DRL</a:t>
            </a:r>
          </a:p>
        </p:txBody>
      </p:sp>
      <p:sp>
        <p:nvSpPr>
          <p:cNvPr id="62" name="map-desc-0">
            <a:extLst xmlns:a="http://schemas.openxmlformats.org/drawingml/2006/main">
              <a:ext uri="{FF2B5EF4-FFF2-40B4-BE49-F238E27FC236}">
                <a16:creationId xmlns:a16="http://schemas.microsoft.com/office/drawing/2014/main" id="{5B9AA904-447B-4078-9C0C-FB10B69635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857500"/>
            <a:ext cx="1524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63">
                <a:solidFill>
                  <a:srgbClr val="1F2937"/>
                </a:solidFill>
                <a:latin typeface="微软雅黑"/>
                <a:ea typeface="微软雅黑"/>
                <a:cs typeface="微软雅黑"/>
              </a:defRPr>
            </a:pPr>
            <a:r>
              <a:rPr sz="1163">
                <a:solidFill>
                  <a:srgbClr val="1F2937"/>
                </a:solidFill>
                <a:latin typeface="微软雅黑"/>
                <a:ea typeface="微软雅黑"/>
                <a:cs typeface="微软雅黑"/>
              </a:rPr>
              <a:t>接入、缓存、调度</a:t>
            </a:r>
          </a:p>
          <a:p xmlns:a="http://schemas.openxmlformats.org/drawingml/2006/main">
            <a:pPr algn="ctr">
              <a:defRPr sz="1163">
                <a:solidFill>
                  <a:srgbClr val="1F2937"/>
                </a:solidFill>
                <a:latin typeface="微软雅黑"/>
                <a:ea typeface="微软雅黑"/>
                <a:cs typeface="微软雅黑"/>
              </a:defRPr>
            </a:pPr>
            <a:r>
              <a:rPr sz="1163">
                <a:solidFill>
                  <a:srgbClr val="1F2937"/>
                </a:solidFill>
                <a:latin typeface="微软雅黑"/>
                <a:ea typeface="微软雅黑"/>
                <a:cs typeface="微软雅黑"/>
              </a:rPr>
              <a:t>动态决策空间</a:t>
            </a:r>
          </a:p>
        </p:txBody>
      </p:sp>
      <p:sp>
        <p:nvSpPr>
          <p:cNvPr id="63" name="map-arrow-0">
            <a:extLst xmlns:a="http://schemas.openxmlformats.org/drawingml/2006/main">
              <a:ext uri="{FF2B5EF4-FFF2-40B4-BE49-F238E27FC236}">
                <a16:creationId xmlns:a16="http://schemas.microsoft.com/office/drawing/2014/main" id="{04B22A5A-1ADF-4A07-B106-EB88128CE5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28975" y="2381250"/>
            <a:ext cx="22860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B4F9A"/>
          </a:solidFill>
          <a:ln xmlns:a="http://schemas.openxmlformats.org/drawingml/2006/main" w="0">
            <a:solidFill>
              <a:srgbClr val="1B4F9A"/>
            </a:solidFill>
          </a:ln>
        </p:spPr>
      </p:sp>
      <p:sp>
        <p:nvSpPr>
          <p:cNvPr id="64" name="map-node-1">
            <a:extLst xmlns:a="http://schemas.openxmlformats.org/drawingml/2006/main">
              <a:ext uri="{FF2B5EF4-FFF2-40B4-BE49-F238E27FC236}">
                <a16:creationId xmlns:a16="http://schemas.microsoft.com/office/drawing/2014/main" id="{6AEE5D70-9696-4B4A-92A8-3DC1EAA9C6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1571625"/>
            <a:ext cx="1809750" cy="2000250"/>
          </a:xfrm>
          <a:prstGeom xmlns:a="http://schemas.openxmlformats.org/drawingml/2006/main" prst="roundRect">
            <a:avLst>
              <a:gd name="adj" fmla="val 3158"/>
            </a:avLst>
          </a:prstGeom>
          <a:solidFill xmlns:a="http://schemas.openxmlformats.org/drawingml/2006/main">
            <a:srgbClr val="E7F4EB"/>
          </a:solidFill>
          <a:ln xmlns:a="http://schemas.openxmlformats.org/drawingml/2006/main" w="11906">
            <a:solidFill>
              <a:srgbClr val="4C8A5A"/>
            </a:solidFill>
            <a:prstDash val="solid"/>
          </a:ln>
        </p:spPr>
      </p:sp>
      <p:sp>
        <p:nvSpPr>
          <p:cNvPr id="65" name="map-no-1">
            <a:extLst xmlns:a="http://schemas.openxmlformats.org/drawingml/2006/main">
              <a:ext uri="{FF2B5EF4-FFF2-40B4-BE49-F238E27FC236}">
                <a16:creationId xmlns:a16="http://schemas.microsoft.com/office/drawing/2014/main" id="{F783515D-83C8-4A01-9C6B-73BAF7768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1733550"/>
            <a:ext cx="514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4722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4C8A5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4C8A5A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66" name="map-title-1">
            <a:extLst xmlns:a="http://schemas.openxmlformats.org/drawingml/2006/main">
              <a:ext uri="{FF2B5EF4-FFF2-40B4-BE49-F238E27FC236}">
                <a16:creationId xmlns:a16="http://schemas.microsoft.com/office/drawing/2014/main" id="{D8FE4B16-1B5F-4670-963B-4DF61BD77A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0925" y="2219325"/>
            <a:ext cx="15811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2F6B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0B2F6B"/>
                </a:solidFill>
                <a:latin typeface="微软雅黑"/>
                <a:ea typeface="微软雅黑"/>
                <a:cs typeface="微软雅黑"/>
              </a:rPr>
              <a:t>机器人—网络协同</a:t>
            </a:r>
          </a:p>
        </p:txBody>
      </p:sp>
      <p:sp>
        <p:nvSpPr>
          <p:cNvPr id="67" name="map-desc-1">
            <a:extLst xmlns:a="http://schemas.openxmlformats.org/drawingml/2006/main">
              <a:ext uri="{FF2B5EF4-FFF2-40B4-BE49-F238E27FC236}">
                <a16:creationId xmlns:a16="http://schemas.microsoft.com/office/drawing/2014/main" id="{E17E3017-30DB-42E9-A489-B5EC42A480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2857500"/>
            <a:ext cx="1524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63">
                <a:solidFill>
                  <a:srgbClr val="1F2937"/>
                </a:solidFill>
                <a:latin typeface="微软雅黑"/>
                <a:ea typeface="微软雅黑"/>
                <a:cs typeface="微软雅黑"/>
              </a:defRPr>
            </a:pPr>
            <a:r>
              <a:rPr sz="1163">
                <a:solidFill>
                  <a:srgbClr val="1F2937"/>
                </a:solidFill>
                <a:latin typeface="微软雅黑"/>
                <a:ea typeface="微软雅黑"/>
                <a:cs typeface="微软雅黑"/>
              </a:rPr>
              <a:t>通信与运动/感知</a:t>
            </a:r>
          </a:p>
          <a:p xmlns:a="http://schemas.openxmlformats.org/drawingml/2006/main">
            <a:pPr algn="ctr">
              <a:defRPr sz="1163">
                <a:solidFill>
                  <a:srgbClr val="1F2937"/>
                </a:solidFill>
                <a:latin typeface="微软雅黑"/>
                <a:ea typeface="微软雅黑"/>
                <a:cs typeface="微软雅黑"/>
              </a:defRPr>
            </a:pPr>
            <a:r>
              <a:rPr sz="1163">
                <a:solidFill>
                  <a:srgbClr val="1F2937"/>
                </a:solidFill>
                <a:latin typeface="微软雅黑"/>
                <a:ea typeface="微软雅黑"/>
                <a:cs typeface="微软雅黑"/>
              </a:rPr>
              <a:t>共同设计</a:t>
            </a:r>
          </a:p>
        </p:txBody>
      </p:sp>
      <p:sp>
        <p:nvSpPr>
          <p:cNvPr id="68" name="map-arrow-1">
            <a:extLst xmlns:a="http://schemas.openxmlformats.org/drawingml/2006/main">
              <a:ext uri="{FF2B5EF4-FFF2-40B4-BE49-F238E27FC236}">
                <a16:creationId xmlns:a16="http://schemas.microsoft.com/office/drawing/2014/main" id="{6FC7A2B5-EE07-4D94-9990-E64D1B9B7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24475" y="2381250"/>
            <a:ext cx="22860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B4F9A"/>
          </a:solidFill>
          <a:ln xmlns:a="http://schemas.openxmlformats.org/drawingml/2006/main" w="0">
            <a:solidFill>
              <a:srgbClr val="1B4F9A"/>
            </a:solidFill>
          </a:ln>
        </p:spPr>
      </p:sp>
      <p:sp>
        <p:nvSpPr>
          <p:cNvPr id="69" name="map-node-2">
            <a:extLst xmlns:a="http://schemas.openxmlformats.org/drawingml/2006/main">
              <a:ext uri="{FF2B5EF4-FFF2-40B4-BE49-F238E27FC236}">
                <a16:creationId xmlns:a16="http://schemas.microsoft.com/office/drawing/2014/main" id="{3E641E36-61C2-4D13-ADE1-4973ADC14F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25" y="1571625"/>
            <a:ext cx="1809750" cy="2000250"/>
          </a:xfrm>
          <a:prstGeom xmlns:a="http://schemas.openxmlformats.org/drawingml/2006/main" prst="roundRect">
            <a:avLst>
              <a:gd name="adj" fmla="val 3158"/>
            </a:avLst>
          </a:prstGeom>
          <a:solidFill xmlns:a="http://schemas.openxmlformats.org/drawingml/2006/main">
            <a:srgbClr val="FFF2E3"/>
          </a:solidFill>
          <a:ln xmlns:a="http://schemas.openxmlformats.org/drawingml/2006/main" w="11906">
            <a:solidFill>
              <a:srgbClr val="C97A2B"/>
            </a:solidFill>
            <a:prstDash val="solid"/>
          </a:ln>
        </p:spPr>
      </p:sp>
      <p:sp>
        <p:nvSpPr>
          <p:cNvPr id="70" name="map-no-2">
            <a:extLst xmlns:a="http://schemas.openxmlformats.org/drawingml/2006/main">
              <a:ext uri="{FF2B5EF4-FFF2-40B4-BE49-F238E27FC236}">
                <a16:creationId xmlns:a16="http://schemas.microsoft.com/office/drawing/2014/main" id="{716780C6-0BBC-4827-9F3F-B99F89883A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2625" y="1733550"/>
            <a:ext cx="514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4722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C97A2B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C97A2B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71" name="map-title-2">
            <a:extLst xmlns:a="http://schemas.openxmlformats.org/drawingml/2006/main">
              <a:ext uri="{FF2B5EF4-FFF2-40B4-BE49-F238E27FC236}">
                <a16:creationId xmlns:a16="http://schemas.microsoft.com/office/drawing/2014/main" id="{F686ED7F-63BC-4762-9045-8A28A87BA7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86425" y="2219325"/>
            <a:ext cx="15811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2F6B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0B2F6B"/>
                </a:solidFill>
                <a:latin typeface="微软雅黑"/>
                <a:ea typeface="微软雅黑"/>
                <a:cs typeface="微软雅黑"/>
              </a:rPr>
              <a:t>任务导向通信</a:t>
            </a:r>
          </a:p>
        </p:txBody>
      </p:sp>
      <p:sp>
        <p:nvSpPr>
          <p:cNvPr id="72" name="map-desc-2">
            <a:extLst xmlns:a="http://schemas.openxmlformats.org/drawingml/2006/main">
              <a:ext uri="{FF2B5EF4-FFF2-40B4-BE49-F238E27FC236}">
                <a16:creationId xmlns:a16="http://schemas.microsoft.com/office/drawing/2014/main" id="{FB00AC7D-9C81-486F-88C4-8822E2AE7A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2857500"/>
            <a:ext cx="1524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63">
                <a:solidFill>
                  <a:srgbClr val="1F2937"/>
                </a:solidFill>
                <a:latin typeface="微软雅黑"/>
                <a:ea typeface="微软雅黑"/>
                <a:cs typeface="微软雅黑"/>
              </a:defRPr>
            </a:pPr>
            <a:r>
              <a:rPr sz="1163">
                <a:solidFill>
                  <a:srgbClr val="1F2937"/>
                </a:solidFill>
                <a:latin typeface="微软雅黑"/>
                <a:ea typeface="微软雅黑"/>
                <a:cs typeface="微软雅黑"/>
              </a:rPr>
              <a:t>what / when / why</a:t>
            </a:r>
          </a:p>
          <a:p xmlns:a="http://schemas.openxmlformats.org/drawingml/2006/main">
            <a:pPr algn="ctr">
              <a:defRPr sz="1163">
                <a:solidFill>
                  <a:srgbClr val="1F2937"/>
                </a:solidFill>
                <a:latin typeface="微软雅黑"/>
                <a:ea typeface="微软雅黑"/>
                <a:cs typeface="微软雅黑"/>
              </a:defRPr>
            </a:pPr>
            <a:r>
              <a:rPr sz="1163">
                <a:solidFill>
                  <a:srgbClr val="1F2937"/>
                </a:solidFill>
                <a:latin typeface="微软雅黑"/>
                <a:ea typeface="微软雅黑"/>
                <a:cs typeface="微软雅黑"/>
              </a:rPr>
              <a:t>VoI / AoI</a:t>
            </a:r>
          </a:p>
        </p:txBody>
      </p:sp>
      <p:sp>
        <p:nvSpPr>
          <p:cNvPr id="73" name="map-arrow-2">
            <a:extLst xmlns:a="http://schemas.openxmlformats.org/drawingml/2006/main">
              <a:ext uri="{FF2B5EF4-FFF2-40B4-BE49-F238E27FC236}">
                <a16:creationId xmlns:a16="http://schemas.microsoft.com/office/drawing/2014/main" id="{340A29FA-F1DC-44DB-99ED-C23E0D0469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9975" y="2381250"/>
            <a:ext cx="22860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B4F9A"/>
          </a:solidFill>
          <a:ln xmlns:a="http://schemas.openxmlformats.org/drawingml/2006/main" w="0">
            <a:solidFill>
              <a:srgbClr val="1B4F9A"/>
            </a:solidFill>
          </a:ln>
        </p:spPr>
      </p:sp>
      <p:sp>
        <p:nvSpPr>
          <p:cNvPr id="74" name="map-node-3">
            <a:extLst xmlns:a="http://schemas.openxmlformats.org/drawingml/2006/main">
              <a:ext uri="{FF2B5EF4-FFF2-40B4-BE49-F238E27FC236}">
                <a16:creationId xmlns:a16="http://schemas.microsoft.com/office/drawing/2014/main" id="{08E4FB30-9AD2-42FB-A3AF-547BD4BD2F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1571625"/>
            <a:ext cx="1809750" cy="2000250"/>
          </a:xfrm>
          <a:prstGeom xmlns:a="http://schemas.openxmlformats.org/drawingml/2006/main" prst="roundRect">
            <a:avLst>
              <a:gd name="adj" fmla="val 3158"/>
            </a:avLst>
          </a:prstGeom>
          <a:solidFill xmlns:a="http://schemas.openxmlformats.org/drawingml/2006/main">
            <a:srgbClr val="FBE9EB"/>
          </a:solidFill>
          <a:ln xmlns:a="http://schemas.openxmlformats.org/drawingml/2006/main" w="11906">
            <a:solidFill>
              <a:srgbClr val="C7333E"/>
            </a:solidFill>
            <a:prstDash val="solid"/>
          </a:ln>
        </p:spPr>
      </p:sp>
      <p:sp>
        <p:nvSpPr>
          <p:cNvPr id="75" name="map-no-3">
            <a:extLst xmlns:a="http://schemas.openxmlformats.org/drawingml/2006/main">
              <a:ext uri="{FF2B5EF4-FFF2-40B4-BE49-F238E27FC236}">
                <a16:creationId xmlns:a16="http://schemas.microsoft.com/office/drawing/2014/main" id="{7D4FF323-E3C1-430A-BCB0-2F5B46A20F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1733550"/>
            <a:ext cx="514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4722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C7333E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C7333E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76" name="map-title-3">
            <a:extLst xmlns:a="http://schemas.openxmlformats.org/drawingml/2006/main">
              <a:ext uri="{FF2B5EF4-FFF2-40B4-BE49-F238E27FC236}">
                <a16:creationId xmlns:a16="http://schemas.microsoft.com/office/drawing/2014/main" id="{ED13CFB6-834C-4EDD-B112-7804172FC2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81925" y="2219325"/>
            <a:ext cx="15811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2F6B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0B2F6B"/>
                </a:solidFill>
                <a:latin typeface="微软雅黑"/>
                <a:ea typeface="微软雅黑"/>
                <a:cs typeface="微软雅黑"/>
              </a:rPr>
              <a:t>多机器人任务</a:t>
            </a:r>
          </a:p>
        </p:txBody>
      </p:sp>
      <p:sp>
        <p:nvSpPr>
          <p:cNvPr id="77" name="map-desc-3">
            <a:extLst xmlns:a="http://schemas.openxmlformats.org/drawingml/2006/main">
              <a:ext uri="{FF2B5EF4-FFF2-40B4-BE49-F238E27FC236}">
                <a16:creationId xmlns:a16="http://schemas.microsoft.com/office/drawing/2014/main" id="{2CC5DFC6-375D-4936-A3EF-7CEC6EF808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857500"/>
            <a:ext cx="1524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63">
                <a:solidFill>
                  <a:srgbClr val="1F2937"/>
                </a:solidFill>
                <a:latin typeface="微软雅黑"/>
                <a:ea typeface="微软雅黑"/>
                <a:cs typeface="微软雅黑"/>
              </a:defRPr>
            </a:pPr>
            <a:r>
              <a:rPr sz="1163">
                <a:solidFill>
                  <a:srgbClr val="1F2937"/>
                </a:solidFill>
                <a:latin typeface="微软雅黑"/>
                <a:ea typeface="微软雅黑"/>
                <a:cs typeface="微软雅黑"/>
              </a:rPr>
              <a:t>建图、frontier</a:t>
            </a:r>
          </a:p>
          <a:p xmlns:a="http://schemas.openxmlformats.org/drawingml/2006/main">
            <a:pPr algn="ctr">
              <a:defRPr sz="1163">
                <a:solidFill>
                  <a:srgbClr val="1F2937"/>
                </a:solidFill>
                <a:latin typeface="微软雅黑"/>
                <a:ea typeface="微软雅黑"/>
                <a:cs typeface="微软雅黑"/>
              </a:defRPr>
            </a:pPr>
            <a:r>
              <a:rPr sz="1163">
                <a:solidFill>
                  <a:srgbClr val="1F2937"/>
                </a:solidFill>
                <a:latin typeface="微软雅黑"/>
                <a:ea typeface="微软雅黑"/>
                <a:cs typeface="微软雅黑"/>
              </a:rPr>
              <a:t>分配、导航</a:t>
            </a:r>
          </a:p>
        </p:txBody>
      </p:sp>
      <p:sp>
        <p:nvSpPr>
          <p:cNvPr id="78" name="map-arrow-3">
            <a:extLst xmlns:a="http://schemas.openxmlformats.org/drawingml/2006/main">
              <a:ext uri="{FF2B5EF4-FFF2-40B4-BE49-F238E27FC236}">
                <a16:creationId xmlns:a16="http://schemas.microsoft.com/office/drawing/2014/main" id="{B86DF105-22E7-401A-9DA1-6286E1A25A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15475" y="2381250"/>
            <a:ext cx="22860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B4F9A"/>
          </a:solidFill>
          <a:ln xmlns:a="http://schemas.openxmlformats.org/drawingml/2006/main" w="0">
            <a:solidFill>
              <a:srgbClr val="1B4F9A"/>
            </a:solidFill>
          </a:ln>
        </p:spPr>
      </p:sp>
      <p:sp>
        <p:nvSpPr>
          <p:cNvPr id="79" name="map-node-4">
            <a:extLst xmlns:a="http://schemas.openxmlformats.org/drawingml/2006/main">
              <a:ext uri="{FF2B5EF4-FFF2-40B4-BE49-F238E27FC236}">
                <a16:creationId xmlns:a16="http://schemas.microsoft.com/office/drawing/2014/main" id="{833AB705-F97B-4F5E-83FC-AD0DD916B4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3125" y="1571625"/>
            <a:ext cx="1714500" cy="2000250"/>
          </a:xfrm>
          <a:prstGeom xmlns:a="http://schemas.openxmlformats.org/drawingml/2006/main" prst="roundRect">
            <a:avLst>
              <a:gd name="adj" fmla="val 3333"/>
            </a:avLst>
          </a:prstGeom>
          <a:solidFill xmlns:a="http://schemas.openxmlformats.org/drawingml/2006/main">
            <a:srgbClr val="123D8D"/>
          </a:solidFill>
          <a:ln xmlns:a="http://schemas.openxmlformats.org/drawingml/2006/main" w="11906">
            <a:solidFill>
              <a:srgbClr val="FFFFFF"/>
            </a:solidFill>
            <a:prstDash val="solid"/>
          </a:ln>
        </p:spPr>
      </p:sp>
      <p:sp>
        <p:nvSpPr>
          <p:cNvPr id="80" name="map-no-4">
            <a:extLst xmlns:a="http://schemas.openxmlformats.org/drawingml/2006/main">
              <a:ext uri="{FF2B5EF4-FFF2-40B4-BE49-F238E27FC236}">
                <a16:creationId xmlns:a16="http://schemas.microsoft.com/office/drawing/2014/main" id="{EEF656B5-EF16-4E98-BD51-E99C0E2B30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3625" y="1733550"/>
            <a:ext cx="514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4722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81" name="map-title-4">
            <a:extLst xmlns:a="http://schemas.openxmlformats.org/drawingml/2006/main">
              <a:ext uri="{FF2B5EF4-FFF2-40B4-BE49-F238E27FC236}">
                <a16:creationId xmlns:a16="http://schemas.microsoft.com/office/drawing/2014/main" id="{7E2CCDAC-5A11-4BCC-B143-DE18D2544A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77425" y="2219325"/>
            <a:ext cx="14859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8148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对当前路线的帮助</a:t>
            </a:r>
          </a:p>
        </p:txBody>
      </p:sp>
      <p:sp>
        <p:nvSpPr>
          <p:cNvPr id="82" name="map-desc-4">
            <a:extLst xmlns:a="http://schemas.openxmlformats.org/drawingml/2006/main">
              <a:ext uri="{FF2B5EF4-FFF2-40B4-BE49-F238E27FC236}">
                <a16:creationId xmlns:a16="http://schemas.microsoft.com/office/drawing/2014/main" id="{B2E903BB-46CB-4E49-8CE3-858CEA01B5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2857500"/>
            <a:ext cx="1428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63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163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先固定任务栈</a:t>
            </a:r>
          </a:p>
          <a:p xmlns:a="http://schemas.openxmlformats.org/drawingml/2006/main">
            <a:pPr algn="ctr">
              <a:defRPr sz="1163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163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再审计消息链</a:t>
            </a:r>
          </a:p>
        </p:txBody>
      </p:sp>
      <p:sp>
        <p:nvSpPr>
          <p:cNvPr id="83" name="map-insight">
            <a:extLst xmlns:a="http://schemas.openxmlformats.org/drawingml/2006/main">
              <a:ext uri="{FF2B5EF4-FFF2-40B4-BE49-F238E27FC236}">
                <a16:creationId xmlns:a16="http://schemas.microsoft.com/office/drawing/2014/main" id="{EBD83A76-B0E1-47D8-AAED-0AB48D4837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2125" y="4191000"/>
            <a:ext cx="9525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F2937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1">
                <a:solidFill>
                  <a:srgbClr val="1F2937"/>
                </a:solidFill>
                <a:latin typeface="微软雅黑"/>
                <a:ea typeface="微软雅黑"/>
                <a:cs typeface="微软雅黑"/>
              </a:rPr>
              <a:t>文献并没有要求第一版同时学习运动、任务分配和 PHY/MAC；它们更支持先建立一条可审计的任务—消息—网络因果链。</a:t>
            </a:r>
          </a:p>
        </p:txBody>
      </p:sp>
      <p:sp>
        <p:nvSpPr>
          <p:cNvPr id="84" name="map-takeaway">
            <a:extLst xmlns:a="http://schemas.openxmlformats.org/drawingml/2006/main">
              <a:ext uri="{FF2B5EF4-FFF2-40B4-BE49-F238E27FC236}">
                <a16:creationId xmlns:a16="http://schemas.microsoft.com/office/drawing/2014/main" id="{CE3E9A8B-D640-48D5-A4BA-1B554EBDF0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9375" y="5286375"/>
            <a:ext cx="6953250" cy="495300"/>
          </a:xfrm>
          <a:prstGeom xmlns:a="http://schemas.openxmlformats.org/drawingml/2006/main" prst="roundRect">
            <a:avLst>
              <a:gd name="adj" fmla="val 5769"/>
            </a:avLst>
          </a:prstGeom>
          <a:solidFill xmlns:a="http://schemas.openxmlformats.org/drawingml/2006/main">
            <a:srgbClr val="123D8D"/>
          </a:solidFill>
          <a:ln xmlns:a="http://schemas.openxmlformats.org/drawingml/2006/main" w="11906">
            <a:solidFill>
              <a:srgbClr val="123D8D"/>
            </a:solidFill>
            <a:prstDash val="solid"/>
          </a:ln>
        </p:spPr>
      </p:sp>
      <p:sp>
        <p:nvSpPr>
          <p:cNvPr id="85" name="map-takeaway-text">
            <a:extLst xmlns:a="http://schemas.openxmlformats.org/drawingml/2006/main">
              <a:ext uri="{FF2B5EF4-FFF2-40B4-BE49-F238E27FC236}">
                <a16:creationId xmlns:a16="http://schemas.microsoft.com/office/drawing/2014/main" id="{4CC5A865-82CC-412D-AA15-92372D0F90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90825" y="5410200"/>
            <a:ext cx="66103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因此先把“消息准入 + 真实交付 + 任务结果”做成可验证问题。</a:t>
            </a:r>
          </a:p>
        </p:txBody>
      </p:sp>
    </p:spTree>
    <p:extLst>
      <p:ext uri="{BB962C8B-B14F-4D97-AF65-F5344CB8AC3E}">
        <p14:creationId xmlns:p14="http://schemas.microsoft.com/office/powerpoint/2010/main" val="1406095824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7" name="left-nav-bg">
            <a:extLst xmlns:a="http://schemas.openxmlformats.org/drawingml/2006/main">
              <a:ext uri="{FF2B5EF4-FFF2-40B4-BE49-F238E27FC236}">
                <a16:creationId xmlns:a16="http://schemas.microsoft.com/office/drawing/2014/main" id="{84510785-B90E-4A1C-A417-71C9B323F3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906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D8D"/>
          </a:solidFill>
          <a:ln xmlns:a="http://schemas.openxmlformats.org/drawingml/2006/main" w="0">
            <a:solidFill>
              <a:srgbClr val="123D8D"/>
            </a:solidFill>
            <a:prstDash val="solid"/>
          </a:ln>
        </p:spPr>
      </p:sp>
      <p:sp>
        <p:nvSpPr>
          <p:cNvPr id="2" name="nav-label">
            <a:extLst xmlns:a="http://schemas.openxmlformats.org/drawingml/2006/main">
              <a:ext uri="{FF2B5EF4-FFF2-40B4-BE49-F238E27FC236}">
                <a16:creationId xmlns:a16="http://schemas.microsoft.com/office/drawing/2014/main" id="{EB5AC645-3E14-4BB9-9336-F6987323FC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" y="266700"/>
            <a:ext cx="933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8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近期工作分享</a:t>
            </a:r>
          </a:p>
        </p:txBody>
      </p:sp>
      <p:sp>
        <p:nvSpPr>
          <p:cNvPr id="3" name="nav-0">
            <a:extLst xmlns:a="http://schemas.openxmlformats.org/drawingml/2006/main">
              <a:ext uri="{FF2B5EF4-FFF2-40B4-BE49-F238E27FC236}">
                <a16:creationId xmlns:a16="http://schemas.microsoft.com/office/drawing/2014/main" id="{1ADB5CF6-0E3B-4DD3-8E3C-C960ED671B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" y="2095500"/>
            <a:ext cx="8763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4F9A"/>
          </a:solidFill>
          <a:ln xmlns:a="http://schemas.openxmlformats.org/drawingml/2006/main" w="9525">
            <a:solidFill>
              <a:srgbClr val="3169AA"/>
            </a:solidFill>
            <a:prstDash val="solid"/>
          </a:ln>
        </p:spPr>
      </p:sp>
      <p:sp>
        <p:nvSpPr>
          <p:cNvPr id="4" name="nav-text-0">
            <a:extLst xmlns:a="http://schemas.openxmlformats.org/drawingml/2006/main">
              <a:ext uri="{FF2B5EF4-FFF2-40B4-BE49-F238E27FC236}">
                <a16:creationId xmlns:a16="http://schemas.microsoft.com/office/drawing/2014/main" id="{B295AC4A-1126-47D2-82EC-976CD22229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" y="2181225"/>
            <a:ext cx="8191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38" b="0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938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问题提出</a:t>
            </a:r>
          </a:p>
        </p:txBody>
      </p:sp>
      <p:sp>
        <p:nvSpPr>
          <p:cNvPr id="5" name="nav-1">
            <a:extLst xmlns:a="http://schemas.openxmlformats.org/drawingml/2006/main">
              <a:ext uri="{FF2B5EF4-FFF2-40B4-BE49-F238E27FC236}">
                <a16:creationId xmlns:a16="http://schemas.microsoft.com/office/drawing/2014/main" id="{8E331A54-2FCF-471A-9971-FAC147AFF4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" y="2562225"/>
            <a:ext cx="8763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4F9A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6" name="nav-text-1">
            <a:extLst xmlns:a="http://schemas.openxmlformats.org/drawingml/2006/main">
              <a:ext uri="{FF2B5EF4-FFF2-40B4-BE49-F238E27FC236}">
                <a16:creationId xmlns:a16="http://schemas.microsoft.com/office/drawing/2014/main" id="{9B3B3193-1E22-41DE-877D-14EE114161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" y="2647950"/>
            <a:ext cx="8191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38" b="0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938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文献调研</a:t>
            </a:r>
          </a:p>
        </p:txBody>
      </p:sp>
      <p:sp>
        <p:nvSpPr>
          <p:cNvPr id="7" name="nav-2">
            <a:extLst xmlns:a="http://schemas.openxmlformats.org/drawingml/2006/main">
              <a:ext uri="{FF2B5EF4-FFF2-40B4-BE49-F238E27FC236}">
                <a16:creationId xmlns:a16="http://schemas.microsoft.com/office/drawing/2014/main" id="{59CF9F56-21E6-479A-88DB-FDBF2A8AD4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" y="3028950"/>
            <a:ext cx="8763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7FD"/>
          </a:solidFill>
          <a:ln xmlns:a="http://schemas.openxmlformats.org/drawingml/2006/main" w="9525">
            <a:solidFill>
              <a:srgbClr val="3169AA"/>
            </a:solidFill>
            <a:prstDash val="solid"/>
          </a:ln>
        </p:spPr>
      </p:sp>
      <p:sp>
        <p:nvSpPr>
          <p:cNvPr id="8" name="nav-text-2">
            <a:extLst xmlns:a="http://schemas.openxmlformats.org/drawingml/2006/main">
              <a:ext uri="{FF2B5EF4-FFF2-40B4-BE49-F238E27FC236}">
                <a16:creationId xmlns:a16="http://schemas.microsoft.com/office/drawing/2014/main" id="{58777911-C081-4877-BF4E-CB9CE991EA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" y="3114675"/>
            <a:ext cx="8191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38" b="1">
                <a:solidFill>
                  <a:srgbClr val="123D8D"/>
                </a:solidFill>
                <a:latin typeface="微软雅黑"/>
                <a:ea typeface="微软雅黑"/>
                <a:cs typeface="微软雅黑"/>
              </a:defRPr>
            </a:pPr>
            <a:r>
              <a:rPr sz="938" b="1">
                <a:solidFill>
                  <a:srgbClr val="123D8D"/>
                </a:solidFill>
                <a:latin typeface="微软雅黑"/>
                <a:ea typeface="微软雅黑"/>
                <a:cs typeface="微软雅黑"/>
              </a:rPr>
              <a:t>方法与路线</a:t>
            </a:r>
          </a:p>
        </p:txBody>
      </p:sp>
      <p:sp>
        <p:nvSpPr>
          <p:cNvPr id="9" name="nav-3">
            <a:extLst xmlns:a="http://schemas.openxmlformats.org/drawingml/2006/main">
              <a:ext uri="{FF2B5EF4-FFF2-40B4-BE49-F238E27FC236}">
                <a16:creationId xmlns:a16="http://schemas.microsoft.com/office/drawing/2014/main" id="{45D7D8C1-4BB8-4D79-B1C8-29E3085B65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" y="3495675"/>
            <a:ext cx="8763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4F9A"/>
          </a:solidFill>
          <a:ln xmlns:a="http://schemas.openxmlformats.org/drawingml/2006/main" w="9525">
            <a:solidFill>
              <a:srgbClr val="3169AA"/>
            </a:solidFill>
            <a:prstDash val="solid"/>
          </a:ln>
        </p:spPr>
      </p:sp>
      <p:sp>
        <p:nvSpPr>
          <p:cNvPr id="10" name="nav-text-3">
            <a:extLst xmlns:a="http://schemas.openxmlformats.org/drawingml/2006/main">
              <a:ext uri="{FF2B5EF4-FFF2-40B4-BE49-F238E27FC236}">
                <a16:creationId xmlns:a16="http://schemas.microsoft.com/office/drawing/2014/main" id="{789023A8-D5E5-4C2C-BA0B-EBB2139335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" y="3581400"/>
            <a:ext cx="8191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38" b="0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938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已完成工作</a:t>
            </a:r>
          </a:p>
        </p:txBody>
      </p:sp>
      <p:sp>
        <p:nvSpPr>
          <p:cNvPr id="11" name="nav-4">
            <a:extLst xmlns:a="http://schemas.openxmlformats.org/drawingml/2006/main">
              <a:ext uri="{FF2B5EF4-FFF2-40B4-BE49-F238E27FC236}">
                <a16:creationId xmlns:a16="http://schemas.microsoft.com/office/drawing/2014/main" id="{B14E2B43-0715-4580-BB2B-4B22B09DF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" y="3962400"/>
            <a:ext cx="8763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4F9A"/>
          </a:solidFill>
          <a:ln xmlns:a="http://schemas.openxmlformats.org/drawingml/2006/main" w="9525">
            <a:solidFill>
              <a:srgbClr val="3169AA"/>
            </a:solidFill>
            <a:prstDash val="solid"/>
          </a:ln>
        </p:spPr>
      </p:sp>
      <p:sp>
        <p:nvSpPr>
          <p:cNvPr id="12" name="nav-text-4">
            <a:extLst xmlns:a="http://schemas.openxmlformats.org/drawingml/2006/main">
              <a:ext uri="{FF2B5EF4-FFF2-40B4-BE49-F238E27FC236}">
                <a16:creationId xmlns:a16="http://schemas.microsoft.com/office/drawing/2014/main" id="{D698FD60-36EC-48A2-90A4-E6E6752B9C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" y="4048125"/>
            <a:ext cx="8191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38" b="0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938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演示安排</a:t>
            </a:r>
          </a:p>
        </p:txBody>
      </p:sp>
      <p:sp>
        <p:nvSpPr>
          <p:cNvPr id="13" name="nav-5">
            <a:extLst xmlns:a="http://schemas.openxmlformats.org/drawingml/2006/main">
              <a:ext uri="{FF2B5EF4-FFF2-40B4-BE49-F238E27FC236}">
                <a16:creationId xmlns:a16="http://schemas.microsoft.com/office/drawing/2014/main" id="{B817B142-0B0E-43A4-8FDA-763199989F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" y="4429125"/>
            <a:ext cx="8763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4F9A"/>
          </a:solidFill>
          <a:ln xmlns:a="http://schemas.openxmlformats.org/drawingml/2006/main" w="9525">
            <a:solidFill>
              <a:srgbClr val="3169AA"/>
            </a:solidFill>
            <a:prstDash val="solid"/>
          </a:ln>
        </p:spPr>
      </p:sp>
      <p:sp>
        <p:nvSpPr>
          <p:cNvPr id="14" name="nav-text-5">
            <a:extLst xmlns:a="http://schemas.openxmlformats.org/drawingml/2006/main">
              <a:ext uri="{FF2B5EF4-FFF2-40B4-BE49-F238E27FC236}">
                <a16:creationId xmlns:a16="http://schemas.microsoft.com/office/drawing/2014/main" id="{11FEC3B5-A724-4E8E-84BE-BA39E894B0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" y="4514850"/>
            <a:ext cx="8191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38" b="0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938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反思讨论</a:t>
            </a:r>
          </a:p>
        </p:txBody>
      </p:sp>
      <p:sp>
        <p:nvSpPr>
          <p:cNvPr id="15" name="title-square">
            <a:extLst xmlns:a="http://schemas.openxmlformats.org/drawingml/2006/main">
              <a:ext uri="{FF2B5EF4-FFF2-40B4-BE49-F238E27FC236}">
                <a16:creationId xmlns:a16="http://schemas.microsoft.com/office/drawing/2014/main" id="{C788E6C4-7AD5-436A-9687-F29556CE5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28600"/>
            <a:ext cx="1143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D8D"/>
          </a:solidFill>
          <a:ln xmlns:a="http://schemas.openxmlformats.org/drawingml/2006/main" w="0">
            <a:solidFill>
              <a:srgbClr val="123D8D"/>
            </a:solidFill>
            <a:prstDash val="solid"/>
          </a:ln>
        </p:spPr>
      </p:sp>
      <p:sp>
        <p:nvSpPr>
          <p:cNvPr id="16" name="slide-title">
            <a:extLst xmlns:a="http://schemas.openxmlformats.org/drawingml/2006/main">
              <a:ext uri="{FF2B5EF4-FFF2-40B4-BE49-F238E27FC236}">
                <a16:creationId xmlns:a16="http://schemas.microsoft.com/office/drawing/2014/main" id="{4B5F4ABC-E6D5-4190-BCF3-977D95A808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161925"/>
            <a:ext cx="83343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1667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0B2F6B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1">
                <a:solidFill>
                  <a:srgbClr val="0B2F6B"/>
                </a:solidFill>
                <a:latin typeface="微软雅黑"/>
                <a:ea typeface="微软雅黑"/>
                <a:cs typeface="微软雅黑"/>
              </a:rPr>
              <a:t>3  把文献落到一个可验证的应用场景</a:t>
            </a:r>
          </a:p>
        </p:txBody>
      </p:sp>
      <p:sp>
        <p:nvSpPr>
          <p:cNvPr id="17" name="title-rule">
            <a:extLst xmlns:a="http://schemas.openxmlformats.org/drawingml/2006/main">
              <a:ext uri="{FF2B5EF4-FFF2-40B4-BE49-F238E27FC236}">
                <a16:creationId xmlns:a16="http://schemas.microsoft.com/office/drawing/2014/main" id="{83C1891E-BE43-4080-85FE-C88C58B276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590550"/>
            <a:ext cx="87153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D8D"/>
          </a:solidFill>
          <a:ln xmlns:a="http://schemas.openxmlformats.org/drawingml/2006/main" w="0">
            <a:solidFill>
              <a:srgbClr val="123D8D"/>
            </a:solidFill>
            <a:prstDash val="solid"/>
          </a:ln>
        </p:spPr>
      </p:sp>
      <p:pic>
        <p:nvPicPr>
          <p:cNvPr id="70" name="图片 5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da6868d47d943dc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220791" y="66675"/>
            <a:ext cx="1608794" cy="514350"/>
          </a:xfrm>
          <a:prstGeom xmlns:a="http://schemas.openxmlformats.org/drawingml/2006/main" prst="rect">
            <a:avLst/>
          </a:prstGeom>
        </p:spPr>
      </p:pic>
      <p:sp>
        <p:nvSpPr>
          <p:cNvPr id="19" name="page-number">
            <a:extLst xmlns:a="http://schemas.openxmlformats.org/drawingml/2006/main">
              <a:ext uri="{FF2B5EF4-FFF2-40B4-BE49-F238E27FC236}">
                <a16:creationId xmlns:a16="http://schemas.microsoft.com/office/drawing/2014/main" id="{E0EFE05B-8E40-4197-89FA-F6455505FA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2375" y="6486525"/>
            <a:ext cx="47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7A8894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7A8894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  <p:sp>
        <p:nvSpPr>
          <p:cNvPr id="20" name="citation-footer">
            <a:extLst xmlns:a="http://schemas.openxmlformats.org/drawingml/2006/main">
              <a:ext uri="{FF2B5EF4-FFF2-40B4-BE49-F238E27FC236}">
                <a16:creationId xmlns:a16="http://schemas.microsoft.com/office/drawing/2014/main" id="{452CE5CF-B921-4E8C-8ED5-C0F0AE0C67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6457950"/>
            <a:ext cx="495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0834"/>
          </a:bodyPr>
          <a:lstStyle xmlns:a="http://schemas.openxmlformats.org/drawingml/2006/main"/>
          <a:p xmlns:a="http://schemas.openxmlformats.org/drawingml/2006/main">
            <a:pPr algn="l">
              <a:buNone/>
              <a:defRPr sz="863" b="0">
                <a:solidFill>
                  <a:srgbClr val="7A8894"/>
                </a:solidFill>
                <a:latin typeface="微软雅黑"/>
                <a:ea typeface="微软雅黑"/>
                <a:cs typeface="微软雅黑"/>
              </a:defRPr>
            </a:pPr>
            <a:r>
              <a:rPr sz="863" b="0">
                <a:solidFill>
                  <a:srgbClr val="7A8894"/>
                </a:solidFill>
                <a:latin typeface="微软雅黑"/>
                <a:ea typeface="微软雅黑"/>
                <a:cs typeface="微软雅黑"/>
              </a:rPr>
              <a:t>方法与路线 · 场景先行，变量可控</a:t>
            </a:r>
          </a:p>
        </p:txBody>
      </p:sp>
      <p:sp>
        <p:nvSpPr>
          <p:cNvPr id="39" name="card-0">
            <a:extLst xmlns:a="http://schemas.openxmlformats.org/drawingml/2006/main">
              <a:ext uri="{FF2B5EF4-FFF2-40B4-BE49-F238E27FC236}">
                <a16:creationId xmlns:a16="http://schemas.microsoft.com/office/drawing/2014/main" id="{49070F4F-A9DE-4241-90E5-E17F833BFC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1238250"/>
            <a:ext cx="2286000" cy="3333750"/>
          </a:xfrm>
          <a:prstGeom xmlns:a="http://schemas.openxmlformats.org/drawingml/2006/main" prst="roundRect">
            <a:avLst>
              <a:gd name="adj" fmla="val 3333"/>
            </a:avLst>
          </a:prstGeom>
          <a:solidFill xmlns:a="http://schemas.openxmlformats.org/drawingml/2006/main">
            <a:srgbClr val="EEF7FD"/>
          </a:solidFill>
          <a:ln xmlns:a="http://schemas.openxmlformats.org/drawingml/2006/main" w="11906">
            <a:solidFill>
              <a:srgbClr val="1B4F9A"/>
            </a:solidFill>
            <a:prstDash val="solid"/>
          </a:ln>
        </p:spPr>
      </p:sp>
      <p:sp>
        <p:nvSpPr>
          <p:cNvPr id="40" name="card-no-0">
            <a:extLst xmlns:a="http://schemas.openxmlformats.org/drawingml/2006/main">
              <a:ext uri="{FF2B5EF4-FFF2-40B4-BE49-F238E27FC236}">
                <a16:creationId xmlns:a16="http://schemas.microsoft.com/office/drawing/2014/main" id="{351FA4A4-FD2E-4047-81A6-C84C7B0D84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1466850"/>
            <a:ext cx="8001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1B4F9A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B4F9A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41" name="card-title-0">
            <a:extLst xmlns:a="http://schemas.openxmlformats.org/drawingml/2006/main">
              <a:ext uri="{FF2B5EF4-FFF2-40B4-BE49-F238E27FC236}">
                <a16:creationId xmlns:a16="http://schemas.microsoft.com/office/drawing/2014/main" id="{9F2B0890-6586-477D-9344-55ABF8743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2333625"/>
            <a:ext cx="19431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0B2F6B"/>
                </a:solidFill>
                <a:latin typeface="微软雅黑"/>
                <a:ea typeface="微软雅黑"/>
                <a:cs typeface="微软雅黑"/>
              </a:defRPr>
            </a:pPr>
            <a:r>
              <a:rPr sz="1575" b="1">
                <a:solidFill>
                  <a:srgbClr val="0B2F6B"/>
                </a:solidFill>
                <a:latin typeface="微软雅黑"/>
                <a:ea typeface="微软雅黑"/>
                <a:cs typeface="微软雅黑"/>
              </a:rPr>
              <a:t>陌生室内</a:t>
            </a:r>
          </a:p>
        </p:txBody>
      </p:sp>
      <p:sp>
        <p:nvSpPr>
          <p:cNvPr id="42" name="card-body-0">
            <a:extLst xmlns:a="http://schemas.openxmlformats.org/drawingml/2006/main">
              <a:ext uri="{FF2B5EF4-FFF2-40B4-BE49-F238E27FC236}">
                <a16:creationId xmlns:a16="http://schemas.microsoft.com/office/drawing/2014/main" id="{42D727BF-0EB7-4C49-BB87-3FD4C5C22E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3028950"/>
            <a:ext cx="190500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38">
                <a:solidFill>
                  <a:srgbClr val="1F2937"/>
                </a:solidFill>
                <a:latin typeface="微软雅黑"/>
                <a:ea typeface="微软雅黑"/>
                <a:cs typeface="微软雅黑"/>
              </a:defRPr>
            </a:pPr>
            <a:r>
              <a:rPr sz="1238">
                <a:solidFill>
                  <a:srgbClr val="1F2937"/>
                </a:solidFill>
                <a:latin typeface="微软雅黑"/>
                <a:ea typeface="微软雅黑"/>
                <a:cs typeface="微软雅黑"/>
              </a:rPr>
              <a:t>实验室、房间组合或长走廊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38">
                <a:solidFill>
                  <a:srgbClr val="1F2937"/>
                </a:solidFill>
                <a:latin typeface="微软雅黑"/>
                <a:ea typeface="微软雅黑"/>
                <a:cs typeface="微软雅黑"/>
              </a:defRPr>
            </a:pPr>
            <a:r>
              <a:rPr sz="1238">
                <a:solidFill>
                  <a:srgbClr val="1F2937"/>
                </a:solidFill>
                <a:latin typeface="微软雅黑"/>
                <a:ea typeface="微软雅黑"/>
                <a:cs typeface="微软雅黑"/>
              </a:rPr>
              <a:t>2–3 台 TurtleBot3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38">
                <a:solidFill>
                  <a:srgbClr val="1F2937"/>
                </a:solidFill>
                <a:latin typeface="微软雅黑"/>
                <a:ea typeface="微软雅黑"/>
                <a:cs typeface="微软雅黑"/>
              </a:defRPr>
            </a:pPr>
            <a:r>
              <a:rPr sz="1238">
                <a:solidFill>
                  <a:srgbClr val="1F2937"/>
                </a:solidFill>
                <a:latin typeface="微软雅黑"/>
                <a:ea typeface="微软雅黑"/>
                <a:cs typeface="微软雅黑"/>
              </a:rPr>
              <a:t>不预先知道地图</a:t>
            </a:r>
          </a:p>
        </p:txBody>
      </p:sp>
      <p:sp>
        <p:nvSpPr>
          <p:cNvPr id="43" name="card-1">
            <a:extLst xmlns:a="http://schemas.openxmlformats.org/drawingml/2006/main">
              <a:ext uri="{FF2B5EF4-FFF2-40B4-BE49-F238E27FC236}">
                <a16:creationId xmlns:a16="http://schemas.microsoft.com/office/drawing/2014/main" id="{11847AFE-6542-4583-BB52-89F1CF9AB5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1238250"/>
            <a:ext cx="2286000" cy="3333750"/>
          </a:xfrm>
          <a:prstGeom xmlns:a="http://schemas.openxmlformats.org/drawingml/2006/main" prst="roundRect">
            <a:avLst>
              <a:gd name="adj" fmla="val 3333"/>
            </a:avLst>
          </a:prstGeom>
          <a:solidFill xmlns:a="http://schemas.openxmlformats.org/drawingml/2006/main">
            <a:srgbClr val="E7F4EB"/>
          </a:solidFill>
          <a:ln xmlns:a="http://schemas.openxmlformats.org/drawingml/2006/main" w="11906">
            <a:solidFill>
              <a:srgbClr val="4C8A5A"/>
            </a:solidFill>
            <a:prstDash val="solid"/>
          </a:ln>
        </p:spPr>
      </p:sp>
      <p:sp>
        <p:nvSpPr>
          <p:cNvPr id="44" name="card-no-1">
            <a:extLst xmlns:a="http://schemas.openxmlformats.org/drawingml/2006/main">
              <a:ext uri="{FF2B5EF4-FFF2-40B4-BE49-F238E27FC236}">
                <a16:creationId xmlns:a16="http://schemas.microsoft.com/office/drawing/2014/main" id="{1F06743B-3798-4096-8CAD-E7AE3FCE97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1466850"/>
            <a:ext cx="8001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4C8A5A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4C8A5A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45" name="card-title-1">
            <a:extLst xmlns:a="http://schemas.openxmlformats.org/drawingml/2006/main">
              <a:ext uri="{FF2B5EF4-FFF2-40B4-BE49-F238E27FC236}">
                <a16:creationId xmlns:a16="http://schemas.microsoft.com/office/drawing/2014/main" id="{C723B3FC-4F11-49C1-8059-DDFA258AB5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333625"/>
            <a:ext cx="19431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0B2F6B"/>
                </a:solidFill>
                <a:latin typeface="微软雅黑"/>
                <a:ea typeface="微软雅黑"/>
                <a:cs typeface="微软雅黑"/>
              </a:defRPr>
            </a:pPr>
            <a:r>
              <a:rPr sz="1575" b="1">
                <a:solidFill>
                  <a:srgbClr val="0B2F6B"/>
                </a:solidFill>
                <a:latin typeface="微软雅黑"/>
                <a:ea typeface="微软雅黑"/>
                <a:cs typeface="微软雅黑"/>
              </a:rPr>
              <a:t>协同任务</a:t>
            </a:r>
          </a:p>
        </p:txBody>
      </p:sp>
      <p:sp>
        <p:nvSpPr>
          <p:cNvPr id="46" name="card-body-1">
            <a:extLst xmlns:a="http://schemas.openxmlformats.org/drawingml/2006/main">
              <a:ext uri="{FF2B5EF4-FFF2-40B4-BE49-F238E27FC236}">
                <a16:creationId xmlns:a16="http://schemas.microsoft.com/office/drawing/2014/main" id="{585BAB8E-B808-4A33-BA66-CC1EAF944B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028950"/>
            <a:ext cx="190500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38">
                <a:solidFill>
                  <a:srgbClr val="1F2937"/>
                </a:solidFill>
                <a:latin typeface="微软雅黑"/>
                <a:ea typeface="微软雅黑"/>
                <a:cs typeface="微软雅黑"/>
              </a:defRPr>
            </a:pPr>
            <a:r>
              <a:rPr sz="1238">
                <a:solidFill>
                  <a:srgbClr val="1F2937"/>
                </a:solidFill>
                <a:latin typeface="微软雅黑"/>
                <a:ea typeface="微软雅黑"/>
                <a:cs typeface="微软雅黑"/>
              </a:rPr>
              <a:t>SLAM + frontier + Nav2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38">
                <a:solidFill>
                  <a:srgbClr val="1F2937"/>
                </a:solidFill>
                <a:latin typeface="微软雅黑"/>
                <a:ea typeface="微软雅黑"/>
                <a:cs typeface="微软雅黑"/>
              </a:defRPr>
            </a:pPr>
            <a:r>
              <a:rPr sz="1238">
                <a:solidFill>
                  <a:srgbClr val="1F2937"/>
                </a:solidFill>
                <a:latin typeface="微软雅黑"/>
                <a:ea typeface="微软雅黑"/>
                <a:cs typeface="微软雅黑"/>
              </a:rPr>
              <a:t>目标确认 → RALLY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38">
                <a:solidFill>
                  <a:srgbClr val="1F2937"/>
                </a:solidFill>
                <a:latin typeface="微软雅黑"/>
                <a:ea typeface="微软雅黑"/>
                <a:cs typeface="微软雅黑"/>
              </a:defRPr>
            </a:pPr>
            <a:r>
              <a:rPr sz="1238">
                <a:solidFill>
                  <a:srgbClr val="1F2937"/>
                </a:solidFill>
                <a:latin typeface="微软雅黑"/>
                <a:ea typeface="微软雅黑"/>
                <a:cs typeface="微软雅黑"/>
              </a:rPr>
              <a:t>必要时返航、充电、恢复</a:t>
            </a:r>
          </a:p>
        </p:txBody>
      </p:sp>
      <p:sp>
        <p:nvSpPr>
          <p:cNvPr id="47" name="card-2">
            <a:extLst xmlns:a="http://schemas.openxmlformats.org/drawingml/2006/main">
              <a:ext uri="{FF2B5EF4-FFF2-40B4-BE49-F238E27FC236}">
                <a16:creationId xmlns:a16="http://schemas.microsoft.com/office/drawing/2014/main" id="{2ED5F6E7-C067-4C23-974F-E95A34D2C4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1238250"/>
            <a:ext cx="2286000" cy="3333750"/>
          </a:xfrm>
          <a:prstGeom xmlns:a="http://schemas.openxmlformats.org/drawingml/2006/main" prst="roundRect">
            <a:avLst>
              <a:gd name="adj" fmla="val 3333"/>
            </a:avLst>
          </a:prstGeom>
          <a:solidFill xmlns:a="http://schemas.openxmlformats.org/drawingml/2006/main">
            <a:srgbClr val="FFF2E3"/>
          </a:solidFill>
          <a:ln xmlns:a="http://schemas.openxmlformats.org/drawingml/2006/main" w="11906">
            <a:solidFill>
              <a:srgbClr val="C97A2B"/>
            </a:solidFill>
            <a:prstDash val="solid"/>
          </a:ln>
        </p:spPr>
      </p:sp>
      <p:sp>
        <p:nvSpPr>
          <p:cNvPr id="48" name="card-no-2">
            <a:extLst xmlns:a="http://schemas.openxmlformats.org/drawingml/2006/main">
              <a:ext uri="{FF2B5EF4-FFF2-40B4-BE49-F238E27FC236}">
                <a16:creationId xmlns:a16="http://schemas.microsoft.com/office/drawing/2014/main" id="{A9342F11-C6C5-423D-B442-2069BA38F8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1466850"/>
            <a:ext cx="8001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C97A2B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C97A2B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49" name="card-title-2">
            <a:extLst xmlns:a="http://schemas.openxmlformats.org/drawingml/2006/main">
              <a:ext uri="{FF2B5EF4-FFF2-40B4-BE49-F238E27FC236}">
                <a16:creationId xmlns:a16="http://schemas.microsoft.com/office/drawing/2014/main" id="{167A06AA-D499-429A-B940-FD1988A4A6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333625"/>
            <a:ext cx="19431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0B2F6B"/>
                </a:solidFill>
                <a:latin typeface="微软雅黑"/>
                <a:ea typeface="微软雅黑"/>
                <a:cs typeface="微软雅黑"/>
              </a:defRPr>
            </a:pPr>
            <a:r>
              <a:rPr sz="1575" b="1">
                <a:solidFill>
                  <a:srgbClr val="0B2F6B"/>
                </a:solidFill>
                <a:latin typeface="微软雅黑"/>
                <a:ea typeface="微软雅黑"/>
                <a:cs typeface="微软雅黑"/>
              </a:rPr>
              <a:t>安全边界</a:t>
            </a:r>
          </a:p>
        </p:txBody>
      </p:sp>
      <p:sp>
        <p:nvSpPr>
          <p:cNvPr id="50" name="card-body-2">
            <a:extLst xmlns:a="http://schemas.openxmlformats.org/drawingml/2006/main">
              <a:ext uri="{FF2B5EF4-FFF2-40B4-BE49-F238E27FC236}">
                <a16:creationId xmlns:a16="http://schemas.microsoft.com/office/drawing/2014/main" id="{D4F26D4A-F099-4E66-9A0D-AC38F29FD9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3028950"/>
            <a:ext cx="190500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38">
                <a:solidFill>
                  <a:srgbClr val="1F2937"/>
                </a:solidFill>
                <a:latin typeface="微软雅黑"/>
                <a:ea typeface="微软雅黑"/>
                <a:cs typeface="微软雅黑"/>
              </a:defRPr>
            </a:pPr>
            <a:r>
              <a:rPr sz="1238">
                <a:solidFill>
                  <a:srgbClr val="1F2937"/>
                </a:solidFill>
                <a:latin typeface="微软雅黑"/>
                <a:ea typeface="微软雅黑"/>
                <a:cs typeface="微软雅黑"/>
              </a:rPr>
              <a:t>本地感知、避障、低电量返航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38">
                <a:solidFill>
                  <a:srgbClr val="1F2937"/>
                </a:solidFill>
                <a:latin typeface="微软雅黑"/>
                <a:ea typeface="微软雅黑"/>
                <a:cs typeface="微软雅黑"/>
              </a:defRPr>
            </a:pPr>
            <a:r>
              <a:rPr sz="1238">
                <a:solidFill>
                  <a:srgbClr val="1F2937"/>
                </a:solidFill>
                <a:latin typeface="微软雅黑"/>
                <a:ea typeface="微软雅黑"/>
                <a:cs typeface="微软雅黑"/>
              </a:rPr>
              <a:t>通信策略不覆盖安全约束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38">
                <a:solidFill>
                  <a:srgbClr val="1F2937"/>
                </a:solidFill>
                <a:latin typeface="微软雅黑"/>
                <a:ea typeface="微软雅黑"/>
                <a:cs typeface="微软雅黑"/>
              </a:defRPr>
            </a:pPr>
            <a:r>
              <a:rPr sz="1238">
                <a:solidFill>
                  <a:srgbClr val="1F2937"/>
                </a:solidFill>
                <a:latin typeface="微软雅黑"/>
                <a:ea typeface="微软雅黑"/>
                <a:cs typeface="微软雅黑"/>
              </a:rPr>
              <a:t>先固定任务栈</a:t>
            </a:r>
          </a:p>
        </p:txBody>
      </p:sp>
      <p:sp>
        <p:nvSpPr>
          <p:cNvPr id="51" name="scenario-takeaway">
            <a:extLst xmlns:a="http://schemas.openxmlformats.org/drawingml/2006/main">
              <a:ext uri="{FF2B5EF4-FFF2-40B4-BE49-F238E27FC236}">
                <a16:creationId xmlns:a16="http://schemas.microsoft.com/office/drawing/2014/main" id="{2FC358F1-C68D-4E34-B256-B40B427D70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5219700"/>
            <a:ext cx="8382000" cy="590550"/>
          </a:xfrm>
          <a:prstGeom xmlns:a="http://schemas.openxmlformats.org/drawingml/2006/main" prst="roundRect">
            <a:avLst>
              <a:gd name="adj" fmla="val 4839"/>
            </a:avLst>
          </a:prstGeom>
          <a:solidFill xmlns:a="http://schemas.openxmlformats.org/drawingml/2006/main">
            <a:srgbClr val="123D8D"/>
          </a:solidFill>
          <a:ln xmlns:a="http://schemas.openxmlformats.org/drawingml/2006/main" w="11906">
            <a:solidFill>
              <a:srgbClr val="123D8D"/>
            </a:solidFill>
            <a:prstDash val="solid"/>
          </a:ln>
        </p:spPr>
      </p:sp>
      <p:sp>
        <p:nvSpPr>
          <p:cNvPr id="52" name="scenario-takeaway-text">
            <a:extLst xmlns:a="http://schemas.openxmlformats.org/drawingml/2006/main">
              <a:ext uri="{FF2B5EF4-FFF2-40B4-BE49-F238E27FC236}">
                <a16:creationId xmlns:a16="http://schemas.microsoft.com/office/drawing/2014/main" id="{94D12516-50E9-48AA-B10C-FD68454CFA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5343525"/>
            <a:ext cx="8039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场景只是研究载体：只把应用层消息准入作为变量，其余任务层先固定。</a:t>
            </a:r>
          </a:p>
        </p:txBody>
      </p:sp>
    </p:spTree>
    <p:extLst>
      <p:ext uri="{BB962C8B-B14F-4D97-AF65-F5344CB8AC3E}">
        <p14:creationId xmlns:p14="http://schemas.microsoft.com/office/powerpoint/2010/main" val="801515875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left-nav-bg">
            <a:extLst xmlns:a="http://schemas.openxmlformats.org/drawingml/2006/main">
              <a:ext uri="{FF2B5EF4-FFF2-40B4-BE49-F238E27FC236}">
                <a16:creationId xmlns:a16="http://schemas.microsoft.com/office/drawing/2014/main" id="{899BD1AD-4C09-4D89-B43D-62A7A6802F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906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D8D"/>
          </a:solidFill>
          <a:ln xmlns:a="http://schemas.openxmlformats.org/drawingml/2006/main" w="0">
            <a:solidFill>
              <a:srgbClr val="123D8D"/>
            </a:solidFill>
            <a:prstDash val="solid"/>
          </a:ln>
        </p:spPr>
      </p:sp>
      <p:sp>
        <p:nvSpPr>
          <p:cNvPr id="2" name="nav-label">
            <a:extLst xmlns:a="http://schemas.openxmlformats.org/drawingml/2006/main">
              <a:ext uri="{FF2B5EF4-FFF2-40B4-BE49-F238E27FC236}">
                <a16:creationId xmlns:a16="http://schemas.microsoft.com/office/drawing/2014/main" id="{585C5C94-1FBF-4311-9EF9-0686F29F1A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" y="266700"/>
            <a:ext cx="933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8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近期工作分享</a:t>
            </a:r>
            <a:endParaRPr sz="825" b="1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" name="nav-0">
            <a:extLst xmlns:a="http://schemas.openxmlformats.org/drawingml/2006/main">
              <a:ext uri="{FF2B5EF4-FFF2-40B4-BE49-F238E27FC236}">
                <a16:creationId xmlns:a16="http://schemas.microsoft.com/office/drawing/2014/main" id="{927DDB59-0596-4698-B33B-0AED5C5C9F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" y="2095500"/>
            <a:ext cx="8763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4F9A"/>
          </a:solidFill>
          <a:ln xmlns:a="http://schemas.openxmlformats.org/drawingml/2006/main" w="9525">
            <a:solidFill>
              <a:srgbClr val="3169AA"/>
            </a:solidFill>
            <a:prstDash val="solid"/>
          </a:ln>
        </p:spPr>
      </p:sp>
      <p:sp>
        <p:nvSpPr>
          <p:cNvPr id="4" name="nav-text-0">
            <a:extLst xmlns:a="http://schemas.openxmlformats.org/drawingml/2006/main">
              <a:ext uri="{FF2B5EF4-FFF2-40B4-BE49-F238E27FC236}">
                <a16:creationId xmlns:a16="http://schemas.microsoft.com/office/drawing/2014/main" id="{E3DD1206-C76E-43E6-9069-788772FE5B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" y="2181225"/>
            <a:ext cx="8191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38" b="0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938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问题提出</a:t>
            </a:r>
          </a:p>
        </p:txBody>
      </p:sp>
      <p:sp>
        <p:nvSpPr>
          <p:cNvPr id="5" name="nav-1">
            <a:extLst xmlns:a="http://schemas.openxmlformats.org/drawingml/2006/main">
              <a:ext uri="{FF2B5EF4-FFF2-40B4-BE49-F238E27FC236}">
                <a16:creationId xmlns:a16="http://schemas.microsoft.com/office/drawing/2014/main" id="{7809558E-C869-42C1-A6E5-8BD6AF9D13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" y="2562225"/>
            <a:ext cx="8763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4F9A"/>
          </a:solidFill>
          <a:ln xmlns:a="http://schemas.openxmlformats.org/drawingml/2006/main" w="9525">
            <a:solidFill>
              <a:srgbClr val="3169AA"/>
            </a:solidFill>
            <a:prstDash val="solid"/>
          </a:ln>
        </p:spPr>
      </p:sp>
      <p:sp>
        <p:nvSpPr>
          <p:cNvPr id="6" name="nav-text-1">
            <a:extLst xmlns:a="http://schemas.openxmlformats.org/drawingml/2006/main">
              <a:ext uri="{FF2B5EF4-FFF2-40B4-BE49-F238E27FC236}">
                <a16:creationId xmlns:a16="http://schemas.microsoft.com/office/drawing/2014/main" id="{631ABBCE-1346-4AB1-A77A-A9FB1AB4BC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" y="2647950"/>
            <a:ext cx="8191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38" b="0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938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文献调研</a:t>
            </a:r>
          </a:p>
        </p:txBody>
      </p:sp>
      <p:sp>
        <p:nvSpPr>
          <p:cNvPr id="7" name="nav-2">
            <a:extLst xmlns:a="http://schemas.openxmlformats.org/drawingml/2006/main">
              <a:ext uri="{FF2B5EF4-FFF2-40B4-BE49-F238E27FC236}">
                <a16:creationId xmlns:a16="http://schemas.microsoft.com/office/drawing/2014/main" id="{77AFA803-80DD-46CE-9F38-41F75CB164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" y="3028950"/>
            <a:ext cx="8763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7FD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8" name="nav-text-2">
            <a:extLst xmlns:a="http://schemas.openxmlformats.org/drawingml/2006/main">
              <a:ext uri="{FF2B5EF4-FFF2-40B4-BE49-F238E27FC236}">
                <a16:creationId xmlns:a16="http://schemas.microsoft.com/office/drawing/2014/main" id="{8EC64CBC-6030-4EB1-87D8-A13E26BD9B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" y="3114675"/>
            <a:ext cx="8191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38" b="1">
                <a:solidFill>
                  <a:srgbClr val="123D8D"/>
                </a:solidFill>
                <a:latin typeface="微软雅黑"/>
                <a:ea typeface="微软雅黑"/>
                <a:cs typeface="微软雅黑"/>
              </a:defRPr>
            </a:pPr>
            <a:r>
              <a:rPr sz="938" b="1">
                <a:solidFill>
                  <a:srgbClr val="123D8D"/>
                </a:solidFill>
                <a:latin typeface="微软雅黑"/>
                <a:ea typeface="微软雅黑"/>
                <a:cs typeface="微软雅黑"/>
              </a:rPr>
              <a:t>方法与路线</a:t>
            </a:r>
          </a:p>
        </p:txBody>
      </p:sp>
      <p:sp>
        <p:nvSpPr>
          <p:cNvPr id="9" name="nav-3">
            <a:extLst xmlns:a="http://schemas.openxmlformats.org/drawingml/2006/main">
              <a:ext uri="{FF2B5EF4-FFF2-40B4-BE49-F238E27FC236}">
                <a16:creationId xmlns:a16="http://schemas.microsoft.com/office/drawing/2014/main" id="{AB5436C8-A671-4E5D-960F-753C9B7508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" y="3495675"/>
            <a:ext cx="8763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4F9A"/>
          </a:solidFill>
          <a:ln xmlns:a="http://schemas.openxmlformats.org/drawingml/2006/main" w="9525">
            <a:solidFill>
              <a:srgbClr val="3169AA"/>
            </a:solidFill>
            <a:prstDash val="solid"/>
          </a:ln>
        </p:spPr>
      </p:sp>
      <p:sp>
        <p:nvSpPr>
          <p:cNvPr id="10" name="nav-text-3">
            <a:extLst xmlns:a="http://schemas.openxmlformats.org/drawingml/2006/main">
              <a:ext uri="{FF2B5EF4-FFF2-40B4-BE49-F238E27FC236}">
                <a16:creationId xmlns:a16="http://schemas.microsoft.com/office/drawing/2014/main" id="{5D06480A-F509-4C71-9085-044C7F1E2E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" y="3581400"/>
            <a:ext cx="8191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38" b="0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938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已完成工作</a:t>
            </a:r>
          </a:p>
        </p:txBody>
      </p:sp>
      <p:sp>
        <p:nvSpPr>
          <p:cNvPr id="11" name="nav-4">
            <a:extLst xmlns:a="http://schemas.openxmlformats.org/drawingml/2006/main">
              <a:ext uri="{FF2B5EF4-FFF2-40B4-BE49-F238E27FC236}">
                <a16:creationId xmlns:a16="http://schemas.microsoft.com/office/drawing/2014/main" id="{5F840902-8065-4E6D-B502-20850B1046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" y="3962400"/>
            <a:ext cx="8763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4F9A"/>
          </a:solidFill>
          <a:ln xmlns:a="http://schemas.openxmlformats.org/drawingml/2006/main" w="9525">
            <a:solidFill>
              <a:srgbClr val="3169AA"/>
            </a:solidFill>
            <a:prstDash val="solid"/>
          </a:ln>
        </p:spPr>
      </p:sp>
      <p:sp>
        <p:nvSpPr>
          <p:cNvPr id="12" name="nav-text-4">
            <a:extLst xmlns:a="http://schemas.openxmlformats.org/drawingml/2006/main">
              <a:ext uri="{FF2B5EF4-FFF2-40B4-BE49-F238E27FC236}">
                <a16:creationId xmlns:a16="http://schemas.microsoft.com/office/drawing/2014/main" id="{ADA2FEFB-34B8-463C-AA13-5461CC1C6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" y="4048125"/>
            <a:ext cx="8191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38" b="0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938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演示安排</a:t>
            </a:r>
          </a:p>
        </p:txBody>
      </p:sp>
      <p:sp>
        <p:nvSpPr>
          <p:cNvPr id="13" name="nav-5">
            <a:extLst xmlns:a="http://schemas.openxmlformats.org/drawingml/2006/main">
              <a:ext uri="{FF2B5EF4-FFF2-40B4-BE49-F238E27FC236}">
                <a16:creationId xmlns:a16="http://schemas.microsoft.com/office/drawing/2014/main" id="{87D360ED-EE73-4B33-8B91-5E4DFBC96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" y="4429125"/>
            <a:ext cx="8763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4F9A"/>
          </a:solidFill>
          <a:ln xmlns:a="http://schemas.openxmlformats.org/drawingml/2006/main" w="9525">
            <a:solidFill>
              <a:srgbClr val="3169AA"/>
            </a:solidFill>
            <a:prstDash val="solid"/>
          </a:ln>
        </p:spPr>
      </p:sp>
      <p:sp>
        <p:nvSpPr>
          <p:cNvPr id="14" name="nav-text-5">
            <a:extLst xmlns:a="http://schemas.openxmlformats.org/drawingml/2006/main">
              <a:ext uri="{FF2B5EF4-FFF2-40B4-BE49-F238E27FC236}">
                <a16:creationId xmlns:a16="http://schemas.microsoft.com/office/drawing/2014/main" id="{4BD0D499-67D6-4A49-8BC0-6BA84AD74A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" y="4514850"/>
            <a:ext cx="8191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38" b="0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938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反思讨论</a:t>
            </a:r>
          </a:p>
        </p:txBody>
      </p:sp>
      <p:sp>
        <p:nvSpPr>
          <p:cNvPr id="15" name="title-square">
            <a:extLst xmlns:a="http://schemas.openxmlformats.org/drawingml/2006/main">
              <a:ext uri="{FF2B5EF4-FFF2-40B4-BE49-F238E27FC236}">
                <a16:creationId xmlns:a16="http://schemas.microsoft.com/office/drawing/2014/main" id="{16AEAE14-F25A-46F0-A92F-FAB39683D9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28600"/>
            <a:ext cx="1143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D8D"/>
          </a:solidFill>
          <a:ln xmlns:a="http://schemas.openxmlformats.org/drawingml/2006/main" w="0">
            <a:solidFill>
              <a:srgbClr val="123D8D"/>
            </a:solidFill>
            <a:prstDash val="solid"/>
          </a:ln>
        </p:spPr>
      </p:sp>
      <p:sp>
        <p:nvSpPr>
          <p:cNvPr id="16" name="slide-title">
            <a:extLst xmlns:a="http://schemas.openxmlformats.org/drawingml/2006/main">
              <a:ext uri="{FF2B5EF4-FFF2-40B4-BE49-F238E27FC236}">
                <a16:creationId xmlns:a16="http://schemas.microsoft.com/office/drawing/2014/main" id="{42ADB6BB-335F-4450-801E-C7F41A6709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161925"/>
            <a:ext cx="83343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1667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0B2F6B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1">
                <a:solidFill>
                  <a:srgbClr val="0B2F6B"/>
                </a:solidFill>
                <a:latin typeface="微软雅黑"/>
                <a:ea typeface="微软雅黑"/>
                <a:cs typeface="微软雅黑"/>
              </a:rPr>
              <a:t>3.1  当前想尝试的方法：集中式、部分可观测的通信调度</a:t>
            </a:r>
          </a:p>
        </p:txBody>
      </p:sp>
      <p:sp>
        <p:nvSpPr>
          <p:cNvPr id="17" name="title-rule">
            <a:extLst xmlns:a="http://schemas.openxmlformats.org/drawingml/2006/main">
              <a:ext uri="{FF2B5EF4-FFF2-40B4-BE49-F238E27FC236}">
                <a16:creationId xmlns:a16="http://schemas.microsoft.com/office/drawing/2014/main" id="{5621B75D-FEBF-4B9E-BC78-77AEE1F75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590550"/>
            <a:ext cx="87153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D8D"/>
          </a:solidFill>
          <a:ln xmlns:a="http://schemas.openxmlformats.org/drawingml/2006/main" w="0">
            <a:solidFill>
              <a:srgbClr val="123D8D"/>
            </a:solidFill>
            <a:prstDash val="solid"/>
          </a:ln>
        </p:spPr>
      </p:sp>
      <p:pic>
        <p:nvPicPr>
          <p:cNvPr id="57" name="图片 4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adc90793eda43a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220791" y="66675"/>
            <a:ext cx="1608794" cy="514350"/>
          </a:xfrm>
          <a:prstGeom xmlns:a="http://schemas.openxmlformats.org/drawingml/2006/main" prst="rect">
            <a:avLst/>
          </a:prstGeom>
        </p:spPr>
      </p:pic>
      <p:sp>
        <p:nvSpPr>
          <p:cNvPr id="19" name="page-number">
            <a:extLst xmlns:a="http://schemas.openxmlformats.org/drawingml/2006/main">
              <a:ext uri="{FF2B5EF4-FFF2-40B4-BE49-F238E27FC236}">
                <a16:creationId xmlns:a16="http://schemas.microsoft.com/office/drawing/2014/main" id="{531A0492-3F8D-4582-897B-C5AC8DB9D7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2375" y="6486525"/>
            <a:ext cx="47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7A8894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7A8894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sp>
        <p:nvSpPr>
          <p:cNvPr id="20" name="citation-footer">
            <a:extLst xmlns:a="http://schemas.openxmlformats.org/drawingml/2006/main">
              <a:ext uri="{FF2B5EF4-FFF2-40B4-BE49-F238E27FC236}">
                <a16:creationId xmlns:a16="http://schemas.microsoft.com/office/drawing/2014/main" id="{4EC6FB33-5CFF-4AA6-8F66-A0EF8B4238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6457950"/>
            <a:ext cx="495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0834"/>
          </a:bodyPr>
          <a:lstStyle xmlns:a="http://schemas.openxmlformats.org/drawingml/2006/main"/>
          <a:p xmlns:a="http://schemas.openxmlformats.org/drawingml/2006/main">
            <a:pPr algn="l">
              <a:buNone/>
              <a:defRPr sz="863" b="0">
                <a:solidFill>
                  <a:srgbClr val="7A8894"/>
                </a:solidFill>
                <a:latin typeface="微软雅黑"/>
                <a:ea typeface="微软雅黑"/>
                <a:cs typeface="微软雅黑"/>
              </a:defRPr>
            </a:pPr>
            <a:r>
              <a:rPr sz="863" b="0">
                <a:solidFill>
                  <a:srgbClr val="7A8894"/>
                </a:solidFill>
                <a:latin typeface="微软雅黑"/>
                <a:ea typeface="微软雅黑"/>
                <a:cs typeface="微软雅黑"/>
              </a:rPr>
              <a:t>方法与路线 · Gazebo–ROS 2–ns-3 闭环</a:t>
            </a:r>
          </a:p>
        </p:txBody>
      </p:sp>
      <p:sp>
        <p:nvSpPr>
          <p:cNvPr id="32" name="framework-frame">
            <a:extLst xmlns:a="http://schemas.openxmlformats.org/drawingml/2006/main">
              <a:ext uri="{FF2B5EF4-FFF2-40B4-BE49-F238E27FC236}">
                <a16:creationId xmlns:a16="http://schemas.microsoft.com/office/drawing/2014/main" id="{EA5D3236-9F66-4404-8E64-9AD46D0C2D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914400"/>
            <a:ext cx="7524750" cy="4143375"/>
          </a:xfrm>
          <a:prstGeom xmlns:a="http://schemas.openxmlformats.org/drawingml/2006/main" prst="roundRect">
            <a:avLst>
              <a:gd name="adj" fmla="val 92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906">
            <a:solidFill>
              <a:srgbClr val="CBD8E5"/>
            </a:solidFill>
            <a:prstDash val="solid"/>
          </a:ln>
        </p:spPr>
      </p:sp>
      <p:pic>
        <p:nvPicPr>
          <p:cNvPr id="6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892015cb4284540"/>
          <a:stretch xmlns:a="http://schemas.openxmlformats.org/drawingml/2006/main"/>
        </p:blipFill>
        <p:spPr>
          <a:xfrm xmlns:a="http://schemas.openxmlformats.org/drawingml/2006/main">
            <a:off x="1674011" y="1028700"/>
            <a:ext cx="6938978" cy="3905250"/>
          </a:xfrm>
          <a:prstGeom xmlns:a="http://schemas.openxmlformats.org/drawingml/2006/main" prst="rect">
            <a:avLst/>
          </a:prstGeom>
        </p:spPr>
      </p:pic>
      <p:sp>
        <p:nvSpPr>
          <p:cNvPr id="34" name="framework-callout">
            <a:extLst xmlns:a="http://schemas.openxmlformats.org/drawingml/2006/main">
              <a:ext uri="{FF2B5EF4-FFF2-40B4-BE49-F238E27FC236}">
                <a16:creationId xmlns:a16="http://schemas.microsoft.com/office/drawing/2014/main" id="{864BFFBF-BCB3-44AA-A5A8-7F15F22F31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1066800"/>
            <a:ext cx="2571750" cy="3905250"/>
          </a:xfrm>
          <a:prstGeom xmlns:a="http://schemas.openxmlformats.org/drawingml/2006/main" prst="roundRect">
            <a:avLst>
              <a:gd name="adj" fmla="val 1852"/>
            </a:avLst>
          </a:prstGeom>
          <a:solidFill xmlns:a="http://schemas.openxmlformats.org/drawingml/2006/main">
            <a:srgbClr val="EEF7FD"/>
          </a:solidFill>
          <a:ln xmlns:a="http://schemas.openxmlformats.org/drawingml/2006/main" w="11906">
            <a:solidFill>
              <a:srgbClr val="AFCFE2"/>
            </a:solidFill>
            <a:prstDash val="solid"/>
          </a:ln>
        </p:spPr>
      </p:sp>
      <p:sp>
        <p:nvSpPr>
          <p:cNvPr id="35" name="framework-callout-title">
            <a:extLst xmlns:a="http://schemas.openxmlformats.org/drawingml/2006/main">
              <a:ext uri="{FF2B5EF4-FFF2-40B4-BE49-F238E27FC236}">
                <a16:creationId xmlns:a16="http://schemas.microsoft.com/office/drawing/2014/main" id="{2730E23A-F509-4746-92CB-0BFD60F186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1200150"/>
            <a:ext cx="2266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23D8D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123D8D"/>
                </a:solidFill>
                <a:latin typeface="微软雅黑"/>
                <a:ea typeface="微软雅黑"/>
                <a:cs typeface="微软雅黑"/>
              </a:rPr>
              <a:t>方法边界</a:t>
            </a:r>
          </a:p>
        </p:txBody>
      </p:sp>
      <p:sp>
        <p:nvSpPr>
          <p:cNvPr id="36" name="framework-callout-body">
            <a:extLst xmlns:a="http://schemas.openxmlformats.org/drawingml/2006/main">
              <a:ext uri="{FF2B5EF4-FFF2-40B4-BE49-F238E27FC236}">
                <a16:creationId xmlns:a16="http://schemas.microsoft.com/office/drawing/2014/main" id="{A23625D8-5ED4-47A1-A091-5CAF22F0BF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1600200"/>
            <a:ext cx="226695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38">
                <a:solidFill>
                  <a:srgbClr val="1F2937"/>
                </a:solidFill>
                <a:latin typeface="微软雅黑"/>
                <a:ea typeface="微软雅黑"/>
                <a:cs typeface="微软雅黑"/>
              </a:defRPr>
            </a:pPr>
            <a:r>
              <a:rPr sz="1238">
                <a:solidFill>
                  <a:srgbClr val="1F2937"/>
                </a:solidFill>
                <a:latin typeface="微软雅黑"/>
                <a:ea typeface="微软雅黑"/>
                <a:cs typeface="微软雅黑"/>
              </a:rPr>
              <a:t>中央策略每个决策窗选择哪个 endpoint 的哪类候选获得短期准入。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238">
                <a:solidFill>
                  <a:srgbClr val="1F2937"/>
                </a:solidFill>
                <a:latin typeface="微软雅黑"/>
                <a:ea typeface="微软雅黑"/>
                <a:cs typeface="微软雅黑"/>
              </a:defRPr>
            </a:pPr>
            <a:r>
              <a:rPr sz="1238">
                <a:solidFill>
                  <a:srgbClr val="1F2937"/>
                </a:solidFill>
                <a:latin typeface="微软雅黑"/>
                <a:ea typeface="微软雅黑"/>
                <a:cs typeface="微软雅黑"/>
              </a:rPr>
              <a:t>机器人本地保留感知、避障、返航；策略不直接控制 Wi‑Fi MAC/PHY。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238">
                <a:solidFill>
                  <a:srgbClr val="1F2937"/>
                </a:solidFill>
                <a:latin typeface="微软雅黑"/>
                <a:ea typeface="微软雅黑"/>
                <a:cs typeface="微软雅黑"/>
              </a:defRPr>
            </a:pPr>
            <a:r>
              <a:rPr sz="1238">
                <a:solidFill>
                  <a:srgbClr val="1F2937"/>
                </a:solidFill>
                <a:latin typeface="微软雅黑"/>
                <a:ea typeface="微软雅黑"/>
                <a:cs typeface="微软雅黑"/>
              </a:rPr>
              <a:t>日志贯通 candidate → grant → queue → delivery/expire → consume → task。</a:t>
            </a:r>
          </a:p>
        </p:txBody>
      </p:sp>
      <p:sp>
        <p:nvSpPr>
          <p:cNvPr id="37" name="framework-callout-bottom">
            <a:extLst xmlns:a="http://schemas.openxmlformats.org/drawingml/2006/main">
              <a:ext uri="{FF2B5EF4-FFF2-40B4-BE49-F238E27FC236}">
                <a16:creationId xmlns:a16="http://schemas.microsoft.com/office/drawing/2014/main" id="{D629A082-ABF9-4F85-9B04-DB0083DBA0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4381500"/>
            <a:ext cx="22669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1785"/>
          </a:bodyPr>
          <a:lstStyle xmlns:a="http://schemas.openxmlformats.org/drawingml/2006/main"/>
          <a:p xmlns:a="http://schemas.openxmlformats.org/drawingml/2006/main">
            <a:pPr algn="ctr">
              <a:defRPr sz="1238" b="1">
                <a:solidFill>
                  <a:srgbClr val="C7333E"/>
                </a:solidFill>
                <a:latin typeface="微软雅黑"/>
                <a:ea typeface="微软雅黑"/>
                <a:cs typeface="微软雅黑"/>
              </a:defRPr>
            </a:pPr>
            <a:r>
              <a:rPr sz="1238" b="1">
                <a:solidFill>
                  <a:srgbClr val="C7333E"/>
                </a:solidFill>
                <a:latin typeface="微软雅黑"/>
                <a:ea typeface="微软雅黑"/>
                <a:cs typeface="微软雅黑"/>
              </a:rPr>
              <a:t>先验证因果链，再判断是否需要 RL。</a:t>
            </a:r>
          </a:p>
        </p:txBody>
      </p:sp>
      <p:sp>
        <p:nvSpPr>
          <p:cNvPr id="38" name="framework-takeaway">
            <a:extLst xmlns:a="http://schemas.openxmlformats.org/drawingml/2006/main">
              <a:ext uri="{FF2B5EF4-FFF2-40B4-BE49-F238E27FC236}">
                <a16:creationId xmlns:a16="http://schemas.microsoft.com/office/drawing/2014/main" id="{93BF84DA-A241-4990-85D5-915932939C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5429250"/>
            <a:ext cx="8572500" cy="4572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123D8D"/>
          </a:solidFill>
          <a:ln xmlns:a="http://schemas.openxmlformats.org/drawingml/2006/main" w="11906">
            <a:solidFill>
              <a:srgbClr val="123D8D"/>
            </a:solidFill>
            <a:prstDash val="solid"/>
          </a:ln>
        </p:spPr>
      </p:sp>
      <p:sp>
        <p:nvSpPr>
          <p:cNvPr id="39" name="framework-takeaway-text">
            <a:extLst xmlns:a="http://schemas.openxmlformats.org/drawingml/2006/main">
              <a:ext uri="{FF2B5EF4-FFF2-40B4-BE49-F238E27FC236}">
                <a16:creationId xmlns:a16="http://schemas.microsoft.com/office/drawing/2014/main" id="{1BD24201-D0EB-47ED-98FD-E1A796D4B6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5553075"/>
            <a:ext cx="8229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5185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调度首先指应用层消息是否进入发送通道，不等同于取代 802.11 DCF/EDCA。</a:t>
            </a:r>
          </a:p>
        </p:txBody>
      </p:sp>
    </p:spTree>
    <p:extLst>
      <p:ext uri="{BB962C8B-B14F-4D97-AF65-F5344CB8AC3E}">
        <p14:creationId xmlns:p14="http://schemas.microsoft.com/office/powerpoint/2010/main" val="409121981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left-nav-bg">
            <a:extLst xmlns:a="http://schemas.openxmlformats.org/drawingml/2006/main">
              <a:ext uri="{FF2B5EF4-FFF2-40B4-BE49-F238E27FC236}">
                <a16:creationId xmlns:a16="http://schemas.microsoft.com/office/drawing/2014/main" id="{E7DC1CB2-24B1-45C0-9B0A-9ECBF080FD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906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D8D"/>
          </a:solidFill>
          <a:ln xmlns:a="http://schemas.openxmlformats.org/drawingml/2006/main" w="0">
            <a:solidFill>
              <a:srgbClr val="123D8D"/>
            </a:solidFill>
            <a:prstDash val="solid"/>
          </a:ln>
        </p:spPr>
      </p:sp>
      <p:sp>
        <p:nvSpPr>
          <p:cNvPr id="2" name="nav-label">
            <a:extLst xmlns:a="http://schemas.openxmlformats.org/drawingml/2006/main">
              <a:ext uri="{FF2B5EF4-FFF2-40B4-BE49-F238E27FC236}">
                <a16:creationId xmlns:a16="http://schemas.microsoft.com/office/drawing/2014/main" id="{54791F52-9115-4B68-9357-48CBCC22AA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" y="266700"/>
            <a:ext cx="933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8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近期工作分享</a:t>
            </a:r>
          </a:p>
        </p:txBody>
      </p:sp>
      <p:sp>
        <p:nvSpPr>
          <p:cNvPr id="3" name="nav-0">
            <a:extLst xmlns:a="http://schemas.openxmlformats.org/drawingml/2006/main">
              <a:ext uri="{FF2B5EF4-FFF2-40B4-BE49-F238E27FC236}">
                <a16:creationId xmlns:a16="http://schemas.microsoft.com/office/drawing/2014/main" id="{A28397A6-C734-4BB9-A065-154C18893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" y="2095500"/>
            <a:ext cx="8763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4F9A"/>
          </a:solidFill>
          <a:ln xmlns:a="http://schemas.openxmlformats.org/drawingml/2006/main" w="9525">
            <a:solidFill>
              <a:srgbClr val="3169AA"/>
            </a:solidFill>
            <a:prstDash val="solid"/>
          </a:ln>
        </p:spPr>
      </p:sp>
      <p:sp>
        <p:nvSpPr>
          <p:cNvPr id="4" name="nav-text-0">
            <a:extLst xmlns:a="http://schemas.openxmlformats.org/drawingml/2006/main">
              <a:ext uri="{FF2B5EF4-FFF2-40B4-BE49-F238E27FC236}">
                <a16:creationId xmlns:a16="http://schemas.microsoft.com/office/drawing/2014/main" id="{8FEE940F-C100-4761-A5AB-998281CA09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" y="2181225"/>
            <a:ext cx="8191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38" b="0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938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问题提出</a:t>
            </a:r>
          </a:p>
        </p:txBody>
      </p:sp>
      <p:sp>
        <p:nvSpPr>
          <p:cNvPr id="5" name="nav-1">
            <a:extLst xmlns:a="http://schemas.openxmlformats.org/drawingml/2006/main">
              <a:ext uri="{FF2B5EF4-FFF2-40B4-BE49-F238E27FC236}">
                <a16:creationId xmlns:a16="http://schemas.microsoft.com/office/drawing/2014/main" id="{0B05FDE9-07CB-4924-8201-D1BD211DA9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" y="2562225"/>
            <a:ext cx="8763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4F9A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6" name="nav-text-1">
            <a:extLst xmlns:a="http://schemas.openxmlformats.org/drawingml/2006/main">
              <a:ext uri="{FF2B5EF4-FFF2-40B4-BE49-F238E27FC236}">
                <a16:creationId xmlns:a16="http://schemas.microsoft.com/office/drawing/2014/main" id="{04C0A50E-D663-40D8-9EBD-77868EE43F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" y="2647950"/>
            <a:ext cx="8191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38" b="0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938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文献调研</a:t>
            </a:r>
          </a:p>
        </p:txBody>
      </p:sp>
      <p:sp>
        <p:nvSpPr>
          <p:cNvPr id="7" name="nav-2">
            <a:extLst xmlns:a="http://schemas.openxmlformats.org/drawingml/2006/main">
              <a:ext uri="{FF2B5EF4-FFF2-40B4-BE49-F238E27FC236}">
                <a16:creationId xmlns:a16="http://schemas.microsoft.com/office/drawing/2014/main" id="{4ED468CC-12E6-4634-A351-28475E05F7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" y="3028950"/>
            <a:ext cx="8763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7FD"/>
          </a:solidFill>
          <a:ln xmlns:a="http://schemas.openxmlformats.org/drawingml/2006/main" w="9525">
            <a:solidFill>
              <a:srgbClr val="3169AA"/>
            </a:solidFill>
            <a:prstDash val="solid"/>
          </a:ln>
        </p:spPr>
      </p:sp>
      <p:sp>
        <p:nvSpPr>
          <p:cNvPr id="8" name="nav-text-2">
            <a:extLst xmlns:a="http://schemas.openxmlformats.org/drawingml/2006/main">
              <a:ext uri="{FF2B5EF4-FFF2-40B4-BE49-F238E27FC236}">
                <a16:creationId xmlns:a16="http://schemas.microsoft.com/office/drawing/2014/main" id="{C9A32E34-675D-41EB-9AF9-B05A6E792D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" y="3114675"/>
            <a:ext cx="8191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38" b="1">
                <a:solidFill>
                  <a:srgbClr val="123D8D"/>
                </a:solidFill>
                <a:latin typeface="微软雅黑"/>
                <a:ea typeface="微软雅黑"/>
                <a:cs typeface="微软雅黑"/>
              </a:defRPr>
            </a:pPr>
            <a:r>
              <a:rPr sz="938" b="1">
                <a:solidFill>
                  <a:srgbClr val="123D8D"/>
                </a:solidFill>
                <a:latin typeface="微软雅黑"/>
                <a:ea typeface="微软雅黑"/>
                <a:cs typeface="微软雅黑"/>
              </a:rPr>
              <a:t>方法与路线</a:t>
            </a:r>
          </a:p>
        </p:txBody>
      </p:sp>
      <p:sp>
        <p:nvSpPr>
          <p:cNvPr id="9" name="nav-3">
            <a:extLst xmlns:a="http://schemas.openxmlformats.org/drawingml/2006/main">
              <a:ext uri="{FF2B5EF4-FFF2-40B4-BE49-F238E27FC236}">
                <a16:creationId xmlns:a16="http://schemas.microsoft.com/office/drawing/2014/main" id="{B6E45ECA-0131-43E7-BB9F-F85D6863BA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" y="3495675"/>
            <a:ext cx="8763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4F9A"/>
          </a:solidFill>
          <a:ln xmlns:a="http://schemas.openxmlformats.org/drawingml/2006/main" w="9525">
            <a:solidFill>
              <a:srgbClr val="3169AA"/>
            </a:solidFill>
            <a:prstDash val="solid"/>
          </a:ln>
        </p:spPr>
      </p:sp>
      <p:sp>
        <p:nvSpPr>
          <p:cNvPr id="10" name="nav-text-3">
            <a:extLst xmlns:a="http://schemas.openxmlformats.org/drawingml/2006/main">
              <a:ext uri="{FF2B5EF4-FFF2-40B4-BE49-F238E27FC236}">
                <a16:creationId xmlns:a16="http://schemas.microsoft.com/office/drawing/2014/main" id="{733F0DF0-EBEA-46D9-861A-45F95ED87E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" y="3581400"/>
            <a:ext cx="8191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38" b="0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938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已完成工作</a:t>
            </a:r>
          </a:p>
        </p:txBody>
      </p:sp>
      <p:sp>
        <p:nvSpPr>
          <p:cNvPr id="11" name="nav-4">
            <a:extLst xmlns:a="http://schemas.openxmlformats.org/drawingml/2006/main">
              <a:ext uri="{FF2B5EF4-FFF2-40B4-BE49-F238E27FC236}">
                <a16:creationId xmlns:a16="http://schemas.microsoft.com/office/drawing/2014/main" id="{61C829F2-51B9-4E41-BE6D-0323F1502A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" y="3962400"/>
            <a:ext cx="8763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4F9A"/>
          </a:solidFill>
          <a:ln xmlns:a="http://schemas.openxmlformats.org/drawingml/2006/main" w="9525">
            <a:solidFill>
              <a:srgbClr val="3169AA"/>
            </a:solidFill>
            <a:prstDash val="solid"/>
          </a:ln>
        </p:spPr>
      </p:sp>
      <p:sp>
        <p:nvSpPr>
          <p:cNvPr id="12" name="nav-text-4">
            <a:extLst xmlns:a="http://schemas.openxmlformats.org/drawingml/2006/main">
              <a:ext uri="{FF2B5EF4-FFF2-40B4-BE49-F238E27FC236}">
                <a16:creationId xmlns:a16="http://schemas.microsoft.com/office/drawing/2014/main" id="{65C7FE05-E4CA-469D-B33D-75AB1B565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" y="4048125"/>
            <a:ext cx="8191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38" b="0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938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演示安排</a:t>
            </a:r>
          </a:p>
        </p:txBody>
      </p:sp>
      <p:sp>
        <p:nvSpPr>
          <p:cNvPr id="13" name="nav-5">
            <a:extLst xmlns:a="http://schemas.openxmlformats.org/drawingml/2006/main">
              <a:ext uri="{FF2B5EF4-FFF2-40B4-BE49-F238E27FC236}">
                <a16:creationId xmlns:a16="http://schemas.microsoft.com/office/drawing/2014/main" id="{F20A8BBA-15D2-40D9-A123-BA86B5D5B9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" y="4429125"/>
            <a:ext cx="8763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4F9A"/>
          </a:solidFill>
          <a:ln xmlns:a="http://schemas.openxmlformats.org/drawingml/2006/main" w="9525">
            <a:solidFill>
              <a:srgbClr val="3169AA"/>
            </a:solidFill>
            <a:prstDash val="solid"/>
          </a:ln>
        </p:spPr>
      </p:sp>
      <p:sp>
        <p:nvSpPr>
          <p:cNvPr id="14" name="nav-text-5">
            <a:extLst xmlns:a="http://schemas.openxmlformats.org/drawingml/2006/main">
              <a:ext uri="{FF2B5EF4-FFF2-40B4-BE49-F238E27FC236}">
                <a16:creationId xmlns:a16="http://schemas.microsoft.com/office/drawing/2014/main" id="{68BA258D-12CE-4AE9-99DD-58464FB79A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" y="4514850"/>
            <a:ext cx="8191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38" b="0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938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反思讨论</a:t>
            </a:r>
          </a:p>
        </p:txBody>
      </p:sp>
      <p:sp>
        <p:nvSpPr>
          <p:cNvPr id="15" name="title-square">
            <a:extLst xmlns:a="http://schemas.openxmlformats.org/drawingml/2006/main">
              <a:ext uri="{FF2B5EF4-FFF2-40B4-BE49-F238E27FC236}">
                <a16:creationId xmlns:a16="http://schemas.microsoft.com/office/drawing/2014/main" id="{40A606DD-C18E-4F88-930E-4B5A8526FE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28600"/>
            <a:ext cx="1143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D8D"/>
          </a:solidFill>
          <a:ln xmlns:a="http://schemas.openxmlformats.org/drawingml/2006/main" w="0">
            <a:solidFill>
              <a:srgbClr val="123D8D"/>
            </a:solidFill>
            <a:prstDash val="solid"/>
          </a:ln>
        </p:spPr>
      </p:sp>
      <p:sp>
        <p:nvSpPr>
          <p:cNvPr id="16" name="slide-title">
            <a:extLst xmlns:a="http://schemas.openxmlformats.org/drawingml/2006/main">
              <a:ext uri="{FF2B5EF4-FFF2-40B4-BE49-F238E27FC236}">
                <a16:creationId xmlns:a16="http://schemas.microsoft.com/office/drawing/2014/main" id="{E5170C26-2781-4F90-A0A7-49B267169C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161925"/>
            <a:ext cx="83343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1667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0B2F6B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1">
                <a:solidFill>
                  <a:srgbClr val="0B2F6B"/>
                </a:solidFill>
                <a:latin typeface="微软雅黑"/>
                <a:ea typeface="微软雅黑"/>
                <a:cs typeface="微软雅黑"/>
              </a:rPr>
              <a:t>3.2  可审计的消息边界：先把“准入”与“交付”分开</a:t>
            </a:r>
          </a:p>
        </p:txBody>
      </p:sp>
      <p:sp>
        <p:nvSpPr>
          <p:cNvPr id="17" name="title-rule">
            <a:extLst xmlns:a="http://schemas.openxmlformats.org/drawingml/2006/main">
              <a:ext uri="{FF2B5EF4-FFF2-40B4-BE49-F238E27FC236}">
                <a16:creationId xmlns:a16="http://schemas.microsoft.com/office/drawing/2014/main" id="{FA7C0B8A-9C41-4C0B-9045-340A467105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590550"/>
            <a:ext cx="87153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D8D"/>
          </a:solidFill>
          <a:ln xmlns:a="http://schemas.openxmlformats.org/drawingml/2006/main" w="0">
            <a:solidFill>
              <a:srgbClr val="123D8D"/>
            </a:solidFill>
            <a:prstDash val="solid"/>
          </a:ln>
        </p:spPr>
      </p:sp>
      <p:pic>
        <p:nvPicPr>
          <p:cNvPr id="58" name="图片 4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307460f4c844b0d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220791" y="66675"/>
            <a:ext cx="1608794" cy="514350"/>
          </a:xfrm>
          <a:prstGeom xmlns:a="http://schemas.openxmlformats.org/drawingml/2006/main" prst="rect">
            <a:avLst/>
          </a:prstGeom>
        </p:spPr>
      </p:pic>
      <p:sp>
        <p:nvSpPr>
          <p:cNvPr id="19" name="page-number">
            <a:extLst xmlns:a="http://schemas.openxmlformats.org/drawingml/2006/main">
              <a:ext uri="{FF2B5EF4-FFF2-40B4-BE49-F238E27FC236}">
                <a16:creationId xmlns:a16="http://schemas.microsoft.com/office/drawing/2014/main" id="{A8A374A4-79F4-41D4-BC58-22D56CFAF1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2375" y="6486525"/>
            <a:ext cx="47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7A8894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7A8894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  <p:sp>
        <p:nvSpPr>
          <p:cNvPr id="20" name="citation-footer">
            <a:extLst xmlns:a="http://schemas.openxmlformats.org/drawingml/2006/main">
              <a:ext uri="{FF2B5EF4-FFF2-40B4-BE49-F238E27FC236}">
                <a16:creationId xmlns:a16="http://schemas.microsoft.com/office/drawing/2014/main" id="{A631269B-740A-4E29-8E19-A2AE8FAB02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6457950"/>
            <a:ext cx="495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0834"/>
          </a:bodyPr>
          <a:lstStyle xmlns:a="http://schemas.openxmlformats.org/drawingml/2006/main"/>
          <a:p xmlns:a="http://schemas.openxmlformats.org/drawingml/2006/main">
            <a:pPr algn="l">
              <a:buNone/>
              <a:defRPr sz="863" b="0">
                <a:solidFill>
                  <a:srgbClr val="7A8894"/>
                </a:solidFill>
                <a:latin typeface="微软雅黑"/>
                <a:ea typeface="微软雅黑"/>
                <a:cs typeface="微软雅黑"/>
              </a:defRPr>
            </a:pPr>
            <a:r>
              <a:rPr sz="863" b="0">
                <a:solidFill>
                  <a:srgbClr val="7A8894"/>
                </a:solidFill>
                <a:latin typeface="微软雅黑"/>
                <a:ea typeface="微软雅黑"/>
                <a:cs typeface="微软雅黑"/>
              </a:rPr>
              <a:t>方法与路线 · candidate / grant / delivery ledger</a:t>
            </a:r>
          </a:p>
        </p:txBody>
      </p:sp>
      <p:sp>
        <p:nvSpPr>
          <p:cNvPr id="32" name="protocol-left">
            <a:extLst xmlns:a="http://schemas.openxmlformats.org/drawingml/2006/main">
              <a:ext uri="{FF2B5EF4-FFF2-40B4-BE49-F238E27FC236}">
                <a16:creationId xmlns:a16="http://schemas.microsoft.com/office/drawing/2014/main" id="{B01DCC84-AE6C-4DA8-803F-C4A9987B2D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1219200"/>
            <a:ext cx="4095750" cy="3619500"/>
          </a:xfrm>
          <a:prstGeom xmlns:a="http://schemas.openxmlformats.org/drawingml/2006/main" prst="roundRect">
            <a:avLst>
              <a:gd name="adj" fmla="val 2105"/>
            </a:avLst>
          </a:prstGeom>
          <a:solidFill xmlns:a="http://schemas.openxmlformats.org/drawingml/2006/main">
            <a:srgbClr val="EEF7FD"/>
          </a:solidFill>
          <a:ln xmlns:a="http://schemas.openxmlformats.org/drawingml/2006/main" w="11906">
            <a:solidFill>
              <a:srgbClr val="AFCFE2"/>
            </a:solidFill>
            <a:prstDash val="solid"/>
          </a:ln>
        </p:spPr>
      </p:sp>
      <p:sp>
        <p:nvSpPr>
          <p:cNvPr id="33" name="protocol-right">
            <a:extLst xmlns:a="http://schemas.openxmlformats.org/drawingml/2006/main">
              <a:ext uri="{FF2B5EF4-FFF2-40B4-BE49-F238E27FC236}">
                <a16:creationId xmlns:a16="http://schemas.microsoft.com/office/drawing/2014/main" id="{4C4A13A7-236A-4954-86EA-C30659D0F5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219200"/>
            <a:ext cx="4095750" cy="3619500"/>
          </a:xfrm>
          <a:prstGeom xmlns:a="http://schemas.openxmlformats.org/drawingml/2006/main" prst="roundRect">
            <a:avLst>
              <a:gd name="adj" fmla="val 2105"/>
            </a:avLst>
          </a:prstGeom>
          <a:solidFill xmlns:a="http://schemas.openxmlformats.org/drawingml/2006/main">
            <a:srgbClr val="E7F4EB"/>
          </a:solidFill>
          <a:ln xmlns:a="http://schemas.openxmlformats.org/drawingml/2006/main" w="11906">
            <a:solidFill>
              <a:srgbClr val="B9D6BE"/>
            </a:solidFill>
            <a:prstDash val="solid"/>
          </a:ln>
        </p:spPr>
      </p:sp>
      <p:sp>
        <p:nvSpPr>
          <p:cNvPr id="34" name="protocol-left-title">
            <a:extLst xmlns:a="http://schemas.openxmlformats.org/drawingml/2006/main">
              <a:ext uri="{FF2B5EF4-FFF2-40B4-BE49-F238E27FC236}">
                <a16:creationId xmlns:a16="http://schemas.microsoft.com/office/drawing/2014/main" id="{B7B5397A-0FD2-4D7A-9374-0EDF8250AF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1476375"/>
            <a:ext cx="2000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23D8D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1">
                <a:solidFill>
                  <a:srgbClr val="123D8D"/>
                </a:solidFill>
                <a:latin typeface="微软雅黑"/>
                <a:ea typeface="微软雅黑"/>
                <a:cs typeface="微软雅黑"/>
              </a:rPr>
              <a:t>消息协议</a:t>
            </a:r>
          </a:p>
        </p:txBody>
      </p:sp>
      <p:sp>
        <p:nvSpPr>
          <p:cNvPr id="35" name="protocol-right-title">
            <a:extLst xmlns:a="http://schemas.openxmlformats.org/drawingml/2006/main">
              <a:ext uri="{FF2B5EF4-FFF2-40B4-BE49-F238E27FC236}">
                <a16:creationId xmlns:a16="http://schemas.microsoft.com/office/drawing/2014/main" id="{37C26867-9A8A-4FC3-A439-51E42779D0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1476375"/>
            <a:ext cx="2000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4C8A5A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1">
                <a:solidFill>
                  <a:srgbClr val="4C8A5A"/>
                </a:solidFill>
                <a:latin typeface="微软雅黑"/>
                <a:ea typeface="微软雅黑"/>
                <a:cs typeface="微软雅黑"/>
              </a:rPr>
              <a:t>时间账本</a:t>
            </a:r>
          </a:p>
        </p:txBody>
      </p:sp>
      <p:sp>
        <p:nvSpPr>
          <p:cNvPr id="36" name="protocol-left-body">
            <a:extLst xmlns:a="http://schemas.openxmlformats.org/drawingml/2006/main">
              <a:ext uri="{FF2B5EF4-FFF2-40B4-BE49-F238E27FC236}">
                <a16:creationId xmlns:a16="http://schemas.microsoft.com/office/drawing/2014/main" id="{C3D48BFB-33FC-477E-87AD-48F8AA8BCD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2047875"/>
            <a:ext cx="3476625" cy="2238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>
                <a:solidFill>
                  <a:srgbClr val="1F2937"/>
                </a:solidFill>
                <a:latin typeface="微软雅黑"/>
                <a:ea typeface="微软雅黑"/>
                <a:cs typeface="微软雅黑"/>
              </a:defRPr>
            </a:pPr>
            <a:r>
              <a:rPr sz="1275">
                <a:solidFill>
                  <a:srgbClr val="1F2937"/>
                </a:solidFill>
                <a:latin typeface="微软雅黑"/>
                <a:ea typeface="微软雅黑"/>
                <a:cs typeface="微软雅黑"/>
              </a:rPr>
              <a:t>candidate / request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275">
                <a:solidFill>
                  <a:srgbClr val="1F2937"/>
                </a:solidFill>
                <a:latin typeface="微软雅黑"/>
                <a:ea typeface="微软雅黑"/>
                <a:cs typeface="微软雅黑"/>
              </a:defRPr>
            </a:pPr>
            <a:r>
              <a:rPr sz="1275">
                <a:solidFill>
                  <a:srgbClr val="1F2937"/>
                </a:solidFill>
                <a:latin typeface="微软雅黑"/>
                <a:ea typeface="微软雅黑"/>
                <a:cs typeface="微软雅黑"/>
              </a:rPr>
              <a:t>消息类型、版本、大小、生成时间、任务阶段、紧急等级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275">
                <a:solidFill>
                  <a:srgbClr val="1F2937"/>
                </a:solidFill>
                <a:latin typeface="微软雅黑"/>
                <a:ea typeface="微软雅黑"/>
                <a:cs typeface="微软雅黑"/>
              </a:defRPr>
            </a:pPr>
            <a:r>
              <a:rPr sz="1275">
                <a:solidFill>
                  <a:srgbClr val="1F2937"/>
                </a:solidFill>
                <a:latin typeface="微软雅黑"/>
                <a:ea typeface="微软雅黑"/>
                <a:cs typeface="微软雅黑"/>
              </a:rPr>
              <a:t>grant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275">
                <a:solidFill>
                  <a:srgbClr val="1F2937"/>
                </a:solidFill>
                <a:latin typeface="微软雅黑"/>
                <a:ea typeface="微软雅黑"/>
                <a:cs typeface="微软雅黑"/>
              </a:defRPr>
            </a:pPr>
            <a:r>
              <a:rPr sz="1275">
                <a:solidFill>
                  <a:srgbClr val="1F2937"/>
                </a:solidFill>
                <a:latin typeface="微软雅黑"/>
                <a:ea typeface="微软雅黑"/>
                <a:cs typeface="微软雅黑"/>
              </a:rPr>
              <a:t>短期准入窗口、endpoint、配额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275">
                <a:solidFill>
                  <a:srgbClr val="1F2937"/>
                </a:solidFill>
                <a:latin typeface="微软雅黑"/>
                <a:ea typeface="微软雅黑"/>
                <a:cs typeface="微软雅黑"/>
              </a:defRPr>
            </a:pPr>
            <a:r>
              <a:rPr sz="1275">
                <a:solidFill>
                  <a:srgbClr val="1F2937"/>
                </a:solidFill>
                <a:latin typeface="微软雅黑"/>
                <a:ea typeface="微软雅黑"/>
                <a:cs typeface="微软雅黑"/>
              </a:rPr>
              <a:t>heartbeat / critical-event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275">
                <a:solidFill>
                  <a:srgbClr val="1F2937"/>
                </a:solidFill>
                <a:latin typeface="微软雅黑"/>
                <a:ea typeface="微软雅黑"/>
                <a:cs typeface="微软雅黑"/>
              </a:defRPr>
            </a:pPr>
            <a:r>
              <a:rPr sz="1275">
                <a:solidFill>
                  <a:srgbClr val="1F2937"/>
                </a:solidFill>
                <a:latin typeface="微软雅黑"/>
                <a:ea typeface="微软雅黑"/>
                <a:cs typeface="微软雅黑"/>
              </a:rPr>
              <a:t>保留最低限度通告路径</a:t>
            </a:r>
          </a:p>
        </p:txBody>
      </p:sp>
      <p:sp>
        <p:nvSpPr>
          <p:cNvPr id="37" name="protocol-right-body">
            <a:extLst xmlns:a="http://schemas.openxmlformats.org/drawingml/2006/main">
              <a:ext uri="{FF2B5EF4-FFF2-40B4-BE49-F238E27FC236}">
                <a16:creationId xmlns:a16="http://schemas.microsoft.com/office/drawing/2014/main" id="{6F604225-F488-410A-82F8-7DF5681F56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047875"/>
            <a:ext cx="3333750" cy="2238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>
                <a:solidFill>
                  <a:srgbClr val="1F2937"/>
                </a:solidFill>
                <a:latin typeface="微软雅黑"/>
                <a:ea typeface="微软雅黑"/>
                <a:cs typeface="微软雅黑"/>
              </a:defRPr>
            </a:pPr>
            <a:r>
              <a:rPr sz="1275">
                <a:solidFill>
                  <a:srgbClr val="1F2937"/>
                </a:solidFill>
                <a:latin typeface="微软雅黑"/>
                <a:ea typeface="微软雅黑"/>
                <a:cs typeface="微软雅黑"/>
              </a:rPr>
              <a:t>source_time → enqueue_time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275">
                <a:solidFill>
                  <a:srgbClr val="1F2937"/>
                </a:solidFill>
                <a:latin typeface="微软雅黑"/>
                <a:ea typeface="微软雅黑"/>
                <a:cs typeface="微软雅黑"/>
              </a:defRPr>
            </a:pPr>
            <a:r>
              <a:rPr sz="1275">
                <a:solidFill>
                  <a:srgbClr val="1F2937"/>
                </a:solidFill>
                <a:latin typeface="微软雅黑"/>
                <a:ea typeface="微软雅黑"/>
                <a:cs typeface="微软雅黑"/>
              </a:rPr>
              <a:t>→ admit_time → tx_time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275">
                <a:solidFill>
                  <a:srgbClr val="1F2937"/>
                </a:solidFill>
                <a:latin typeface="微软雅黑"/>
                <a:ea typeface="微软雅黑"/>
                <a:cs typeface="微软雅黑"/>
              </a:defRPr>
            </a:pPr>
            <a:r>
              <a:rPr sz="1275">
                <a:solidFill>
                  <a:srgbClr val="1F2937"/>
                </a:solidFill>
                <a:latin typeface="微软雅黑"/>
                <a:ea typeface="微软雅黑"/>
                <a:cs typeface="微软雅黑"/>
              </a:rPr>
              <a:t>→ delivery_time / consume_time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275">
                <a:solidFill>
                  <a:srgbClr val="1F2937"/>
                </a:solidFill>
                <a:latin typeface="微软雅黑"/>
                <a:ea typeface="微软雅黑"/>
                <a:cs typeface="微软雅黑"/>
              </a:defRPr>
            </a:pPr>
            <a:r>
              <a:rPr sz="1275">
                <a:solidFill>
                  <a:srgbClr val="1F2937"/>
                </a:solidFill>
                <a:latin typeface="微软雅黑"/>
                <a:ea typeface="微软雅黑"/>
                <a:cs typeface="微软雅黑"/>
              </a:rPr>
              <a:t>→ drop_time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275">
                <a:solidFill>
                  <a:srgbClr val="1F2937"/>
                </a:solidFill>
                <a:latin typeface="微软雅黑"/>
                <a:ea typeface="微软雅黑"/>
                <a:cs typeface="微软雅黑"/>
              </a:defRPr>
            </a:pPr>
            <a:r>
              <a:rPr sz="1275">
                <a:solidFill>
                  <a:srgbClr val="1F2937"/>
                </a:solidFill>
                <a:latin typeface="微软雅黑"/>
                <a:ea typeface="微软雅黑"/>
                <a:cs typeface="微软雅黑"/>
              </a:rPr>
              <a:t>同时记录 message_id、版本、尝试次数、TTL、重传和过期原因。</a:t>
            </a:r>
          </a:p>
        </p:txBody>
      </p:sp>
      <p:sp>
        <p:nvSpPr>
          <p:cNvPr id="38" name="protocol-arrow">
            <a:extLst xmlns:a="http://schemas.openxmlformats.org/drawingml/2006/main">
              <a:ext uri="{FF2B5EF4-FFF2-40B4-BE49-F238E27FC236}">
                <a16:creationId xmlns:a16="http://schemas.microsoft.com/office/drawing/2014/main" id="{D631AC7E-1CDD-41FC-8E37-10BF8A016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695575"/>
            <a:ext cx="647700" cy="4381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C97A2B"/>
          </a:solidFill>
          <a:ln xmlns:a="http://schemas.openxmlformats.org/drawingml/2006/main" w="0">
            <a:solidFill>
              <a:srgbClr val="C97A2B"/>
            </a:solidFill>
          </a:ln>
        </p:spPr>
      </p:sp>
      <p:sp>
        <p:nvSpPr>
          <p:cNvPr id="39" name="protocol-takeaway">
            <a:extLst xmlns:a="http://schemas.openxmlformats.org/drawingml/2006/main">
              <a:ext uri="{FF2B5EF4-FFF2-40B4-BE49-F238E27FC236}">
                <a16:creationId xmlns:a16="http://schemas.microsoft.com/office/drawing/2014/main" id="{1F3170C6-2276-41E4-B1DF-9ADF3C29F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5286375"/>
            <a:ext cx="8572500" cy="514350"/>
          </a:xfrm>
          <a:prstGeom xmlns:a="http://schemas.openxmlformats.org/drawingml/2006/main" prst="roundRect">
            <a:avLst>
              <a:gd name="adj" fmla="val 5556"/>
            </a:avLst>
          </a:prstGeom>
          <a:solidFill xmlns:a="http://schemas.openxmlformats.org/drawingml/2006/main">
            <a:srgbClr val="123D8D"/>
          </a:solidFill>
          <a:ln xmlns:a="http://schemas.openxmlformats.org/drawingml/2006/main" w="11906">
            <a:solidFill>
              <a:srgbClr val="123D8D"/>
            </a:solidFill>
            <a:prstDash val="solid"/>
          </a:ln>
        </p:spPr>
      </p:sp>
      <p:sp>
        <p:nvSpPr>
          <p:cNvPr id="40" name="protocol-takeaway-text">
            <a:extLst xmlns:a="http://schemas.openxmlformats.org/drawingml/2006/main">
              <a:ext uri="{FF2B5EF4-FFF2-40B4-BE49-F238E27FC236}">
                <a16:creationId xmlns:a16="http://schemas.microsoft.com/office/drawing/2014/main" id="{2BD8CF7F-CBE4-4D52-B5CE-D09C3F0CFA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24075" y="5410200"/>
            <a:ext cx="8229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Wi‑Fi 负责排队、竞争、退避、重传；应用层只控制是否进入发送通道。</a:t>
            </a:r>
          </a:p>
        </p:txBody>
      </p:sp>
    </p:spTree>
    <p:extLst>
      <p:ext uri="{BB962C8B-B14F-4D97-AF65-F5344CB8AC3E}">
        <p14:creationId xmlns:p14="http://schemas.microsoft.com/office/powerpoint/2010/main" val="347632906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7" name="left-nav-bg">
            <a:extLst xmlns:a="http://schemas.openxmlformats.org/drawingml/2006/main">
              <a:ext uri="{FF2B5EF4-FFF2-40B4-BE49-F238E27FC236}">
                <a16:creationId xmlns:a16="http://schemas.microsoft.com/office/drawing/2014/main" id="{3413D371-179F-42AF-B519-EA4A6E06E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906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D8D"/>
          </a:solidFill>
          <a:ln xmlns:a="http://schemas.openxmlformats.org/drawingml/2006/main" w="0">
            <a:solidFill>
              <a:srgbClr val="123D8D"/>
            </a:solidFill>
            <a:prstDash val="solid"/>
          </a:ln>
        </p:spPr>
      </p:sp>
      <p:sp>
        <p:nvSpPr>
          <p:cNvPr id="2" name="nav-label">
            <a:extLst xmlns:a="http://schemas.openxmlformats.org/drawingml/2006/main">
              <a:ext uri="{FF2B5EF4-FFF2-40B4-BE49-F238E27FC236}">
                <a16:creationId xmlns:a16="http://schemas.microsoft.com/office/drawing/2014/main" id="{191986CB-0AE9-4D8A-9D4F-B09D2AE3D9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" y="266700"/>
            <a:ext cx="933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8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近期工作分享</a:t>
            </a:r>
          </a:p>
        </p:txBody>
      </p:sp>
      <p:sp>
        <p:nvSpPr>
          <p:cNvPr id="3" name="nav-0">
            <a:extLst xmlns:a="http://schemas.openxmlformats.org/drawingml/2006/main">
              <a:ext uri="{FF2B5EF4-FFF2-40B4-BE49-F238E27FC236}">
                <a16:creationId xmlns:a16="http://schemas.microsoft.com/office/drawing/2014/main" id="{8016F1B0-110D-4563-B015-E806F9D1E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" y="2095500"/>
            <a:ext cx="8763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4F9A"/>
          </a:solidFill>
          <a:ln xmlns:a="http://schemas.openxmlformats.org/drawingml/2006/main" w="9525">
            <a:solidFill>
              <a:srgbClr val="3169AA"/>
            </a:solidFill>
            <a:prstDash val="solid"/>
          </a:ln>
        </p:spPr>
      </p:sp>
      <p:sp>
        <p:nvSpPr>
          <p:cNvPr id="4" name="nav-text-0">
            <a:extLst xmlns:a="http://schemas.openxmlformats.org/drawingml/2006/main">
              <a:ext uri="{FF2B5EF4-FFF2-40B4-BE49-F238E27FC236}">
                <a16:creationId xmlns:a16="http://schemas.microsoft.com/office/drawing/2014/main" id="{E3805088-7099-4374-A75F-5DFC61942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" y="2181225"/>
            <a:ext cx="8191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38" b="0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938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问题提出</a:t>
            </a:r>
          </a:p>
        </p:txBody>
      </p:sp>
      <p:sp>
        <p:nvSpPr>
          <p:cNvPr id="5" name="nav-1">
            <a:extLst xmlns:a="http://schemas.openxmlformats.org/drawingml/2006/main">
              <a:ext uri="{FF2B5EF4-FFF2-40B4-BE49-F238E27FC236}">
                <a16:creationId xmlns:a16="http://schemas.microsoft.com/office/drawing/2014/main" id="{776CEA64-9C5F-4184-AA78-228E888D8C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" y="2562225"/>
            <a:ext cx="8763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4F9A"/>
          </a:solidFill>
          <a:ln xmlns:a="http://schemas.openxmlformats.org/drawingml/2006/main" w="9525">
            <a:solidFill>
              <a:srgbClr val="3169AA"/>
            </a:solidFill>
            <a:prstDash val="solid"/>
          </a:ln>
        </p:spPr>
      </p:sp>
      <p:sp>
        <p:nvSpPr>
          <p:cNvPr id="6" name="nav-text-1">
            <a:extLst xmlns:a="http://schemas.openxmlformats.org/drawingml/2006/main">
              <a:ext uri="{FF2B5EF4-FFF2-40B4-BE49-F238E27FC236}">
                <a16:creationId xmlns:a16="http://schemas.microsoft.com/office/drawing/2014/main" id="{ECE73AC3-278F-485F-A685-07E8853353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" y="2647950"/>
            <a:ext cx="8191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38" b="0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938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文献调研</a:t>
            </a:r>
          </a:p>
        </p:txBody>
      </p:sp>
      <p:sp>
        <p:nvSpPr>
          <p:cNvPr id="7" name="nav-2">
            <a:extLst xmlns:a="http://schemas.openxmlformats.org/drawingml/2006/main">
              <a:ext uri="{FF2B5EF4-FFF2-40B4-BE49-F238E27FC236}">
                <a16:creationId xmlns:a16="http://schemas.microsoft.com/office/drawing/2014/main" id="{DDB4F678-F243-49BD-9CA0-B21A339091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" y="3028950"/>
            <a:ext cx="8763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7FD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8" name="nav-text-2">
            <a:extLst xmlns:a="http://schemas.openxmlformats.org/drawingml/2006/main">
              <a:ext uri="{FF2B5EF4-FFF2-40B4-BE49-F238E27FC236}">
                <a16:creationId xmlns:a16="http://schemas.microsoft.com/office/drawing/2014/main" id="{5BA5A1EE-1412-4C7D-952B-EECDE88FA0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" y="3114675"/>
            <a:ext cx="8191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38" b="1">
                <a:solidFill>
                  <a:srgbClr val="123D8D"/>
                </a:solidFill>
                <a:latin typeface="微软雅黑"/>
                <a:ea typeface="微软雅黑"/>
                <a:cs typeface="微软雅黑"/>
              </a:defRPr>
            </a:pPr>
            <a:r>
              <a:rPr sz="938" b="1">
                <a:solidFill>
                  <a:srgbClr val="123D8D"/>
                </a:solidFill>
                <a:latin typeface="微软雅黑"/>
                <a:ea typeface="微软雅黑"/>
                <a:cs typeface="微软雅黑"/>
              </a:rPr>
              <a:t>方法与路线</a:t>
            </a:r>
          </a:p>
        </p:txBody>
      </p:sp>
      <p:sp>
        <p:nvSpPr>
          <p:cNvPr id="9" name="nav-3">
            <a:extLst xmlns:a="http://schemas.openxmlformats.org/drawingml/2006/main">
              <a:ext uri="{FF2B5EF4-FFF2-40B4-BE49-F238E27FC236}">
                <a16:creationId xmlns:a16="http://schemas.microsoft.com/office/drawing/2014/main" id="{CF33EC08-5446-47F7-9469-2F24C46944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" y="3495675"/>
            <a:ext cx="8763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4F9A"/>
          </a:solidFill>
          <a:ln xmlns:a="http://schemas.openxmlformats.org/drawingml/2006/main" w="9525">
            <a:solidFill>
              <a:srgbClr val="3169AA"/>
            </a:solidFill>
            <a:prstDash val="solid"/>
          </a:ln>
        </p:spPr>
      </p:sp>
      <p:sp>
        <p:nvSpPr>
          <p:cNvPr id="10" name="nav-text-3">
            <a:extLst xmlns:a="http://schemas.openxmlformats.org/drawingml/2006/main">
              <a:ext uri="{FF2B5EF4-FFF2-40B4-BE49-F238E27FC236}">
                <a16:creationId xmlns:a16="http://schemas.microsoft.com/office/drawing/2014/main" id="{F1BBDCAC-57BF-4F86-A97F-5D7DEE095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" y="3581400"/>
            <a:ext cx="8191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38" b="0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938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已完成工作</a:t>
            </a:r>
          </a:p>
        </p:txBody>
      </p:sp>
      <p:sp>
        <p:nvSpPr>
          <p:cNvPr id="11" name="nav-4">
            <a:extLst xmlns:a="http://schemas.openxmlformats.org/drawingml/2006/main">
              <a:ext uri="{FF2B5EF4-FFF2-40B4-BE49-F238E27FC236}">
                <a16:creationId xmlns:a16="http://schemas.microsoft.com/office/drawing/2014/main" id="{2B4F8C05-FC89-4DE0-B1C9-FE74C85C32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" y="3962400"/>
            <a:ext cx="8763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4F9A"/>
          </a:solidFill>
          <a:ln xmlns:a="http://schemas.openxmlformats.org/drawingml/2006/main" w="9525">
            <a:solidFill>
              <a:srgbClr val="3169AA"/>
            </a:solidFill>
            <a:prstDash val="solid"/>
          </a:ln>
        </p:spPr>
      </p:sp>
      <p:sp>
        <p:nvSpPr>
          <p:cNvPr id="12" name="nav-text-4">
            <a:extLst xmlns:a="http://schemas.openxmlformats.org/drawingml/2006/main">
              <a:ext uri="{FF2B5EF4-FFF2-40B4-BE49-F238E27FC236}">
                <a16:creationId xmlns:a16="http://schemas.microsoft.com/office/drawing/2014/main" id="{772BADB5-A2B9-4F61-BE4A-DAD1AE1FC9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" y="4048125"/>
            <a:ext cx="8191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38" b="0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938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演示安排</a:t>
            </a:r>
          </a:p>
        </p:txBody>
      </p:sp>
      <p:sp>
        <p:nvSpPr>
          <p:cNvPr id="13" name="nav-5">
            <a:extLst xmlns:a="http://schemas.openxmlformats.org/drawingml/2006/main">
              <a:ext uri="{FF2B5EF4-FFF2-40B4-BE49-F238E27FC236}">
                <a16:creationId xmlns:a16="http://schemas.microsoft.com/office/drawing/2014/main" id="{5C080286-5202-4996-92F1-409DD274A2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" y="4429125"/>
            <a:ext cx="8763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4F9A"/>
          </a:solidFill>
          <a:ln xmlns:a="http://schemas.openxmlformats.org/drawingml/2006/main" w="9525">
            <a:solidFill>
              <a:srgbClr val="3169AA"/>
            </a:solidFill>
            <a:prstDash val="solid"/>
          </a:ln>
        </p:spPr>
      </p:sp>
      <p:sp>
        <p:nvSpPr>
          <p:cNvPr id="14" name="nav-text-5">
            <a:extLst xmlns:a="http://schemas.openxmlformats.org/drawingml/2006/main">
              <a:ext uri="{FF2B5EF4-FFF2-40B4-BE49-F238E27FC236}">
                <a16:creationId xmlns:a16="http://schemas.microsoft.com/office/drawing/2014/main" id="{C2085408-FF08-431F-B28E-663476340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" y="4514850"/>
            <a:ext cx="8191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38" b="0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938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反思讨论</a:t>
            </a:r>
          </a:p>
        </p:txBody>
      </p:sp>
      <p:sp>
        <p:nvSpPr>
          <p:cNvPr id="15" name="title-square">
            <a:extLst xmlns:a="http://schemas.openxmlformats.org/drawingml/2006/main">
              <a:ext uri="{FF2B5EF4-FFF2-40B4-BE49-F238E27FC236}">
                <a16:creationId xmlns:a16="http://schemas.microsoft.com/office/drawing/2014/main" id="{C8C0E237-D33B-4BA6-BC4B-471DCB33A8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28600"/>
            <a:ext cx="1143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D8D"/>
          </a:solidFill>
          <a:ln xmlns:a="http://schemas.openxmlformats.org/drawingml/2006/main" w="0">
            <a:solidFill>
              <a:srgbClr val="123D8D"/>
            </a:solidFill>
            <a:prstDash val="solid"/>
          </a:ln>
        </p:spPr>
      </p:sp>
      <p:sp>
        <p:nvSpPr>
          <p:cNvPr id="16" name="slide-title">
            <a:extLst xmlns:a="http://schemas.openxmlformats.org/drawingml/2006/main">
              <a:ext uri="{FF2B5EF4-FFF2-40B4-BE49-F238E27FC236}">
                <a16:creationId xmlns:a16="http://schemas.microsoft.com/office/drawing/2014/main" id="{3FDB6B0A-07B1-4E33-A76D-CE3504ADFE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161925"/>
            <a:ext cx="83343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1667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0B2F6B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1">
                <a:solidFill>
                  <a:srgbClr val="0B2F6B"/>
                </a:solidFill>
                <a:latin typeface="微软雅黑"/>
                <a:ea typeface="微软雅黑"/>
                <a:cs typeface="微软雅黑"/>
              </a:rPr>
              <a:t>3.3  从仿真到实物的 P0–P8 路线</a:t>
            </a:r>
          </a:p>
        </p:txBody>
      </p:sp>
      <p:sp>
        <p:nvSpPr>
          <p:cNvPr id="17" name="title-rule">
            <a:extLst xmlns:a="http://schemas.openxmlformats.org/drawingml/2006/main">
              <a:ext uri="{FF2B5EF4-FFF2-40B4-BE49-F238E27FC236}">
                <a16:creationId xmlns:a16="http://schemas.microsoft.com/office/drawing/2014/main" id="{3D4EB8DC-4A9C-4F22-A5BB-AA5B963A20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590550"/>
            <a:ext cx="87153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D8D"/>
          </a:solidFill>
          <a:ln xmlns:a="http://schemas.openxmlformats.org/drawingml/2006/main" w="0">
            <a:solidFill>
              <a:srgbClr val="123D8D"/>
            </a:solidFill>
            <a:prstDash val="solid"/>
          </a:ln>
        </p:spPr>
      </p:sp>
      <p:pic>
        <p:nvPicPr>
          <p:cNvPr id="107" name="图片 7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d286ab86efc4c9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220791" y="66675"/>
            <a:ext cx="1608794" cy="514350"/>
          </a:xfrm>
          <a:prstGeom xmlns:a="http://schemas.openxmlformats.org/drawingml/2006/main" prst="rect">
            <a:avLst/>
          </a:prstGeom>
        </p:spPr>
      </p:pic>
      <p:sp>
        <p:nvSpPr>
          <p:cNvPr id="19" name="page-number">
            <a:extLst xmlns:a="http://schemas.openxmlformats.org/drawingml/2006/main">
              <a:ext uri="{FF2B5EF4-FFF2-40B4-BE49-F238E27FC236}">
                <a16:creationId xmlns:a16="http://schemas.microsoft.com/office/drawing/2014/main" id="{F2193C27-C303-41BE-AEBA-503EF92677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2375" y="6486525"/>
            <a:ext cx="47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7A8894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7A8894"/>
                </a:solidFill>
                <a:latin typeface="Arial"/>
                <a:ea typeface="Arial"/>
                <a:cs typeface="Arial"/>
              </a:rPr>
              <a:t>12</a:t>
            </a:r>
          </a:p>
        </p:txBody>
      </p:sp>
      <p:sp>
        <p:nvSpPr>
          <p:cNvPr id="20" name="citation-footer">
            <a:extLst xmlns:a="http://schemas.openxmlformats.org/drawingml/2006/main">
              <a:ext uri="{FF2B5EF4-FFF2-40B4-BE49-F238E27FC236}">
                <a16:creationId xmlns:a16="http://schemas.microsoft.com/office/drawing/2014/main" id="{BACF2A39-AAC0-44A4-A1A9-A28B113A92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6457950"/>
            <a:ext cx="495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0834"/>
          </a:bodyPr>
          <a:lstStyle xmlns:a="http://schemas.openxmlformats.org/drawingml/2006/main"/>
          <a:p xmlns:a="http://schemas.openxmlformats.org/drawingml/2006/main">
            <a:pPr algn="l">
              <a:buNone/>
              <a:defRPr sz="863" b="0">
                <a:solidFill>
                  <a:srgbClr val="7A8894"/>
                </a:solidFill>
                <a:latin typeface="微软雅黑"/>
                <a:ea typeface="微软雅黑"/>
                <a:cs typeface="微软雅黑"/>
              </a:defRPr>
            </a:pPr>
            <a:r>
              <a:rPr sz="863" b="0">
                <a:solidFill>
                  <a:srgbClr val="7A8894"/>
                </a:solidFill>
                <a:latin typeface="微软雅黑"/>
                <a:ea typeface="微软雅黑"/>
                <a:cs typeface="微软雅黑"/>
              </a:rPr>
              <a:t>方法与路线 · 先把任务和证据链站稳，再决定是否需要 RL</a:t>
            </a:r>
          </a:p>
        </p:txBody>
      </p:sp>
      <p:sp>
        <p:nvSpPr>
          <p:cNvPr id="59" name="phase-node-0">
            <a:extLst xmlns:a="http://schemas.openxmlformats.org/drawingml/2006/main">
              <a:ext uri="{FF2B5EF4-FFF2-40B4-BE49-F238E27FC236}">
                <a16:creationId xmlns:a16="http://schemas.microsoft.com/office/drawing/2014/main" id="{5592FC69-EFDB-4C88-8CC0-3FC899DA67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1476375"/>
            <a:ext cx="1809750" cy="2143125"/>
          </a:xfrm>
          <a:prstGeom xmlns:a="http://schemas.openxmlformats.org/drawingml/2006/main" prst="roundRect">
            <a:avLst>
              <a:gd name="adj" fmla="val 3158"/>
            </a:avLst>
          </a:prstGeom>
          <a:solidFill xmlns:a="http://schemas.openxmlformats.org/drawingml/2006/main">
            <a:srgbClr val="EEF7FD"/>
          </a:solidFill>
          <a:ln xmlns:a="http://schemas.openxmlformats.org/drawingml/2006/main" w="11906">
            <a:solidFill>
              <a:srgbClr val="123D8D"/>
            </a:solidFill>
            <a:prstDash val="solid"/>
          </a:ln>
        </p:spPr>
      </p:sp>
      <p:sp>
        <p:nvSpPr>
          <p:cNvPr id="60" name="phase-no-0">
            <a:extLst xmlns:a="http://schemas.openxmlformats.org/drawingml/2006/main">
              <a:ext uri="{FF2B5EF4-FFF2-40B4-BE49-F238E27FC236}">
                <a16:creationId xmlns:a16="http://schemas.microsoft.com/office/drawing/2014/main" id="{5CBAEFEF-5868-4383-9FCC-99BBCF6995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2575" y="1666875"/>
            <a:ext cx="457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7778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23D8D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23D8D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61" name="phase-label-0">
            <a:extLst xmlns:a="http://schemas.openxmlformats.org/drawingml/2006/main">
              <a:ext uri="{FF2B5EF4-FFF2-40B4-BE49-F238E27FC236}">
                <a16:creationId xmlns:a16="http://schemas.microsoft.com/office/drawing/2014/main" id="{92DC1B7A-C85F-417E-BBC8-4A7D0129E7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71675" y="1666875"/>
            <a:ext cx="1000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123D8D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23D8D"/>
                </a:solidFill>
                <a:latin typeface="Arial"/>
                <a:ea typeface="Arial"/>
                <a:cs typeface="Arial"/>
              </a:rPr>
              <a:t>P0–P2</a:t>
            </a:r>
          </a:p>
        </p:txBody>
      </p:sp>
      <p:sp>
        <p:nvSpPr>
          <p:cNvPr id="62" name="phase-title-0">
            <a:extLst xmlns:a="http://schemas.openxmlformats.org/drawingml/2006/main">
              <a:ext uri="{FF2B5EF4-FFF2-40B4-BE49-F238E27FC236}">
                <a16:creationId xmlns:a16="http://schemas.microsoft.com/office/drawing/2014/main" id="{1BFB16AC-ABAD-4D16-81BE-A01ECA4CBF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5425" y="2238375"/>
            <a:ext cx="15811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B2F6B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0B2F6B"/>
                </a:solidFill>
                <a:latin typeface="微软雅黑"/>
                <a:ea typeface="微软雅黑"/>
                <a:cs typeface="微软雅黑"/>
              </a:rPr>
              <a:t>任务基线</a:t>
            </a:r>
          </a:p>
        </p:txBody>
      </p:sp>
      <p:sp>
        <p:nvSpPr>
          <p:cNvPr id="63" name="phase-desc-0">
            <a:extLst xmlns:a="http://schemas.openxmlformats.org/drawingml/2006/main">
              <a:ext uri="{FF2B5EF4-FFF2-40B4-BE49-F238E27FC236}">
                <a16:creationId xmlns:a16="http://schemas.microsoft.com/office/drawing/2014/main" id="{201EF7E9-B33D-4B74-8C97-A3285A7354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4475" y="2857500"/>
            <a:ext cx="15430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63">
                <a:solidFill>
                  <a:srgbClr val="1F2937"/>
                </a:solidFill>
                <a:latin typeface="微软雅黑"/>
                <a:ea typeface="微软雅黑"/>
                <a:cs typeface="微软雅黑"/>
              </a:defRPr>
            </a:pPr>
            <a:r>
              <a:rPr sz="1163">
                <a:solidFill>
                  <a:srgbClr val="1F2937"/>
                </a:solidFill>
                <a:latin typeface="微软雅黑"/>
                <a:ea typeface="微软雅黑"/>
                <a:cs typeface="微软雅黑"/>
              </a:rPr>
              <a:t>场景、探索、目标、集合、充电</a:t>
            </a:r>
          </a:p>
        </p:txBody>
      </p:sp>
      <p:sp>
        <p:nvSpPr>
          <p:cNvPr id="64" name="phase-arrow-0">
            <a:extLst xmlns:a="http://schemas.openxmlformats.org/drawingml/2006/main">
              <a:ext uri="{FF2B5EF4-FFF2-40B4-BE49-F238E27FC236}">
                <a16:creationId xmlns:a16="http://schemas.microsoft.com/office/drawing/2014/main" id="{50299D13-9F6B-4B36-AFB7-74D30200D6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28975" y="2362200"/>
            <a:ext cx="22860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B4F9A"/>
          </a:solidFill>
          <a:ln xmlns:a="http://schemas.openxmlformats.org/drawingml/2006/main" w="0">
            <a:solidFill>
              <a:srgbClr val="1B4F9A"/>
            </a:solidFill>
          </a:ln>
        </p:spPr>
      </p:sp>
      <p:sp>
        <p:nvSpPr>
          <p:cNvPr id="65" name="phase-node-1">
            <a:extLst xmlns:a="http://schemas.openxmlformats.org/drawingml/2006/main">
              <a:ext uri="{FF2B5EF4-FFF2-40B4-BE49-F238E27FC236}">
                <a16:creationId xmlns:a16="http://schemas.microsoft.com/office/drawing/2014/main" id="{E64846DB-2BE5-4BEF-9894-00A8AFDA92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1476375"/>
            <a:ext cx="1809750" cy="2143125"/>
          </a:xfrm>
          <a:prstGeom xmlns:a="http://schemas.openxmlformats.org/drawingml/2006/main" prst="roundRect">
            <a:avLst>
              <a:gd name="adj" fmla="val 3158"/>
            </a:avLst>
          </a:prstGeom>
          <a:solidFill xmlns:a="http://schemas.openxmlformats.org/drawingml/2006/main">
            <a:srgbClr val="E7F4EB"/>
          </a:solidFill>
          <a:ln xmlns:a="http://schemas.openxmlformats.org/drawingml/2006/main" w="11906">
            <a:solidFill>
              <a:srgbClr val="4C8A5A"/>
            </a:solidFill>
            <a:prstDash val="solid"/>
          </a:ln>
        </p:spPr>
      </p:sp>
      <p:sp>
        <p:nvSpPr>
          <p:cNvPr id="66" name="phase-no-1">
            <a:extLst xmlns:a="http://schemas.openxmlformats.org/drawingml/2006/main">
              <a:ext uri="{FF2B5EF4-FFF2-40B4-BE49-F238E27FC236}">
                <a16:creationId xmlns:a16="http://schemas.microsoft.com/office/drawing/2014/main" id="{1CD5F465-4DC7-4BCE-96BB-DE30931816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48075" y="1666875"/>
            <a:ext cx="457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7778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4C8A5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4C8A5A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67" name="phase-label-1">
            <a:extLst xmlns:a="http://schemas.openxmlformats.org/drawingml/2006/main">
              <a:ext uri="{FF2B5EF4-FFF2-40B4-BE49-F238E27FC236}">
                <a16:creationId xmlns:a16="http://schemas.microsoft.com/office/drawing/2014/main" id="{6EB7EC7F-6EC3-45D8-8325-FD0A9FBBA2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67175" y="1666875"/>
            <a:ext cx="1000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4C8A5A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4C8A5A"/>
                </a:solidFill>
                <a:latin typeface="Arial"/>
                <a:ea typeface="Arial"/>
                <a:cs typeface="Arial"/>
              </a:rPr>
              <a:t>P3A–P3C</a:t>
            </a:r>
          </a:p>
        </p:txBody>
      </p:sp>
      <p:sp>
        <p:nvSpPr>
          <p:cNvPr id="68" name="phase-title-1">
            <a:extLst xmlns:a="http://schemas.openxmlformats.org/drawingml/2006/main">
              <a:ext uri="{FF2B5EF4-FFF2-40B4-BE49-F238E27FC236}">
                <a16:creationId xmlns:a16="http://schemas.microsoft.com/office/drawing/2014/main" id="{4691E9AD-02EB-42CA-AB17-7BAFE8D0B0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0925" y="2238375"/>
            <a:ext cx="15811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B2F6B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0B2F6B"/>
                </a:solidFill>
                <a:latin typeface="微软雅黑"/>
                <a:ea typeface="微软雅黑"/>
                <a:cs typeface="微软雅黑"/>
              </a:rPr>
              <a:t>协议审计</a:t>
            </a:r>
          </a:p>
        </p:txBody>
      </p:sp>
      <p:sp>
        <p:nvSpPr>
          <p:cNvPr id="69" name="phase-desc-1">
            <a:extLst xmlns:a="http://schemas.openxmlformats.org/drawingml/2006/main">
              <a:ext uri="{FF2B5EF4-FFF2-40B4-BE49-F238E27FC236}">
                <a16:creationId xmlns:a16="http://schemas.microsoft.com/office/drawing/2014/main" id="{D918EF01-634D-4DA0-AB51-CA4B237196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9975" y="2857500"/>
            <a:ext cx="15430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63">
                <a:solidFill>
                  <a:srgbClr val="1F2937"/>
                </a:solidFill>
                <a:latin typeface="微软雅黑"/>
                <a:ea typeface="微软雅黑"/>
                <a:cs typeface="微软雅黑"/>
              </a:defRPr>
            </a:pPr>
            <a:r>
              <a:rPr sz="1163">
                <a:solidFill>
                  <a:srgbClr val="1F2937"/>
                </a:solidFill>
                <a:latin typeface="微软雅黑"/>
                <a:ea typeface="微软雅黑"/>
                <a:cs typeface="微软雅黑"/>
              </a:rPr>
              <a:t>gateway、fault、账本、stale-state</a:t>
            </a:r>
          </a:p>
        </p:txBody>
      </p:sp>
      <p:sp>
        <p:nvSpPr>
          <p:cNvPr id="70" name="phase-arrow-1">
            <a:extLst xmlns:a="http://schemas.openxmlformats.org/drawingml/2006/main">
              <a:ext uri="{FF2B5EF4-FFF2-40B4-BE49-F238E27FC236}">
                <a16:creationId xmlns:a16="http://schemas.microsoft.com/office/drawing/2014/main" id="{3BF29864-8217-4112-B2DD-4BEF1ED29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24475" y="2362200"/>
            <a:ext cx="22860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B4F9A"/>
          </a:solidFill>
          <a:ln xmlns:a="http://schemas.openxmlformats.org/drawingml/2006/main" w="0">
            <a:solidFill>
              <a:srgbClr val="1B4F9A"/>
            </a:solidFill>
          </a:ln>
        </p:spPr>
      </p:sp>
      <p:sp>
        <p:nvSpPr>
          <p:cNvPr id="71" name="phase-node-2">
            <a:extLst xmlns:a="http://schemas.openxmlformats.org/drawingml/2006/main">
              <a:ext uri="{FF2B5EF4-FFF2-40B4-BE49-F238E27FC236}">
                <a16:creationId xmlns:a16="http://schemas.microsoft.com/office/drawing/2014/main" id="{2FE5BD0E-3C08-48AA-865B-115D83624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25" y="1476375"/>
            <a:ext cx="1809750" cy="2143125"/>
          </a:xfrm>
          <a:prstGeom xmlns:a="http://schemas.openxmlformats.org/drawingml/2006/main" prst="roundRect">
            <a:avLst>
              <a:gd name="adj" fmla="val 3158"/>
            </a:avLst>
          </a:prstGeom>
          <a:solidFill xmlns:a="http://schemas.openxmlformats.org/drawingml/2006/main">
            <a:srgbClr val="FFF2E3"/>
          </a:solidFill>
          <a:ln xmlns:a="http://schemas.openxmlformats.org/drawingml/2006/main" w="11906">
            <a:solidFill>
              <a:srgbClr val="C97A2B"/>
            </a:solidFill>
            <a:prstDash val="solid"/>
          </a:ln>
        </p:spPr>
      </p:sp>
      <p:sp>
        <p:nvSpPr>
          <p:cNvPr id="72" name="phase-no-2">
            <a:extLst xmlns:a="http://schemas.openxmlformats.org/drawingml/2006/main">
              <a:ext uri="{FF2B5EF4-FFF2-40B4-BE49-F238E27FC236}">
                <a16:creationId xmlns:a16="http://schemas.microsoft.com/office/drawing/2014/main" id="{CCF8FA5F-E6B9-46ED-978D-80737AEDA7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3575" y="1666875"/>
            <a:ext cx="457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7778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C97A2B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C97A2B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73" name="phase-label-2">
            <a:extLst xmlns:a="http://schemas.openxmlformats.org/drawingml/2006/main">
              <a:ext uri="{FF2B5EF4-FFF2-40B4-BE49-F238E27FC236}">
                <a16:creationId xmlns:a16="http://schemas.microsoft.com/office/drawing/2014/main" id="{53AC919F-9FF7-4916-8C88-B6ECA4E0B5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1666875"/>
            <a:ext cx="1000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C97A2B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C97A2B"/>
                </a:solidFill>
                <a:latin typeface="Arial"/>
                <a:ea typeface="Arial"/>
                <a:cs typeface="Arial"/>
              </a:rPr>
              <a:t>P4</a:t>
            </a:r>
          </a:p>
        </p:txBody>
      </p:sp>
      <p:sp>
        <p:nvSpPr>
          <p:cNvPr id="74" name="phase-title-2">
            <a:extLst xmlns:a="http://schemas.openxmlformats.org/drawingml/2006/main">
              <a:ext uri="{FF2B5EF4-FFF2-40B4-BE49-F238E27FC236}">
                <a16:creationId xmlns:a16="http://schemas.microsoft.com/office/drawing/2014/main" id="{B2D4FD94-3C04-47B4-A94A-109230496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86425" y="2238375"/>
            <a:ext cx="15811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B2F6B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0B2F6B"/>
                </a:solidFill>
                <a:latin typeface="微软雅黑"/>
                <a:ea typeface="微软雅黑"/>
                <a:cs typeface="微软雅黑"/>
              </a:rPr>
              <a:t>Wi‑Fi 耦合</a:t>
            </a:r>
          </a:p>
        </p:txBody>
      </p:sp>
      <p:sp>
        <p:nvSpPr>
          <p:cNvPr id="75" name="phase-desc-2">
            <a:extLst xmlns:a="http://schemas.openxmlformats.org/drawingml/2006/main">
              <a:ext uri="{FF2B5EF4-FFF2-40B4-BE49-F238E27FC236}">
                <a16:creationId xmlns:a16="http://schemas.microsoft.com/office/drawing/2014/main" id="{E57E3917-13F8-4BCD-A926-812F0211C0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05475" y="2857500"/>
            <a:ext cx="15430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63">
                <a:solidFill>
                  <a:srgbClr val="1F2937"/>
                </a:solidFill>
                <a:latin typeface="微软雅黑"/>
                <a:ea typeface="微软雅黑"/>
                <a:cs typeface="微软雅黑"/>
              </a:defRPr>
            </a:pPr>
            <a:r>
              <a:rPr sz="1163">
                <a:solidFill>
                  <a:srgbClr val="1F2937"/>
                </a:solidFill>
                <a:latin typeface="微软雅黑"/>
                <a:ea typeface="微软雅黑"/>
                <a:cs typeface="微软雅黑"/>
              </a:rPr>
              <a:t>时间、字节、位置与 ns-3 对账</a:t>
            </a:r>
          </a:p>
        </p:txBody>
      </p:sp>
      <p:sp>
        <p:nvSpPr>
          <p:cNvPr id="76" name="phase-arrow-2">
            <a:extLst xmlns:a="http://schemas.openxmlformats.org/drawingml/2006/main">
              <a:ext uri="{FF2B5EF4-FFF2-40B4-BE49-F238E27FC236}">
                <a16:creationId xmlns:a16="http://schemas.microsoft.com/office/drawing/2014/main" id="{7B3B962E-F74E-4C8E-9B18-BA38B9DEFE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9975" y="2362200"/>
            <a:ext cx="22860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B4F9A"/>
          </a:solidFill>
          <a:ln xmlns:a="http://schemas.openxmlformats.org/drawingml/2006/main" w="0">
            <a:solidFill>
              <a:srgbClr val="1B4F9A"/>
            </a:solidFill>
          </a:ln>
        </p:spPr>
      </p:sp>
      <p:sp>
        <p:nvSpPr>
          <p:cNvPr id="77" name="phase-node-3">
            <a:extLst xmlns:a="http://schemas.openxmlformats.org/drawingml/2006/main">
              <a:ext uri="{FF2B5EF4-FFF2-40B4-BE49-F238E27FC236}">
                <a16:creationId xmlns:a16="http://schemas.microsoft.com/office/drawing/2014/main" id="{A60E89E7-21C6-4167-9F27-3F9837D275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1476375"/>
            <a:ext cx="1809750" cy="2143125"/>
          </a:xfrm>
          <a:prstGeom xmlns:a="http://schemas.openxmlformats.org/drawingml/2006/main" prst="roundRect">
            <a:avLst>
              <a:gd name="adj" fmla="val 3158"/>
            </a:avLst>
          </a:prstGeom>
          <a:solidFill xmlns:a="http://schemas.openxmlformats.org/drawingml/2006/main">
            <a:srgbClr val="FBE9EB"/>
          </a:solidFill>
          <a:ln xmlns:a="http://schemas.openxmlformats.org/drawingml/2006/main" w="11906">
            <a:solidFill>
              <a:srgbClr val="C7333E"/>
            </a:solidFill>
            <a:prstDash val="solid"/>
          </a:ln>
        </p:spPr>
      </p:sp>
      <p:sp>
        <p:nvSpPr>
          <p:cNvPr id="78" name="phase-no-3">
            <a:extLst xmlns:a="http://schemas.openxmlformats.org/drawingml/2006/main">
              <a:ext uri="{FF2B5EF4-FFF2-40B4-BE49-F238E27FC236}">
                <a16:creationId xmlns:a16="http://schemas.microsoft.com/office/drawing/2014/main" id="{E70347D0-CF8C-42D2-AD0F-A27A446106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39075" y="1666875"/>
            <a:ext cx="457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7778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C7333E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C7333E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79" name="phase-label-3">
            <a:extLst xmlns:a="http://schemas.openxmlformats.org/drawingml/2006/main">
              <a:ext uri="{FF2B5EF4-FFF2-40B4-BE49-F238E27FC236}">
                <a16:creationId xmlns:a16="http://schemas.microsoft.com/office/drawing/2014/main" id="{D38F7F9E-B3A2-443E-B524-DA0659EB8D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8175" y="1666875"/>
            <a:ext cx="1000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C7333E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C7333E"/>
                </a:solidFill>
                <a:latin typeface="Arial"/>
                <a:ea typeface="Arial"/>
                <a:cs typeface="Arial"/>
              </a:rPr>
              <a:t>P5</a:t>
            </a:r>
          </a:p>
        </p:txBody>
      </p:sp>
      <p:sp>
        <p:nvSpPr>
          <p:cNvPr id="80" name="phase-title-3">
            <a:extLst xmlns:a="http://schemas.openxmlformats.org/drawingml/2006/main">
              <a:ext uri="{FF2B5EF4-FFF2-40B4-BE49-F238E27FC236}">
                <a16:creationId xmlns:a16="http://schemas.microsoft.com/office/drawing/2014/main" id="{0E2B8369-09E4-49F8-A6F8-85AA8110B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81925" y="2238375"/>
            <a:ext cx="15811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B2F6B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0B2F6B"/>
                </a:solidFill>
                <a:latin typeface="微软雅黑"/>
                <a:ea typeface="微软雅黑"/>
                <a:cs typeface="微软雅黑"/>
              </a:rPr>
              <a:t>go / no-go</a:t>
            </a:r>
          </a:p>
        </p:txBody>
      </p:sp>
      <p:sp>
        <p:nvSpPr>
          <p:cNvPr id="81" name="phase-desc-3">
            <a:extLst xmlns:a="http://schemas.openxmlformats.org/drawingml/2006/main">
              <a:ext uri="{FF2B5EF4-FFF2-40B4-BE49-F238E27FC236}">
                <a16:creationId xmlns:a16="http://schemas.microsoft.com/office/drawing/2014/main" id="{C38C1AE5-130C-48C7-BED7-A2DDFD38BD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00975" y="2857500"/>
            <a:ext cx="15430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63">
                <a:solidFill>
                  <a:srgbClr val="1F2937"/>
                </a:solidFill>
                <a:latin typeface="微软雅黑"/>
                <a:ea typeface="微软雅黑"/>
                <a:cs typeface="微软雅黑"/>
              </a:defRPr>
            </a:pPr>
            <a:r>
              <a:rPr sz="1163">
                <a:solidFill>
                  <a:srgbClr val="1F2937"/>
                </a:solidFill>
                <a:latin typeface="微软雅黑"/>
                <a:ea typeface="微软雅黑"/>
                <a:cs typeface="微软雅黑"/>
              </a:rPr>
              <a:t>真实负载 + 强基线 + RL 判断</a:t>
            </a:r>
          </a:p>
        </p:txBody>
      </p:sp>
      <p:sp>
        <p:nvSpPr>
          <p:cNvPr id="82" name="phase-arrow-3">
            <a:extLst xmlns:a="http://schemas.openxmlformats.org/drawingml/2006/main">
              <a:ext uri="{FF2B5EF4-FFF2-40B4-BE49-F238E27FC236}">
                <a16:creationId xmlns:a16="http://schemas.microsoft.com/office/drawing/2014/main" id="{053A899D-FD7F-480F-9A29-4AE0A1AA47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15475" y="2362200"/>
            <a:ext cx="22860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B4F9A"/>
          </a:solidFill>
          <a:ln xmlns:a="http://schemas.openxmlformats.org/drawingml/2006/main" w="0">
            <a:solidFill>
              <a:srgbClr val="1B4F9A"/>
            </a:solidFill>
          </a:ln>
        </p:spPr>
      </p:sp>
      <p:sp>
        <p:nvSpPr>
          <p:cNvPr id="83" name="phase-node-4">
            <a:extLst xmlns:a="http://schemas.openxmlformats.org/drawingml/2006/main">
              <a:ext uri="{FF2B5EF4-FFF2-40B4-BE49-F238E27FC236}">
                <a16:creationId xmlns:a16="http://schemas.microsoft.com/office/drawing/2014/main" id="{A01D8DFE-B9F8-45D7-B558-BB99858B5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3125" y="1476375"/>
            <a:ext cx="1714500" cy="2143125"/>
          </a:xfrm>
          <a:prstGeom xmlns:a="http://schemas.openxmlformats.org/drawingml/2006/main" prst="roundRect">
            <a:avLst>
              <a:gd name="adj" fmla="val 3333"/>
            </a:avLst>
          </a:prstGeom>
          <a:solidFill xmlns:a="http://schemas.openxmlformats.org/drawingml/2006/main">
            <a:srgbClr val="EEF7FD"/>
          </a:solidFill>
          <a:ln xmlns:a="http://schemas.openxmlformats.org/drawingml/2006/main" w="11906">
            <a:solidFill>
              <a:srgbClr val="123D8D"/>
            </a:solidFill>
            <a:prstDash val="solid"/>
          </a:ln>
        </p:spPr>
      </p:sp>
      <p:sp>
        <p:nvSpPr>
          <p:cNvPr id="84" name="phase-no-4">
            <a:extLst xmlns:a="http://schemas.openxmlformats.org/drawingml/2006/main">
              <a:ext uri="{FF2B5EF4-FFF2-40B4-BE49-F238E27FC236}">
                <a16:creationId xmlns:a16="http://schemas.microsoft.com/office/drawing/2014/main" id="{313C5BFE-BA0D-4E24-925D-A258B276E3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34575" y="1666875"/>
            <a:ext cx="457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7778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23D8D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23D8D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85" name="phase-label-4">
            <a:extLst xmlns:a="http://schemas.openxmlformats.org/drawingml/2006/main">
              <a:ext uri="{FF2B5EF4-FFF2-40B4-BE49-F238E27FC236}">
                <a16:creationId xmlns:a16="http://schemas.microsoft.com/office/drawing/2014/main" id="{C9880351-8B23-4ED5-9796-242E22F934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53675" y="1666875"/>
            <a:ext cx="1000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123D8D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23D8D"/>
                </a:solidFill>
                <a:latin typeface="Arial"/>
                <a:ea typeface="Arial"/>
                <a:cs typeface="Arial"/>
              </a:rPr>
              <a:t>P6–P8</a:t>
            </a:r>
          </a:p>
        </p:txBody>
      </p:sp>
      <p:sp>
        <p:nvSpPr>
          <p:cNvPr id="86" name="phase-title-4">
            <a:extLst xmlns:a="http://schemas.openxmlformats.org/drawingml/2006/main">
              <a:ext uri="{FF2B5EF4-FFF2-40B4-BE49-F238E27FC236}">
                <a16:creationId xmlns:a16="http://schemas.microsoft.com/office/drawing/2014/main" id="{68847A33-7885-4328-8CAC-09160A4D5D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77425" y="2238375"/>
            <a:ext cx="14859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B2F6B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0B2F6B"/>
                </a:solidFill>
                <a:latin typeface="微软雅黑"/>
                <a:ea typeface="微软雅黑"/>
                <a:cs typeface="微软雅黑"/>
              </a:rPr>
              <a:t>学习与实物</a:t>
            </a:r>
          </a:p>
        </p:txBody>
      </p:sp>
      <p:sp>
        <p:nvSpPr>
          <p:cNvPr id="87" name="phase-desc-4">
            <a:extLst xmlns:a="http://schemas.openxmlformats.org/drawingml/2006/main">
              <a:ext uri="{FF2B5EF4-FFF2-40B4-BE49-F238E27FC236}">
                <a16:creationId xmlns:a16="http://schemas.microsoft.com/office/drawing/2014/main" id="{2DDC0C70-91BA-4193-A9F8-C81BBA7386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96475" y="2857500"/>
            <a:ext cx="14478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63">
                <a:solidFill>
                  <a:srgbClr val="1F2937"/>
                </a:solidFill>
                <a:latin typeface="微软雅黑"/>
                <a:ea typeface="微软雅黑"/>
                <a:cs typeface="微软雅黑"/>
              </a:defRPr>
            </a:pPr>
            <a:r>
              <a:rPr sz="1163">
                <a:solidFill>
                  <a:srgbClr val="1F2937"/>
                </a:solidFill>
                <a:latin typeface="微软雅黑"/>
                <a:ea typeface="微软雅黑"/>
                <a:cs typeface="微软雅黑"/>
              </a:rPr>
              <a:t>泛化、消融、双机端到端部署</a:t>
            </a:r>
          </a:p>
        </p:txBody>
      </p:sp>
      <p:sp>
        <p:nvSpPr>
          <p:cNvPr id="88" name="route-takeaway">
            <a:extLst xmlns:a="http://schemas.openxmlformats.org/drawingml/2006/main">
              <a:ext uri="{FF2B5EF4-FFF2-40B4-BE49-F238E27FC236}">
                <a16:creationId xmlns:a16="http://schemas.microsoft.com/office/drawing/2014/main" id="{C854E2A9-FCD0-4AD3-BF97-E63F001DC8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5143500"/>
            <a:ext cx="7429500" cy="552450"/>
          </a:xfrm>
          <a:prstGeom xmlns:a="http://schemas.openxmlformats.org/drawingml/2006/main" prst="roundRect">
            <a:avLst>
              <a:gd name="adj" fmla="val 5172"/>
            </a:avLst>
          </a:prstGeom>
          <a:solidFill xmlns:a="http://schemas.openxmlformats.org/drawingml/2006/main">
            <a:srgbClr val="123D8D"/>
          </a:solidFill>
          <a:ln xmlns:a="http://schemas.openxmlformats.org/drawingml/2006/main" w="11906">
            <a:solidFill>
              <a:srgbClr val="123D8D"/>
            </a:solidFill>
            <a:prstDash val="solid"/>
          </a:ln>
        </p:spPr>
      </p:sp>
      <p:sp>
        <p:nvSpPr>
          <p:cNvPr id="89" name="route-takeaway-text">
            <a:extLst xmlns:a="http://schemas.openxmlformats.org/drawingml/2006/main">
              <a:ext uri="{FF2B5EF4-FFF2-40B4-BE49-F238E27FC236}">
                <a16:creationId xmlns:a16="http://schemas.microsoft.com/office/drawing/2014/main" id="{ED2F0C05-DFA1-4253-B744-3E2F25B07B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5267325"/>
            <a:ext cx="7086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工程门：先测量真实负载与任务影响，再决定是否把 RL 放进闭环。</a:t>
            </a:r>
          </a:p>
        </p:txBody>
      </p:sp>
    </p:spTree>
    <p:extLst>
      <p:ext uri="{BB962C8B-B14F-4D97-AF65-F5344CB8AC3E}">
        <p14:creationId xmlns:p14="http://schemas.microsoft.com/office/powerpoint/2010/main" val="1406095824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3" name="left-nav-bg">
            <a:extLst xmlns:a="http://schemas.openxmlformats.org/drawingml/2006/main">
              <a:ext uri="{FF2B5EF4-FFF2-40B4-BE49-F238E27FC236}">
                <a16:creationId xmlns:a16="http://schemas.microsoft.com/office/drawing/2014/main" id="{A4B8A7CF-F876-4E41-ADE7-907A8231A8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906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D8D"/>
          </a:solidFill>
          <a:ln xmlns:a="http://schemas.openxmlformats.org/drawingml/2006/main" w="0">
            <a:solidFill>
              <a:srgbClr val="123D8D"/>
            </a:solidFill>
            <a:prstDash val="solid"/>
          </a:ln>
        </p:spPr>
      </p:sp>
      <p:sp>
        <p:nvSpPr>
          <p:cNvPr id="2" name="nav-label">
            <a:extLst xmlns:a="http://schemas.openxmlformats.org/drawingml/2006/main">
              <a:ext uri="{FF2B5EF4-FFF2-40B4-BE49-F238E27FC236}">
                <a16:creationId xmlns:a16="http://schemas.microsoft.com/office/drawing/2014/main" id="{DCF570E7-7B74-44A4-A3AF-3E4EBE8126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" y="266700"/>
            <a:ext cx="933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8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近期工作分享</a:t>
            </a:r>
          </a:p>
        </p:txBody>
      </p:sp>
      <p:sp>
        <p:nvSpPr>
          <p:cNvPr id="3" name="nav-0">
            <a:extLst xmlns:a="http://schemas.openxmlformats.org/drawingml/2006/main">
              <a:ext uri="{FF2B5EF4-FFF2-40B4-BE49-F238E27FC236}">
                <a16:creationId xmlns:a16="http://schemas.microsoft.com/office/drawing/2014/main" id="{B037EB13-A5A5-47D8-8A0B-57350EC54A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" y="2095500"/>
            <a:ext cx="8763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4F9A"/>
          </a:solidFill>
          <a:ln xmlns:a="http://schemas.openxmlformats.org/drawingml/2006/main" w="9525">
            <a:solidFill>
              <a:srgbClr val="3169AA"/>
            </a:solidFill>
            <a:prstDash val="solid"/>
          </a:ln>
        </p:spPr>
      </p:sp>
      <p:sp>
        <p:nvSpPr>
          <p:cNvPr id="4" name="nav-text-0">
            <a:extLst xmlns:a="http://schemas.openxmlformats.org/drawingml/2006/main">
              <a:ext uri="{FF2B5EF4-FFF2-40B4-BE49-F238E27FC236}">
                <a16:creationId xmlns:a16="http://schemas.microsoft.com/office/drawing/2014/main" id="{085606AC-284B-49E1-87EF-680758E0E8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" y="2181225"/>
            <a:ext cx="8191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38" b="0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938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问题提出</a:t>
            </a:r>
          </a:p>
        </p:txBody>
      </p:sp>
      <p:sp>
        <p:nvSpPr>
          <p:cNvPr id="5" name="nav-1">
            <a:extLst xmlns:a="http://schemas.openxmlformats.org/drawingml/2006/main">
              <a:ext uri="{FF2B5EF4-FFF2-40B4-BE49-F238E27FC236}">
                <a16:creationId xmlns:a16="http://schemas.microsoft.com/office/drawing/2014/main" id="{BF0AB03D-7A9D-40B4-9F9A-DF0BC27C48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" y="2562225"/>
            <a:ext cx="8763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4F9A"/>
          </a:solidFill>
          <a:ln xmlns:a="http://schemas.openxmlformats.org/drawingml/2006/main" w="9525">
            <a:solidFill>
              <a:srgbClr val="3169AA"/>
            </a:solidFill>
            <a:prstDash val="solid"/>
          </a:ln>
        </p:spPr>
      </p:sp>
      <p:sp>
        <p:nvSpPr>
          <p:cNvPr id="6" name="nav-text-1">
            <a:extLst xmlns:a="http://schemas.openxmlformats.org/drawingml/2006/main">
              <a:ext uri="{FF2B5EF4-FFF2-40B4-BE49-F238E27FC236}">
                <a16:creationId xmlns:a16="http://schemas.microsoft.com/office/drawing/2014/main" id="{552FB2FC-4519-4AD4-841D-3698F2587D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" y="2647950"/>
            <a:ext cx="8191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38" b="0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938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文献调研</a:t>
            </a:r>
          </a:p>
        </p:txBody>
      </p:sp>
      <p:sp>
        <p:nvSpPr>
          <p:cNvPr id="7" name="nav-2">
            <a:extLst xmlns:a="http://schemas.openxmlformats.org/drawingml/2006/main">
              <a:ext uri="{FF2B5EF4-FFF2-40B4-BE49-F238E27FC236}">
                <a16:creationId xmlns:a16="http://schemas.microsoft.com/office/drawing/2014/main" id="{D327E02F-F3D8-4AAF-889E-8E695DA693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" y="3028950"/>
            <a:ext cx="8763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4F9A"/>
          </a:solidFill>
          <a:ln xmlns:a="http://schemas.openxmlformats.org/drawingml/2006/main" w="9525">
            <a:solidFill>
              <a:srgbClr val="3169AA"/>
            </a:solidFill>
            <a:prstDash val="solid"/>
          </a:ln>
        </p:spPr>
      </p:sp>
      <p:sp>
        <p:nvSpPr>
          <p:cNvPr id="8" name="nav-text-2">
            <a:extLst xmlns:a="http://schemas.openxmlformats.org/drawingml/2006/main">
              <a:ext uri="{FF2B5EF4-FFF2-40B4-BE49-F238E27FC236}">
                <a16:creationId xmlns:a16="http://schemas.microsoft.com/office/drawing/2014/main" id="{6564C069-3210-4737-9053-C4CB4208AA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" y="3114675"/>
            <a:ext cx="8191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38" b="0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938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方法与路线</a:t>
            </a:r>
          </a:p>
        </p:txBody>
      </p:sp>
      <p:sp>
        <p:nvSpPr>
          <p:cNvPr id="9" name="nav-3">
            <a:extLst xmlns:a="http://schemas.openxmlformats.org/drawingml/2006/main">
              <a:ext uri="{FF2B5EF4-FFF2-40B4-BE49-F238E27FC236}">
                <a16:creationId xmlns:a16="http://schemas.microsoft.com/office/drawing/2014/main" id="{83C1529E-5DA5-4028-A7FE-7EFD15FDB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" y="3495675"/>
            <a:ext cx="8763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7FD"/>
          </a:solidFill>
          <a:ln xmlns:a="http://schemas.openxmlformats.org/drawingml/2006/main" w="9525">
            <a:solidFill>
              <a:srgbClr val="3169AA"/>
            </a:solidFill>
            <a:prstDash val="solid"/>
          </a:ln>
        </p:spPr>
      </p:sp>
      <p:sp>
        <p:nvSpPr>
          <p:cNvPr id="10" name="nav-text-3">
            <a:extLst xmlns:a="http://schemas.openxmlformats.org/drawingml/2006/main">
              <a:ext uri="{FF2B5EF4-FFF2-40B4-BE49-F238E27FC236}">
                <a16:creationId xmlns:a16="http://schemas.microsoft.com/office/drawing/2014/main" id="{E6EE0522-09FB-41E8-AEB7-E2EC01E68C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" y="3581400"/>
            <a:ext cx="8191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38" b="1">
                <a:solidFill>
                  <a:srgbClr val="123D8D"/>
                </a:solidFill>
                <a:latin typeface="微软雅黑"/>
                <a:ea typeface="微软雅黑"/>
                <a:cs typeface="微软雅黑"/>
              </a:defRPr>
            </a:pPr>
            <a:r>
              <a:rPr sz="938" b="1">
                <a:solidFill>
                  <a:srgbClr val="123D8D"/>
                </a:solidFill>
                <a:latin typeface="微软雅黑"/>
                <a:ea typeface="微软雅黑"/>
                <a:cs typeface="微软雅黑"/>
              </a:rPr>
              <a:t>已完成工作</a:t>
            </a:r>
          </a:p>
        </p:txBody>
      </p:sp>
      <p:sp>
        <p:nvSpPr>
          <p:cNvPr id="11" name="nav-4">
            <a:extLst xmlns:a="http://schemas.openxmlformats.org/drawingml/2006/main">
              <a:ext uri="{FF2B5EF4-FFF2-40B4-BE49-F238E27FC236}">
                <a16:creationId xmlns:a16="http://schemas.microsoft.com/office/drawing/2014/main" id="{367564FE-DB80-43F9-907A-B85CE0A0D5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" y="3962400"/>
            <a:ext cx="8763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4F9A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2" name="nav-text-4">
            <a:extLst xmlns:a="http://schemas.openxmlformats.org/drawingml/2006/main">
              <a:ext uri="{FF2B5EF4-FFF2-40B4-BE49-F238E27FC236}">
                <a16:creationId xmlns:a16="http://schemas.microsoft.com/office/drawing/2014/main" id="{EE8E68A4-A809-47AE-A8F9-BD5C67F55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" y="4048125"/>
            <a:ext cx="8191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38" b="0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938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演示安排</a:t>
            </a:r>
          </a:p>
        </p:txBody>
      </p:sp>
      <p:sp>
        <p:nvSpPr>
          <p:cNvPr id="13" name="nav-5">
            <a:extLst xmlns:a="http://schemas.openxmlformats.org/drawingml/2006/main">
              <a:ext uri="{FF2B5EF4-FFF2-40B4-BE49-F238E27FC236}">
                <a16:creationId xmlns:a16="http://schemas.microsoft.com/office/drawing/2014/main" id="{67527CAD-9A03-4A65-86A0-BF94CB54B0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" y="4429125"/>
            <a:ext cx="8763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4F9A"/>
          </a:solidFill>
          <a:ln xmlns:a="http://schemas.openxmlformats.org/drawingml/2006/main" w="9525">
            <a:solidFill>
              <a:srgbClr val="3169AA"/>
            </a:solidFill>
            <a:prstDash val="solid"/>
          </a:ln>
        </p:spPr>
      </p:sp>
      <p:sp>
        <p:nvSpPr>
          <p:cNvPr id="14" name="nav-text-5">
            <a:extLst xmlns:a="http://schemas.openxmlformats.org/drawingml/2006/main">
              <a:ext uri="{FF2B5EF4-FFF2-40B4-BE49-F238E27FC236}">
                <a16:creationId xmlns:a16="http://schemas.microsoft.com/office/drawing/2014/main" id="{250F0795-7309-4B7E-B835-8EDD7AEBE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" y="4514850"/>
            <a:ext cx="8191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38" b="0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938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反思讨论</a:t>
            </a:r>
          </a:p>
        </p:txBody>
      </p:sp>
      <p:sp>
        <p:nvSpPr>
          <p:cNvPr id="15" name="title-square">
            <a:extLst xmlns:a="http://schemas.openxmlformats.org/drawingml/2006/main">
              <a:ext uri="{FF2B5EF4-FFF2-40B4-BE49-F238E27FC236}">
                <a16:creationId xmlns:a16="http://schemas.microsoft.com/office/drawing/2014/main" id="{C3A98E0C-9D93-4EB7-8F04-02FBDB3634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28600"/>
            <a:ext cx="1143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D8D"/>
          </a:solidFill>
          <a:ln xmlns:a="http://schemas.openxmlformats.org/drawingml/2006/main" w="0">
            <a:solidFill>
              <a:srgbClr val="123D8D"/>
            </a:solidFill>
            <a:prstDash val="solid"/>
          </a:ln>
        </p:spPr>
      </p:sp>
      <p:sp>
        <p:nvSpPr>
          <p:cNvPr id="16" name="slide-title">
            <a:extLst xmlns:a="http://schemas.openxmlformats.org/drawingml/2006/main">
              <a:ext uri="{FF2B5EF4-FFF2-40B4-BE49-F238E27FC236}">
                <a16:creationId xmlns:a16="http://schemas.microsoft.com/office/drawing/2014/main" id="{43E31594-B640-47A7-B32E-EDDE6E9CDA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161925"/>
            <a:ext cx="83343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1667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0B2F6B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1">
                <a:solidFill>
                  <a:srgbClr val="0B2F6B"/>
                </a:solidFill>
                <a:latin typeface="微软雅黑"/>
                <a:ea typeface="微软雅黑"/>
                <a:cs typeface="微软雅黑"/>
              </a:rPr>
              <a:t>4  已经完成的工作：任务层闭环与协议门禁逐步站稳</a:t>
            </a:r>
          </a:p>
        </p:txBody>
      </p:sp>
      <p:sp>
        <p:nvSpPr>
          <p:cNvPr id="17" name="title-rule">
            <a:extLst xmlns:a="http://schemas.openxmlformats.org/drawingml/2006/main">
              <a:ext uri="{FF2B5EF4-FFF2-40B4-BE49-F238E27FC236}">
                <a16:creationId xmlns:a16="http://schemas.microsoft.com/office/drawing/2014/main" id="{9EB5CC31-FFFD-4D76-9653-ED46636DEB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590550"/>
            <a:ext cx="87153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D8D"/>
          </a:solidFill>
          <a:ln xmlns:a="http://schemas.openxmlformats.org/drawingml/2006/main" w="0">
            <a:solidFill>
              <a:srgbClr val="123D8D"/>
            </a:solidFill>
            <a:prstDash val="solid"/>
          </a:ln>
        </p:spPr>
      </p:sp>
      <p:pic>
        <p:nvPicPr>
          <p:cNvPr id="80" name="图片 59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d40d4b2366649a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220791" y="66675"/>
            <a:ext cx="1608794" cy="514350"/>
          </a:xfrm>
          <a:prstGeom xmlns:a="http://schemas.openxmlformats.org/drawingml/2006/main" prst="rect">
            <a:avLst/>
          </a:prstGeom>
        </p:spPr>
      </p:pic>
      <p:sp>
        <p:nvSpPr>
          <p:cNvPr id="19" name="page-number">
            <a:extLst xmlns:a="http://schemas.openxmlformats.org/drawingml/2006/main">
              <a:ext uri="{FF2B5EF4-FFF2-40B4-BE49-F238E27FC236}">
                <a16:creationId xmlns:a16="http://schemas.microsoft.com/office/drawing/2014/main" id="{ECFFA6C8-63A5-4F25-87E3-BA71AD8F4D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2375" y="6486525"/>
            <a:ext cx="47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7A8894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7A8894"/>
                </a:solidFill>
                <a:latin typeface="Arial"/>
                <a:ea typeface="Arial"/>
                <a:cs typeface="Arial"/>
              </a:rPr>
              <a:t>13</a:t>
            </a:r>
          </a:p>
        </p:txBody>
      </p:sp>
      <p:sp>
        <p:nvSpPr>
          <p:cNvPr id="20" name="citation-footer">
            <a:extLst xmlns:a="http://schemas.openxmlformats.org/drawingml/2006/main">
              <a:ext uri="{FF2B5EF4-FFF2-40B4-BE49-F238E27FC236}">
                <a16:creationId xmlns:a16="http://schemas.microsoft.com/office/drawing/2014/main" id="{57C9D51A-5032-415C-92BA-148D8FB9B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6457950"/>
            <a:ext cx="495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0834"/>
          </a:bodyPr>
          <a:lstStyle xmlns:a="http://schemas.openxmlformats.org/drawingml/2006/main"/>
          <a:p xmlns:a="http://schemas.openxmlformats.org/drawingml/2006/main">
            <a:pPr algn="l">
              <a:buNone/>
              <a:defRPr sz="863" b="0">
                <a:solidFill>
                  <a:srgbClr val="7A8894"/>
                </a:solidFill>
                <a:latin typeface="微软雅黑"/>
                <a:ea typeface="微软雅黑"/>
                <a:cs typeface="微软雅黑"/>
              </a:defRPr>
            </a:pPr>
            <a:r>
              <a:rPr sz="863" b="0">
                <a:solidFill>
                  <a:srgbClr val="7A8894"/>
                </a:solidFill>
                <a:latin typeface="微软雅黑"/>
                <a:ea typeface="微软雅黑"/>
                <a:cs typeface="微软雅黑"/>
              </a:rPr>
              <a:t>已完成工作 · 任务层证据与协议证据</a:t>
            </a:r>
          </a:p>
        </p:txBody>
      </p:sp>
      <p:sp>
        <p:nvSpPr>
          <p:cNvPr id="45" name="evidence-card-0">
            <a:extLst xmlns:a="http://schemas.openxmlformats.org/drawingml/2006/main">
              <a:ext uri="{FF2B5EF4-FFF2-40B4-BE49-F238E27FC236}">
                <a16:creationId xmlns:a16="http://schemas.microsoft.com/office/drawing/2014/main" id="{DBAB82DA-B683-4A79-9197-96F416EC7C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1428750"/>
            <a:ext cx="2190750" cy="3381375"/>
          </a:xfrm>
          <a:prstGeom xmlns:a="http://schemas.openxmlformats.org/drawingml/2006/main" prst="roundRect">
            <a:avLst>
              <a:gd name="adj" fmla="val 3478"/>
            </a:avLst>
          </a:prstGeom>
          <a:solidFill xmlns:a="http://schemas.openxmlformats.org/drawingml/2006/main">
            <a:srgbClr val="EEF7FD"/>
          </a:solidFill>
          <a:ln xmlns:a="http://schemas.openxmlformats.org/drawingml/2006/main" w="11906">
            <a:solidFill>
              <a:srgbClr val="123D8D"/>
            </a:solidFill>
            <a:prstDash val="solid"/>
          </a:ln>
        </p:spPr>
      </p:sp>
      <p:sp>
        <p:nvSpPr>
          <p:cNvPr id="46" name="evidence-no-0">
            <a:extLst xmlns:a="http://schemas.openxmlformats.org/drawingml/2006/main">
              <a:ext uri="{FF2B5EF4-FFF2-40B4-BE49-F238E27FC236}">
                <a16:creationId xmlns:a16="http://schemas.microsoft.com/office/drawing/2014/main" id="{29ED96CB-8AFC-47A9-8DB4-8E4D30945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19325" y="1190625"/>
            <a:ext cx="6096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123D8D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23D8D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47" name="evidence-title-0">
            <a:extLst xmlns:a="http://schemas.openxmlformats.org/drawingml/2006/main">
              <a:ext uri="{FF2B5EF4-FFF2-40B4-BE49-F238E27FC236}">
                <a16:creationId xmlns:a16="http://schemas.microsoft.com/office/drawing/2014/main" id="{0AEE5573-8957-4593-AB74-8AB085D818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2095500"/>
            <a:ext cx="18478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0B2F6B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1">
                <a:solidFill>
                  <a:srgbClr val="0B2F6B"/>
                </a:solidFill>
                <a:latin typeface="微软雅黑"/>
                <a:ea typeface="微软雅黑"/>
                <a:cs typeface="微软雅黑"/>
              </a:rPr>
              <a:t>P1C 探索基线</a:t>
            </a:r>
          </a:p>
        </p:txBody>
      </p:sp>
      <p:sp>
        <p:nvSpPr>
          <p:cNvPr id="48" name="evidence-body-0">
            <a:extLst xmlns:a="http://schemas.openxmlformats.org/drawingml/2006/main">
              <a:ext uri="{FF2B5EF4-FFF2-40B4-BE49-F238E27FC236}">
                <a16:creationId xmlns:a16="http://schemas.microsoft.com/office/drawing/2014/main" id="{4BF58C91-E74F-49A0-9E25-8FC89D34BB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2857500"/>
            <a:ext cx="173355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75">
                <a:solidFill>
                  <a:srgbClr val="1F2937"/>
                </a:solidFill>
                <a:latin typeface="微软雅黑"/>
                <a:ea typeface="微软雅黑"/>
                <a:cs typeface="微软雅黑"/>
              </a:defRPr>
            </a:pPr>
            <a:r>
              <a:rPr sz="1275">
                <a:solidFill>
                  <a:srgbClr val="1F2937"/>
                </a:solidFill>
                <a:latin typeface="微软雅黑"/>
                <a:ea typeface="微软雅黑"/>
                <a:cs typeface="微软雅黑"/>
              </a:rPr>
              <a:t>90% 覆盖</a:t>
            </a:r>
          </a:p>
          <a:p xmlns:a="http://schemas.openxmlformats.org/drawingml/2006/main">
            <a:pPr algn="ctr">
              <a:lnSpc>
                <a:spcPct val="108000"/>
              </a:lnSpc>
              <a:buNone/>
              <a:defRPr sz="1275">
                <a:solidFill>
                  <a:srgbClr val="1F2937"/>
                </a:solidFill>
                <a:latin typeface="微软雅黑"/>
                <a:ea typeface="微软雅黑"/>
                <a:cs typeface="微软雅黑"/>
              </a:defRPr>
            </a:pPr>
            <a:r>
              <a:rPr sz="1275">
                <a:solidFill>
                  <a:srgbClr val="1F2937"/>
                </a:solidFill>
                <a:latin typeface="微软雅黑"/>
                <a:ea typeface="微软雅黑"/>
                <a:cs typeface="微软雅黑"/>
              </a:rPr>
              <a:t>零碰撞</a:t>
            </a:r>
          </a:p>
          <a:p xmlns:a="http://schemas.openxmlformats.org/drawingml/2006/main">
            <a:pPr algn="ctr">
              <a:lnSpc>
                <a:spcPct val="108000"/>
              </a:lnSpc>
              <a:buNone/>
              <a:defRPr sz="1275">
                <a:solidFill>
                  <a:srgbClr val="1F2937"/>
                </a:solidFill>
                <a:latin typeface="微软雅黑"/>
                <a:ea typeface="微软雅黑"/>
                <a:cs typeface="微软雅黑"/>
              </a:defRPr>
            </a:pPr>
            <a:r>
              <a:rPr sz="1275">
                <a:solidFill>
                  <a:srgbClr val="1F2937"/>
                </a:solidFill>
                <a:latin typeface="微软雅黑"/>
                <a:ea typeface="微软雅黑"/>
                <a:cs typeface="微软雅黑"/>
              </a:rPr>
              <a:t>跨 world/seed 可重复</a:t>
            </a:r>
          </a:p>
        </p:txBody>
      </p:sp>
      <p:sp>
        <p:nvSpPr>
          <p:cNvPr id="49" name="evidence-card-1">
            <a:extLst xmlns:a="http://schemas.openxmlformats.org/drawingml/2006/main">
              <a:ext uri="{FF2B5EF4-FFF2-40B4-BE49-F238E27FC236}">
                <a16:creationId xmlns:a16="http://schemas.microsoft.com/office/drawing/2014/main" id="{457435F8-D42F-4CC5-93A9-4A1123AE7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1428750"/>
            <a:ext cx="2190750" cy="3381375"/>
          </a:xfrm>
          <a:prstGeom xmlns:a="http://schemas.openxmlformats.org/drawingml/2006/main" prst="roundRect">
            <a:avLst>
              <a:gd name="adj" fmla="val 3478"/>
            </a:avLst>
          </a:prstGeom>
          <a:solidFill xmlns:a="http://schemas.openxmlformats.org/drawingml/2006/main">
            <a:srgbClr val="E7F4EB"/>
          </a:solidFill>
          <a:ln xmlns:a="http://schemas.openxmlformats.org/drawingml/2006/main" w="11906">
            <a:solidFill>
              <a:srgbClr val="4C8A5A"/>
            </a:solidFill>
            <a:prstDash val="solid"/>
          </a:ln>
        </p:spPr>
      </p:sp>
      <p:sp>
        <p:nvSpPr>
          <p:cNvPr id="50" name="evidence-no-1">
            <a:extLst xmlns:a="http://schemas.openxmlformats.org/drawingml/2006/main">
              <a:ext uri="{FF2B5EF4-FFF2-40B4-BE49-F238E27FC236}">
                <a16:creationId xmlns:a16="http://schemas.microsoft.com/office/drawing/2014/main" id="{84BDFDD3-49E6-4F0D-849F-1CEFE2EF07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91075" y="1190625"/>
            <a:ext cx="6096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4C8A5A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4C8A5A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51" name="evidence-title-1">
            <a:extLst xmlns:a="http://schemas.openxmlformats.org/drawingml/2006/main">
              <a:ext uri="{FF2B5EF4-FFF2-40B4-BE49-F238E27FC236}">
                <a16:creationId xmlns:a16="http://schemas.microsoft.com/office/drawing/2014/main" id="{28EA2F36-AAA9-4CA5-9A54-6A670AB36E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2095500"/>
            <a:ext cx="18478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0B2F6B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1">
                <a:solidFill>
                  <a:srgbClr val="0B2F6B"/>
                </a:solidFill>
                <a:latin typeface="微软雅黑"/>
                <a:ea typeface="微软雅黑"/>
                <a:cs typeface="微软雅黑"/>
              </a:rPr>
              <a:t>P2C 强制充电</a:t>
            </a:r>
          </a:p>
        </p:txBody>
      </p:sp>
      <p:sp>
        <p:nvSpPr>
          <p:cNvPr id="52" name="evidence-body-1">
            <a:extLst xmlns:a="http://schemas.openxmlformats.org/drawingml/2006/main">
              <a:ext uri="{FF2B5EF4-FFF2-40B4-BE49-F238E27FC236}">
                <a16:creationId xmlns:a16="http://schemas.microsoft.com/office/drawing/2014/main" id="{DC61B3B6-6AB0-4BFE-9B0F-4D74B0C9D9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2857500"/>
            <a:ext cx="173355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75">
                <a:solidFill>
                  <a:srgbClr val="1F2937"/>
                </a:solidFill>
                <a:latin typeface="微软雅黑"/>
                <a:ea typeface="微软雅黑"/>
                <a:cs typeface="微软雅黑"/>
              </a:defRPr>
            </a:pPr>
            <a:r>
              <a:rPr sz="1275">
                <a:solidFill>
                  <a:srgbClr val="1F2937"/>
                </a:solidFill>
                <a:latin typeface="微软雅黑"/>
                <a:ea typeface="微软雅黑"/>
                <a:cs typeface="微软雅黑"/>
              </a:rPr>
              <a:t>2 台各充电 1 次</a:t>
            </a:r>
          </a:p>
          <a:p xmlns:a="http://schemas.openxmlformats.org/drawingml/2006/main">
            <a:pPr algn="ctr">
              <a:lnSpc>
                <a:spcPct val="108000"/>
              </a:lnSpc>
              <a:buNone/>
              <a:defRPr sz="1275">
                <a:solidFill>
                  <a:srgbClr val="1F2937"/>
                </a:solidFill>
                <a:latin typeface="微软雅黑"/>
                <a:ea typeface="微软雅黑"/>
                <a:cs typeface="微软雅黑"/>
              </a:defRPr>
            </a:pPr>
            <a:r>
              <a:rPr sz="1275">
                <a:solidFill>
                  <a:srgbClr val="1F2937"/>
                </a:solidFill>
                <a:latin typeface="微软雅黑"/>
                <a:ea typeface="微软雅黑"/>
                <a:cs typeface="微软雅黑"/>
              </a:rPr>
              <a:t>之后继续完成</a:t>
            </a:r>
          </a:p>
          <a:p xmlns:a="http://schemas.openxmlformats.org/drawingml/2006/main">
            <a:pPr algn="ctr">
              <a:lnSpc>
                <a:spcPct val="108000"/>
              </a:lnSpc>
              <a:buNone/>
              <a:defRPr sz="1275">
                <a:solidFill>
                  <a:srgbClr val="1F2937"/>
                </a:solidFill>
                <a:latin typeface="微软雅黑"/>
                <a:ea typeface="微软雅黑"/>
                <a:cs typeface="微软雅黑"/>
              </a:defRPr>
            </a:pPr>
            <a:r>
              <a:rPr sz="1275">
                <a:solidFill>
                  <a:srgbClr val="1F2937"/>
                </a:solidFill>
                <a:latin typeface="微软雅黑"/>
                <a:ea typeface="微软雅黑"/>
                <a:cs typeface="微软雅黑"/>
              </a:rPr>
              <a:t>最终 COMPLETE</a:t>
            </a:r>
          </a:p>
        </p:txBody>
      </p:sp>
      <p:sp>
        <p:nvSpPr>
          <p:cNvPr id="53" name="evidence-card-2">
            <a:extLst xmlns:a="http://schemas.openxmlformats.org/drawingml/2006/main">
              <a:ext uri="{FF2B5EF4-FFF2-40B4-BE49-F238E27FC236}">
                <a16:creationId xmlns:a16="http://schemas.microsoft.com/office/drawing/2014/main" id="{E4C12F5C-35ED-43FA-B2BA-5DE4300E6F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428750"/>
            <a:ext cx="2190750" cy="3381375"/>
          </a:xfrm>
          <a:prstGeom xmlns:a="http://schemas.openxmlformats.org/drawingml/2006/main" prst="roundRect">
            <a:avLst>
              <a:gd name="adj" fmla="val 3478"/>
            </a:avLst>
          </a:prstGeom>
          <a:solidFill xmlns:a="http://schemas.openxmlformats.org/drawingml/2006/main">
            <a:srgbClr val="FFF2E3"/>
          </a:solidFill>
          <a:ln xmlns:a="http://schemas.openxmlformats.org/drawingml/2006/main" w="11906">
            <a:solidFill>
              <a:srgbClr val="C97A2B"/>
            </a:solidFill>
            <a:prstDash val="solid"/>
          </a:ln>
        </p:spPr>
      </p:sp>
      <p:sp>
        <p:nvSpPr>
          <p:cNvPr id="54" name="evidence-no-2">
            <a:extLst xmlns:a="http://schemas.openxmlformats.org/drawingml/2006/main">
              <a:ext uri="{FF2B5EF4-FFF2-40B4-BE49-F238E27FC236}">
                <a16:creationId xmlns:a16="http://schemas.microsoft.com/office/drawing/2014/main" id="{7A7D2397-A98D-41BC-913F-BA4333591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62825" y="1190625"/>
            <a:ext cx="6096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C97A2B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C97A2B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55" name="evidence-title-2">
            <a:extLst xmlns:a="http://schemas.openxmlformats.org/drawingml/2006/main">
              <a:ext uri="{FF2B5EF4-FFF2-40B4-BE49-F238E27FC236}">
                <a16:creationId xmlns:a16="http://schemas.microsoft.com/office/drawing/2014/main" id="{78AD1C87-783A-480F-8A48-276E4D3C60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2095500"/>
            <a:ext cx="18478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0B2F6B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1">
                <a:solidFill>
                  <a:srgbClr val="0B2F6B"/>
                </a:solidFill>
                <a:latin typeface="微软雅黑"/>
                <a:ea typeface="微软雅黑"/>
                <a:cs typeface="微软雅黑"/>
              </a:rPr>
              <a:t>P2D 理想通信</a:t>
            </a:r>
          </a:p>
        </p:txBody>
      </p:sp>
      <p:sp>
        <p:nvSpPr>
          <p:cNvPr id="56" name="evidence-body-2">
            <a:extLst xmlns:a="http://schemas.openxmlformats.org/drawingml/2006/main">
              <a:ext uri="{FF2B5EF4-FFF2-40B4-BE49-F238E27FC236}">
                <a16:creationId xmlns:a16="http://schemas.microsoft.com/office/drawing/2014/main" id="{8472D9B9-9DA4-4600-9C27-28ACE5BA12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2857500"/>
            <a:ext cx="173355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75">
                <a:solidFill>
                  <a:srgbClr val="1F2937"/>
                </a:solidFill>
                <a:latin typeface="微软雅黑"/>
                <a:ea typeface="微软雅黑"/>
                <a:cs typeface="微软雅黑"/>
              </a:defRPr>
            </a:pPr>
            <a:r>
              <a:rPr sz="1275">
                <a:solidFill>
                  <a:srgbClr val="1F2937"/>
                </a:solidFill>
                <a:latin typeface="微软雅黑"/>
                <a:ea typeface="微软雅黑"/>
                <a:cs typeface="微软雅黑"/>
              </a:rPr>
              <a:t>3 种场景</a:t>
            </a:r>
          </a:p>
          <a:p xmlns:a="http://schemas.openxmlformats.org/drawingml/2006/main">
            <a:pPr algn="ctr">
              <a:lnSpc>
                <a:spcPct val="108000"/>
              </a:lnSpc>
              <a:buNone/>
              <a:defRPr sz="1275">
                <a:solidFill>
                  <a:srgbClr val="1F2937"/>
                </a:solidFill>
                <a:latin typeface="微软雅黑"/>
                <a:ea typeface="微软雅黑"/>
                <a:cs typeface="微软雅黑"/>
              </a:defRPr>
            </a:pPr>
            <a:r>
              <a:rPr sz="1275">
                <a:solidFill>
                  <a:srgbClr val="1F2937"/>
                </a:solidFill>
                <a:latin typeface="微软雅黑"/>
                <a:ea typeface="微软雅黑"/>
                <a:cs typeface="微软雅黑"/>
              </a:rPr>
              <a:t>10/10 COMPLETE</a:t>
            </a:r>
          </a:p>
          <a:p xmlns:a="http://schemas.openxmlformats.org/drawingml/2006/main">
            <a:pPr algn="ctr">
              <a:lnSpc>
                <a:spcPct val="108000"/>
              </a:lnSpc>
              <a:buNone/>
              <a:defRPr sz="1275">
                <a:solidFill>
                  <a:srgbClr val="1F2937"/>
                </a:solidFill>
                <a:latin typeface="微软雅黑"/>
                <a:ea typeface="微软雅黑"/>
                <a:cs typeface="微软雅黑"/>
              </a:defRPr>
            </a:pPr>
            <a:r>
              <a:rPr sz="1275">
                <a:solidFill>
                  <a:srgbClr val="1F2937"/>
                </a:solidFill>
                <a:latin typeface="微软雅黑"/>
                <a:ea typeface="微软雅黑"/>
                <a:cs typeface="微软雅黑"/>
              </a:rPr>
              <a:t>零碰撞上界</a:t>
            </a:r>
          </a:p>
        </p:txBody>
      </p:sp>
      <p:sp>
        <p:nvSpPr>
          <p:cNvPr id="57" name="evidence-card-3">
            <a:extLst xmlns:a="http://schemas.openxmlformats.org/drawingml/2006/main">
              <a:ext uri="{FF2B5EF4-FFF2-40B4-BE49-F238E27FC236}">
                <a16:creationId xmlns:a16="http://schemas.microsoft.com/office/drawing/2014/main" id="{6ECD8401-CC81-4E40-AC0E-CC2A2762EF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1428750"/>
            <a:ext cx="2190750" cy="3381375"/>
          </a:xfrm>
          <a:prstGeom xmlns:a="http://schemas.openxmlformats.org/drawingml/2006/main" prst="roundRect">
            <a:avLst>
              <a:gd name="adj" fmla="val 3478"/>
            </a:avLst>
          </a:prstGeom>
          <a:solidFill xmlns:a="http://schemas.openxmlformats.org/drawingml/2006/main">
            <a:srgbClr val="FBE9EB"/>
          </a:solidFill>
          <a:ln xmlns:a="http://schemas.openxmlformats.org/drawingml/2006/main" w="11906">
            <a:solidFill>
              <a:srgbClr val="C7333E"/>
            </a:solidFill>
            <a:prstDash val="solid"/>
          </a:ln>
        </p:spPr>
      </p:sp>
      <p:sp>
        <p:nvSpPr>
          <p:cNvPr id="58" name="evidence-no-3">
            <a:extLst xmlns:a="http://schemas.openxmlformats.org/drawingml/2006/main">
              <a:ext uri="{FF2B5EF4-FFF2-40B4-BE49-F238E27FC236}">
                <a16:creationId xmlns:a16="http://schemas.microsoft.com/office/drawing/2014/main" id="{C4FDB4F0-B46B-4ACF-A4EC-1CFCAB5087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34575" y="1190625"/>
            <a:ext cx="6096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C7333E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C7333E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59" name="evidence-title-3">
            <a:extLst xmlns:a="http://schemas.openxmlformats.org/drawingml/2006/main">
              <a:ext uri="{FF2B5EF4-FFF2-40B4-BE49-F238E27FC236}">
                <a16:creationId xmlns:a16="http://schemas.microsoft.com/office/drawing/2014/main" id="{2B05B816-06A3-4502-A11E-8BD612E273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2095500"/>
            <a:ext cx="18478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0B2F6B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1">
                <a:solidFill>
                  <a:srgbClr val="0B2F6B"/>
                </a:solidFill>
                <a:latin typeface="微软雅黑"/>
                <a:ea typeface="微软雅黑"/>
                <a:cs typeface="微软雅黑"/>
              </a:rPr>
              <a:t>P3B 协议替身</a:t>
            </a:r>
          </a:p>
        </p:txBody>
      </p:sp>
      <p:sp>
        <p:nvSpPr>
          <p:cNvPr id="60" name="evidence-body-3">
            <a:extLst xmlns:a="http://schemas.openxmlformats.org/drawingml/2006/main">
              <a:ext uri="{FF2B5EF4-FFF2-40B4-BE49-F238E27FC236}">
                <a16:creationId xmlns:a16="http://schemas.microsoft.com/office/drawing/2014/main" id="{5641691A-7845-4B27-B60A-0A14A98B78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2857500"/>
            <a:ext cx="173355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75">
                <a:solidFill>
                  <a:srgbClr val="1F2937"/>
                </a:solidFill>
                <a:latin typeface="微软雅黑"/>
                <a:ea typeface="微软雅黑"/>
                <a:cs typeface="微软雅黑"/>
              </a:defRPr>
            </a:pPr>
            <a:r>
              <a:rPr sz="1275">
                <a:solidFill>
                  <a:srgbClr val="1F2937"/>
                </a:solidFill>
                <a:latin typeface="微软雅黑"/>
                <a:ea typeface="微软雅黑"/>
                <a:cs typeface="微软雅黑"/>
              </a:rPr>
              <a:t>4 项单测</a:t>
            </a:r>
          </a:p>
          <a:p xmlns:a="http://schemas.openxmlformats.org/drawingml/2006/main">
            <a:pPr algn="ctr">
              <a:lnSpc>
                <a:spcPct val="108000"/>
              </a:lnSpc>
              <a:buNone/>
              <a:defRPr sz="1275">
                <a:solidFill>
                  <a:srgbClr val="1F2937"/>
                </a:solidFill>
                <a:latin typeface="微软雅黑"/>
                <a:ea typeface="微软雅黑"/>
                <a:cs typeface="微软雅黑"/>
              </a:defRPr>
            </a:pPr>
            <a:r>
              <a:rPr sz="1275">
                <a:solidFill>
                  <a:srgbClr val="1F2937"/>
                </a:solidFill>
                <a:latin typeface="微软雅黑"/>
                <a:ea typeface="微软雅黑"/>
                <a:cs typeface="微软雅黑"/>
              </a:rPr>
              <a:t>54 格矩阵 PASS</a:t>
            </a:r>
          </a:p>
          <a:p xmlns:a="http://schemas.openxmlformats.org/drawingml/2006/main">
            <a:pPr algn="ctr">
              <a:lnSpc>
                <a:spcPct val="108000"/>
              </a:lnSpc>
              <a:buNone/>
              <a:defRPr sz="1275">
                <a:solidFill>
                  <a:srgbClr val="1F2937"/>
                </a:solidFill>
                <a:latin typeface="微软雅黑"/>
                <a:ea typeface="微软雅黑"/>
                <a:cs typeface="微软雅黑"/>
              </a:defRPr>
            </a:pPr>
            <a:r>
              <a:rPr sz="1275">
                <a:solidFill>
                  <a:srgbClr val="1F2937"/>
                </a:solidFill>
                <a:latin typeface="微软雅黑"/>
                <a:ea typeface="微软雅黑"/>
                <a:cs typeface="微软雅黑"/>
              </a:rPr>
              <a:t>仍然不是 Wi‑Fi</a:t>
            </a:r>
          </a:p>
        </p:txBody>
      </p:sp>
      <p:sp>
        <p:nvSpPr>
          <p:cNvPr id="61" name="evidence-boundary">
            <a:extLst xmlns:a="http://schemas.openxmlformats.org/drawingml/2006/main">
              <a:ext uri="{FF2B5EF4-FFF2-40B4-BE49-F238E27FC236}">
                <a16:creationId xmlns:a16="http://schemas.microsoft.com/office/drawing/2014/main" id="{84B3FCA4-0ED0-448D-A88F-5E492BF7C7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2125" y="5381625"/>
            <a:ext cx="8572500" cy="4572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123D8D"/>
          </a:solidFill>
          <a:ln xmlns:a="http://schemas.openxmlformats.org/drawingml/2006/main" w="11906">
            <a:solidFill>
              <a:srgbClr val="123D8D"/>
            </a:solidFill>
            <a:prstDash val="solid"/>
          </a:ln>
        </p:spPr>
      </p:sp>
      <p:sp>
        <p:nvSpPr>
          <p:cNvPr id="62" name="evidence-boundary-text">
            <a:extLst xmlns:a="http://schemas.openxmlformats.org/drawingml/2006/main">
              <a:ext uri="{FF2B5EF4-FFF2-40B4-BE49-F238E27FC236}">
                <a16:creationId xmlns:a16="http://schemas.microsoft.com/office/drawing/2014/main" id="{1C2F9AB2-911F-42A0-8FE5-2474DA5F84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33575" y="5505450"/>
            <a:ext cx="8229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5185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这些结果说明系统能运行、指标能记、故障能审计；不等于 RL 已经胜过基线。</a:t>
            </a:r>
          </a:p>
        </p:txBody>
      </p:sp>
    </p:spTree>
    <p:extLst>
      <p:ext uri="{BB962C8B-B14F-4D97-AF65-F5344CB8AC3E}">
        <p14:creationId xmlns:p14="http://schemas.microsoft.com/office/powerpoint/2010/main" val="1238385699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8" name="left-nav-bg">
            <a:extLst xmlns:a="http://schemas.openxmlformats.org/drawingml/2006/main">
              <a:ext uri="{FF2B5EF4-FFF2-40B4-BE49-F238E27FC236}">
                <a16:creationId xmlns:a16="http://schemas.microsoft.com/office/drawing/2014/main" id="{25DF4B4D-34C2-46DA-A268-7D200EF5C7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906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D8D"/>
          </a:solidFill>
          <a:ln xmlns:a="http://schemas.openxmlformats.org/drawingml/2006/main" w="0">
            <a:solidFill>
              <a:srgbClr val="123D8D"/>
            </a:solidFill>
            <a:prstDash val="solid"/>
          </a:ln>
        </p:spPr>
      </p:sp>
      <p:sp>
        <p:nvSpPr>
          <p:cNvPr id="2" name="nav-label">
            <a:extLst xmlns:a="http://schemas.openxmlformats.org/drawingml/2006/main">
              <a:ext uri="{FF2B5EF4-FFF2-40B4-BE49-F238E27FC236}">
                <a16:creationId xmlns:a16="http://schemas.microsoft.com/office/drawing/2014/main" id="{EE15988F-B34E-4AEC-B159-48F78044BA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" y="266700"/>
            <a:ext cx="933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8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近期工作分享</a:t>
            </a:r>
          </a:p>
        </p:txBody>
      </p:sp>
      <p:sp>
        <p:nvSpPr>
          <p:cNvPr id="3" name="nav-0">
            <a:extLst xmlns:a="http://schemas.openxmlformats.org/drawingml/2006/main">
              <a:ext uri="{FF2B5EF4-FFF2-40B4-BE49-F238E27FC236}">
                <a16:creationId xmlns:a16="http://schemas.microsoft.com/office/drawing/2014/main" id="{169642CD-0400-4A1A-879F-368CB002B2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" y="2095500"/>
            <a:ext cx="8763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4F9A"/>
          </a:solidFill>
          <a:ln xmlns:a="http://schemas.openxmlformats.org/drawingml/2006/main" w="9525">
            <a:solidFill>
              <a:srgbClr val="3169AA"/>
            </a:solidFill>
            <a:prstDash val="solid"/>
          </a:ln>
        </p:spPr>
      </p:sp>
      <p:sp>
        <p:nvSpPr>
          <p:cNvPr id="4" name="nav-text-0">
            <a:extLst xmlns:a="http://schemas.openxmlformats.org/drawingml/2006/main">
              <a:ext uri="{FF2B5EF4-FFF2-40B4-BE49-F238E27FC236}">
                <a16:creationId xmlns:a16="http://schemas.microsoft.com/office/drawing/2014/main" id="{76518BA1-89E0-45AC-A33F-523901448C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" y="2181225"/>
            <a:ext cx="8191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38" b="0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938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问题提出</a:t>
            </a:r>
          </a:p>
        </p:txBody>
      </p:sp>
      <p:sp>
        <p:nvSpPr>
          <p:cNvPr id="5" name="nav-1">
            <a:extLst xmlns:a="http://schemas.openxmlformats.org/drawingml/2006/main">
              <a:ext uri="{FF2B5EF4-FFF2-40B4-BE49-F238E27FC236}">
                <a16:creationId xmlns:a16="http://schemas.microsoft.com/office/drawing/2014/main" id="{8A260165-8F08-44A0-8AB7-FA28C17783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" y="2562225"/>
            <a:ext cx="8763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4F9A"/>
          </a:solidFill>
          <a:ln xmlns:a="http://schemas.openxmlformats.org/drawingml/2006/main" w="9525">
            <a:solidFill>
              <a:srgbClr val="3169AA"/>
            </a:solidFill>
            <a:prstDash val="solid"/>
          </a:ln>
        </p:spPr>
      </p:sp>
      <p:sp>
        <p:nvSpPr>
          <p:cNvPr id="6" name="nav-text-1">
            <a:extLst xmlns:a="http://schemas.openxmlformats.org/drawingml/2006/main">
              <a:ext uri="{FF2B5EF4-FFF2-40B4-BE49-F238E27FC236}">
                <a16:creationId xmlns:a16="http://schemas.microsoft.com/office/drawing/2014/main" id="{8795331C-078C-40A4-BD93-37ED3099A9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" y="2647950"/>
            <a:ext cx="8191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38" b="0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938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文献调研</a:t>
            </a:r>
          </a:p>
        </p:txBody>
      </p:sp>
      <p:sp>
        <p:nvSpPr>
          <p:cNvPr id="7" name="nav-2">
            <a:extLst xmlns:a="http://schemas.openxmlformats.org/drawingml/2006/main">
              <a:ext uri="{FF2B5EF4-FFF2-40B4-BE49-F238E27FC236}">
                <a16:creationId xmlns:a16="http://schemas.microsoft.com/office/drawing/2014/main" id="{E9B9B8FB-A23E-4291-AD15-ECF8D8AAB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" y="3028950"/>
            <a:ext cx="8763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4F9A"/>
          </a:solidFill>
          <a:ln xmlns:a="http://schemas.openxmlformats.org/drawingml/2006/main" w="9525">
            <a:solidFill>
              <a:srgbClr val="3169AA"/>
            </a:solidFill>
            <a:prstDash val="solid"/>
          </a:ln>
        </p:spPr>
      </p:sp>
      <p:sp>
        <p:nvSpPr>
          <p:cNvPr id="8" name="nav-text-2">
            <a:extLst xmlns:a="http://schemas.openxmlformats.org/drawingml/2006/main">
              <a:ext uri="{FF2B5EF4-FFF2-40B4-BE49-F238E27FC236}">
                <a16:creationId xmlns:a16="http://schemas.microsoft.com/office/drawing/2014/main" id="{B61AD2DE-6B9A-44AD-B197-C9E568734C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" y="3114675"/>
            <a:ext cx="8191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38" b="0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938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方法与路线</a:t>
            </a:r>
          </a:p>
        </p:txBody>
      </p:sp>
      <p:sp>
        <p:nvSpPr>
          <p:cNvPr id="9" name="nav-3">
            <a:extLst xmlns:a="http://schemas.openxmlformats.org/drawingml/2006/main">
              <a:ext uri="{FF2B5EF4-FFF2-40B4-BE49-F238E27FC236}">
                <a16:creationId xmlns:a16="http://schemas.microsoft.com/office/drawing/2014/main" id="{CBB91A73-F098-4519-A417-803210EC79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" y="3495675"/>
            <a:ext cx="8763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7FD"/>
          </a:solidFill>
          <a:ln xmlns:a="http://schemas.openxmlformats.org/drawingml/2006/main" w="9525">
            <a:solidFill>
              <a:srgbClr val="3169AA"/>
            </a:solidFill>
            <a:prstDash val="solid"/>
          </a:ln>
        </p:spPr>
      </p:sp>
      <p:sp>
        <p:nvSpPr>
          <p:cNvPr id="10" name="nav-text-3">
            <a:extLst xmlns:a="http://schemas.openxmlformats.org/drawingml/2006/main">
              <a:ext uri="{FF2B5EF4-FFF2-40B4-BE49-F238E27FC236}">
                <a16:creationId xmlns:a16="http://schemas.microsoft.com/office/drawing/2014/main" id="{36EF509A-7CE5-4A2C-8164-FBC26EC8EE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" y="3581400"/>
            <a:ext cx="8191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38" b="1">
                <a:solidFill>
                  <a:srgbClr val="123D8D"/>
                </a:solidFill>
                <a:latin typeface="微软雅黑"/>
                <a:ea typeface="微软雅黑"/>
                <a:cs typeface="微软雅黑"/>
              </a:defRPr>
            </a:pPr>
            <a:r>
              <a:rPr sz="938" b="1">
                <a:solidFill>
                  <a:srgbClr val="123D8D"/>
                </a:solidFill>
                <a:latin typeface="微软雅黑"/>
                <a:ea typeface="微软雅黑"/>
                <a:cs typeface="微软雅黑"/>
              </a:rPr>
              <a:t>已完成工作</a:t>
            </a:r>
          </a:p>
        </p:txBody>
      </p:sp>
      <p:sp>
        <p:nvSpPr>
          <p:cNvPr id="11" name="nav-4">
            <a:extLst xmlns:a="http://schemas.openxmlformats.org/drawingml/2006/main">
              <a:ext uri="{FF2B5EF4-FFF2-40B4-BE49-F238E27FC236}">
                <a16:creationId xmlns:a16="http://schemas.microsoft.com/office/drawing/2014/main" id="{A4A2BE6D-6E4C-4539-B959-BC99792095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" y="3962400"/>
            <a:ext cx="8763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4F9A"/>
          </a:solidFill>
          <a:ln xmlns:a="http://schemas.openxmlformats.org/drawingml/2006/main" w="9525">
            <a:solidFill>
              <a:srgbClr val="3169AA"/>
            </a:solidFill>
            <a:prstDash val="solid"/>
          </a:ln>
        </p:spPr>
      </p:sp>
      <p:sp>
        <p:nvSpPr>
          <p:cNvPr id="12" name="nav-text-4">
            <a:extLst xmlns:a="http://schemas.openxmlformats.org/drawingml/2006/main">
              <a:ext uri="{FF2B5EF4-FFF2-40B4-BE49-F238E27FC236}">
                <a16:creationId xmlns:a16="http://schemas.microsoft.com/office/drawing/2014/main" id="{7B17BDF5-5B30-4B6F-83A3-DCB16533AD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" y="4048125"/>
            <a:ext cx="8191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38" b="0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938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演示安排</a:t>
            </a:r>
          </a:p>
        </p:txBody>
      </p:sp>
      <p:sp>
        <p:nvSpPr>
          <p:cNvPr id="13" name="nav-5">
            <a:extLst xmlns:a="http://schemas.openxmlformats.org/drawingml/2006/main">
              <a:ext uri="{FF2B5EF4-FFF2-40B4-BE49-F238E27FC236}">
                <a16:creationId xmlns:a16="http://schemas.microsoft.com/office/drawing/2014/main" id="{86FC1F2C-05A2-45F8-8B4E-0D3B2D61C7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" y="4429125"/>
            <a:ext cx="8763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4F9A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4" name="nav-text-5">
            <a:extLst xmlns:a="http://schemas.openxmlformats.org/drawingml/2006/main">
              <a:ext uri="{FF2B5EF4-FFF2-40B4-BE49-F238E27FC236}">
                <a16:creationId xmlns:a16="http://schemas.microsoft.com/office/drawing/2014/main" id="{1D668EF5-76B5-4D2B-9C36-C89BDC280B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" y="4514850"/>
            <a:ext cx="8191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38" b="0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938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反思讨论</a:t>
            </a:r>
          </a:p>
        </p:txBody>
      </p:sp>
      <p:sp>
        <p:nvSpPr>
          <p:cNvPr id="15" name="title-square">
            <a:extLst xmlns:a="http://schemas.openxmlformats.org/drawingml/2006/main">
              <a:ext uri="{FF2B5EF4-FFF2-40B4-BE49-F238E27FC236}">
                <a16:creationId xmlns:a16="http://schemas.microsoft.com/office/drawing/2014/main" id="{689D6CD1-FE2C-4D83-A055-D54653A018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28600"/>
            <a:ext cx="1143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D8D"/>
          </a:solidFill>
          <a:ln xmlns:a="http://schemas.openxmlformats.org/drawingml/2006/main" w="0">
            <a:solidFill>
              <a:srgbClr val="123D8D"/>
            </a:solidFill>
            <a:prstDash val="solid"/>
          </a:ln>
        </p:spPr>
      </p:sp>
      <p:sp>
        <p:nvSpPr>
          <p:cNvPr id="16" name="slide-title">
            <a:extLst xmlns:a="http://schemas.openxmlformats.org/drawingml/2006/main">
              <a:ext uri="{FF2B5EF4-FFF2-40B4-BE49-F238E27FC236}">
                <a16:creationId xmlns:a16="http://schemas.microsoft.com/office/drawing/2014/main" id="{37064F3F-22EC-4579-B693-C23A3FC356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161925"/>
            <a:ext cx="83343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1667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0B2F6B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1">
                <a:solidFill>
                  <a:srgbClr val="0B2F6B"/>
                </a:solidFill>
                <a:latin typeface="微软雅黑"/>
                <a:ea typeface="微软雅黑"/>
                <a:cs typeface="微软雅黑"/>
              </a:rPr>
              <a:t>4.1  当前证据能说明什么，还不能说明什么</a:t>
            </a:r>
          </a:p>
        </p:txBody>
      </p:sp>
      <p:sp>
        <p:nvSpPr>
          <p:cNvPr id="17" name="title-rule">
            <a:extLst xmlns:a="http://schemas.openxmlformats.org/drawingml/2006/main">
              <a:ext uri="{FF2B5EF4-FFF2-40B4-BE49-F238E27FC236}">
                <a16:creationId xmlns:a16="http://schemas.microsoft.com/office/drawing/2014/main" id="{759C68B7-C4FB-442D-864B-411113C02F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590550"/>
            <a:ext cx="87153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D8D"/>
          </a:solidFill>
          <a:ln xmlns:a="http://schemas.openxmlformats.org/drawingml/2006/main" w="0">
            <a:solidFill>
              <a:srgbClr val="123D8D"/>
            </a:solidFill>
            <a:prstDash val="solid"/>
          </a:ln>
        </p:spPr>
      </p:sp>
      <p:pic>
        <p:nvPicPr>
          <p:cNvPr id="74" name="图片 5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0f6bfed95d2454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220791" y="66675"/>
            <a:ext cx="1608794" cy="514350"/>
          </a:xfrm>
          <a:prstGeom xmlns:a="http://schemas.openxmlformats.org/drawingml/2006/main" prst="rect">
            <a:avLst/>
          </a:prstGeom>
        </p:spPr>
      </p:pic>
      <p:sp>
        <p:nvSpPr>
          <p:cNvPr id="19" name="page-number">
            <a:extLst xmlns:a="http://schemas.openxmlformats.org/drawingml/2006/main">
              <a:ext uri="{FF2B5EF4-FFF2-40B4-BE49-F238E27FC236}">
                <a16:creationId xmlns:a16="http://schemas.microsoft.com/office/drawing/2014/main" id="{11B53966-1D4F-4247-9316-C1E9D391C5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2375" y="6486525"/>
            <a:ext cx="47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7A8894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7A8894"/>
                </a:solidFill>
                <a:latin typeface="Arial"/>
                <a:ea typeface="Arial"/>
                <a:cs typeface="Arial"/>
              </a:rPr>
              <a:t>14</a:t>
            </a:r>
          </a:p>
        </p:txBody>
      </p:sp>
      <p:sp>
        <p:nvSpPr>
          <p:cNvPr id="20" name="citation-footer">
            <a:extLst xmlns:a="http://schemas.openxmlformats.org/drawingml/2006/main">
              <a:ext uri="{FF2B5EF4-FFF2-40B4-BE49-F238E27FC236}">
                <a16:creationId xmlns:a16="http://schemas.microsoft.com/office/drawing/2014/main" id="{868F00D2-A783-4EB6-AADC-DED5C89C38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6457950"/>
            <a:ext cx="495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0834"/>
          </a:bodyPr>
          <a:lstStyle xmlns:a="http://schemas.openxmlformats.org/drawingml/2006/main"/>
          <a:p xmlns:a="http://schemas.openxmlformats.org/drawingml/2006/main">
            <a:pPr algn="l">
              <a:buNone/>
              <a:defRPr sz="863" b="0">
                <a:solidFill>
                  <a:srgbClr val="7A8894"/>
                </a:solidFill>
                <a:latin typeface="微软雅黑"/>
                <a:ea typeface="微软雅黑"/>
                <a:cs typeface="微软雅黑"/>
              </a:defRPr>
            </a:pPr>
            <a:r>
              <a:rPr sz="863" b="0">
                <a:solidFill>
                  <a:srgbClr val="7A8894"/>
                </a:solidFill>
                <a:latin typeface="微软雅黑"/>
                <a:ea typeface="微软雅黑"/>
                <a:cs typeface="微软雅黑"/>
              </a:rPr>
              <a:t>已完成工作 · 证据边界与失败样本</a:t>
            </a:r>
          </a:p>
        </p:txBody>
      </p:sp>
      <p:sp>
        <p:nvSpPr>
          <p:cNvPr id="40" name="boundary-q-0">
            <a:extLst xmlns:a="http://schemas.openxmlformats.org/drawingml/2006/main">
              <a:ext uri="{FF2B5EF4-FFF2-40B4-BE49-F238E27FC236}">
                <a16:creationId xmlns:a16="http://schemas.microsoft.com/office/drawing/2014/main" id="{EB404FA6-D843-4AD9-94E0-AA118482F5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1238250"/>
            <a:ext cx="2619375" cy="904875"/>
          </a:xfrm>
          <a:prstGeom xmlns:a="http://schemas.openxmlformats.org/drawingml/2006/main" prst="roundRect">
            <a:avLst>
              <a:gd name="adj" fmla="val 6316"/>
            </a:avLst>
          </a:prstGeom>
          <a:solidFill xmlns:a="http://schemas.openxmlformats.org/drawingml/2006/main">
            <a:srgbClr val="EEF7FD"/>
          </a:solidFill>
          <a:ln xmlns:a="http://schemas.openxmlformats.org/drawingml/2006/main" w="11906">
            <a:solidFill>
              <a:srgbClr val="123D8D"/>
            </a:solidFill>
            <a:prstDash val="solid"/>
          </a:ln>
        </p:spPr>
      </p:sp>
      <p:sp>
        <p:nvSpPr>
          <p:cNvPr id="41" name="boundary-qtext-0">
            <a:extLst xmlns:a="http://schemas.openxmlformats.org/drawingml/2006/main">
              <a:ext uri="{FF2B5EF4-FFF2-40B4-BE49-F238E27FC236}">
                <a16:creationId xmlns:a16="http://schemas.microsoft.com/office/drawing/2014/main" id="{4B9CAA4E-B2E8-4FA6-940F-76F2F81008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2125" y="1476375"/>
            <a:ext cx="223837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23D8D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123D8D"/>
                </a:solidFill>
                <a:latin typeface="微软雅黑"/>
                <a:ea typeface="微软雅黑"/>
                <a:cs typeface="微软雅黑"/>
              </a:rPr>
              <a:t>能说明：任务层可重复</a:t>
            </a:r>
          </a:p>
        </p:txBody>
      </p:sp>
      <p:sp>
        <p:nvSpPr>
          <p:cNvPr id="42" name="boundary-arrow-0">
            <a:extLst xmlns:a="http://schemas.openxmlformats.org/drawingml/2006/main">
              <a:ext uri="{FF2B5EF4-FFF2-40B4-BE49-F238E27FC236}">
                <a16:creationId xmlns:a16="http://schemas.microsoft.com/office/drawing/2014/main" id="{E0E7B1AC-962E-44A2-B345-E31D14BA34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1524000"/>
            <a:ext cx="590550" cy="33337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B4F9A"/>
          </a:solidFill>
          <a:ln xmlns:a="http://schemas.openxmlformats.org/drawingml/2006/main" w="0">
            <a:solidFill>
              <a:srgbClr val="1B4F9A"/>
            </a:solidFill>
          </a:ln>
        </p:spPr>
      </p:sp>
      <p:sp>
        <p:nvSpPr>
          <p:cNvPr id="43" name="boundary-a-0">
            <a:extLst xmlns:a="http://schemas.openxmlformats.org/drawingml/2006/main">
              <a:ext uri="{FF2B5EF4-FFF2-40B4-BE49-F238E27FC236}">
                <a16:creationId xmlns:a16="http://schemas.microsoft.com/office/drawing/2014/main" id="{2CE189E3-5067-4463-8377-66C78B4690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1238250"/>
            <a:ext cx="5905500" cy="904875"/>
          </a:xfrm>
          <a:prstGeom xmlns:a="http://schemas.openxmlformats.org/drawingml/2006/main" prst="roundRect">
            <a:avLst>
              <a:gd name="adj" fmla="val 631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906">
            <a:solidFill>
              <a:srgbClr val="CBD8E5"/>
            </a:solidFill>
            <a:prstDash val="solid"/>
          </a:ln>
        </p:spPr>
      </p:sp>
      <p:sp>
        <p:nvSpPr>
          <p:cNvPr id="44" name="boundary-atext-0">
            <a:extLst xmlns:a="http://schemas.openxmlformats.org/drawingml/2006/main">
              <a:ext uri="{FF2B5EF4-FFF2-40B4-BE49-F238E27FC236}">
                <a16:creationId xmlns:a16="http://schemas.microsoft.com/office/drawing/2014/main" id="{5F43F980-1A82-4503-A31C-6A4DF96E7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1447800"/>
            <a:ext cx="5334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>
                <a:solidFill>
                  <a:srgbClr val="1F2937"/>
                </a:solidFill>
                <a:latin typeface="微软雅黑"/>
                <a:ea typeface="微软雅黑"/>
                <a:cs typeface="微软雅黑"/>
              </a:defRPr>
            </a:pPr>
            <a:r>
              <a:rPr sz="1350">
                <a:solidFill>
                  <a:srgbClr val="1F2937"/>
                </a:solidFill>
                <a:latin typeface="微软雅黑"/>
                <a:ea typeface="微软雅黑"/>
                <a:cs typeface="微软雅黑"/>
              </a:rPr>
              <a:t>P1/P2 在不同 world/seed 形成探索、目标、集合、充电闭环。</a:t>
            </a:r>
          </a:p>
        </p:txBody>
      </p:sp>
      <p:sp>
        <p:nvSpPr>
          <p:cNvPr id="45" name="boundary-q-1">
            <a:extLst xmlns:a="http://schemas.openxmlformats.org/drawingml/2006/main">
              <a:ext uri="{FF2B5EF4-FFF2-40B4-BE49-F238E27FC236}">
                <a16:creationId xmlns:a16="http://schemas.microsoft.com/office/drawing/2014/main" id="{84E2E9AF-2F31-4E73-8C66-3DA93A259B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2524125"/>
            <a:ext cx="2619375" cy="904875"/>
          </a:xfrm>
          <a:prstGeom xmlns:a="http://schemas.openxmlformats.org/drawingml/2006/main" prst="roundRect">
            <a:avLst>
              <a:gd name="adj" fmla="val 6316"/>
            </a:avLst>
          </a:prstGeom>
          <a:solidFill xmlns:a="http://schemas.openxmlformats.org/drawingml/2006/main">
            <a:srgbClr val="E7F4EB"/>
          </a:solidFill>
          <a:ln xmlns:a="http://schemas.openxmlformats.org/drawingml/2006/main" w="11906">
            <a:solidFill>
              <a:srgbClr val="4C8A5A"/>
            </a:solidFill>
            <a:prstDash val="solid"/>
          </a:ln>
        </p:spPr>
      </p:sp>
      <p:sp>
        <p:nvSpPr>
          <p:cNvPr id="46" name="boundary-qtext-1">
            <a:extLst xmlns:a="http://schemas.openxmlformats.org/drawingml/2006/main">
              <a:ext uri="{FF2B5EF4-FFF2-40B4-BE49-F238E27FC236}">
                <a16:creationId xmlns:a16="http://schemas.microsoft.com/office/drawing/2014/main" id="{350CEA2D-6CDE-4758-9EC8-FB5BA896A3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2125" y="2762250"/>
            <a:ext cx="223837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4C8A5A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4C8A5A"/>
                </a:solidFill>
                <a:latin typeface="微软雅黑"/>
                <a:ea typeface="微软雅黑"/>
                <a:cs typeface="微软雅黑"/>
              </a:rPr>
              <a:t>能说明：故障语义可复现</a:t>
            </a:r>
          </a:p>
        </p:txBody>
      </p:sp>
      <p:sp>
        <p:nvSpPr>
          <p:cNvPr id="47" name="boundary-arrow-1">
            <a:extLst xmlns:a="http://schemas.openxmlformats.org/drawingml/2006/main">
              <a:ext uri="{FF2B5EF4-FFF2-40B4-BE49-F238E27FC236}">
                <a16:creationId xmlns:a16="http://schemas.microsoft.com/office/drawing/2014/main" id="{7C0B38E6-8DBF-4F83-B4AF-CDDFDC4B2C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809875"/>
            <a:ext cx="590550" cy="33337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B4F9A"/>
          </a:solidFill>
          <a:ln xmlns:a="http://schemas.openxmlformats.org/drawingml/2006/main" w="0">
            <a:solidFill>
              <a:srgbClr val="1B4F9A"/>
            </a:solidFill>
          </a:ln>
        </p:spPr>
      </p:sp>
      <p:sp>
        <p:nvSpPr>
          <p:cNvPr id="48" name="boundary-a-1">
            <a:extLst xmlns:a="http://schemas.openxmlformats.org/drawingml/2006/main">
              <a:ext uri="{FF2B5EF4-FFF2-40B4-BE49-F238E27FC236}">
                <a16:creationId xmlns:a16="http://schemas.microsoft.com/office/drawing/2014/main" id="{44F8DC90-0066-4E20-ACF7-3CEFD96211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2524125"/>
            <a:ext cx="5905500" cy="904875"/>
          </a:xfrm>
          <a:prstGeom xmlns:a="http://schemas.openxmlformats.org/drawingml/2006/main" prst="roundRect">
            <a:avLst>
              <a:gd name="adj" fmla="val 631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906">
            <a:solidFill>
              <a:srgbClr val="CBD8E5"/>
            </a:solidFill>
            <a:prstDash val="solid"/>
          </a:ln>
        </p:spPr>
      </p:sp>
      <p:sp>
        <p:nvSpPr>
          <p:cNvPr id="49" name="boundary-atext-1">
            <a:extLst xmlns:a="http://schemas.openxmlformats.org/drawingml/2006/main">
              <a:ext uri="{FF2B5EF4-FFF2-40B4-BE49-F238E27FC236}">
                <a16:creationId xmlns:a16="http://schemas.microsoft.com/office/drawing/2014/main" id="{CCAAC852-D9F1-4170-BC3F-7F87073ECE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2733675"/>
            <a:ext cx="5334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>
                <a:solidFill>
                  <a:srgbClr val="1F2937"/>
                </a:solidFill>
                <a:latin typeface="微软雅黑"/>
                <a:ea typeface="微软雅黑"/>
                <a:cs typeface="微软雅黑"/>
              </a:defRPr>
            </a:pPr>
            <a:r>
              <a:rPr sz="1350">
                <a:solidFill>
                  <a:srgbClr val="1F2937"/>
                </a:solidFill>
                <a:latin typeface="微软雅黑"/>
                <a:ea typeface="微软雅黑"/>
                <a:cs typeface="微软雅黑"/>
              </a:rPr>
              <a:t>P3B 的 delay/loss/TTL/重传和 message ledger 可审计。</a:t>
            </a:r>
          </a:p>
        </p:txBody>
      </p:sp>
      <p:sp>
        <p:nvSpPr>
          <p:cNvPr id="50" name="boundary-q-2">
            <a:extLst xmlns:a="http://schemas.openxmlformats.org/drawingml/2006/main">
              <a:ext uri="{FF2B5EF4-FFF2-40B4-BE49-F238E27FC236}">
                <a16:creationId xmlns:a16="http://schemas.microsoft.com/office/drawing/2014/main" id="{97C5AC36-509B-453A-9D28-C9D43AFEDF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3810000"/>
            <a:ext cx="2619375" cy="904875"/>
          </a:xfrm>
          <a:prstGeom xmlns:a="http://schemas.openxmlformats.org/drawingml/2006/main" prst="roundRect">
            <a:avLst>
              <a:gd name="adj" fmla="val 6316"/>
            </a:avLst>
          </a:prstGeom>
          <a:solidFill xmlns:a="http://schemas.openxmlformats.org/drawingml/2006/main">
            <a:srgbClr val="FBE9EB"/>
          </a:solidFill>
          <a:ln xmlns:a="http://schemas.openxmlformats.org/drawingml/2006/main" w="11906">
            <a:solidFill>
              <a:srgbClr val="C7333E"/>
            </a:solidFill>
            <a:prstDash val="solid"/>
          </a:ln>
        </p:spPr>
      </p:sp>
      <p:sp>
        <p:nvSpPr>
          <p:cNvPr id="51" name="boundary-qtext-2">
            <a:extLst xmlns:a="http://schemas.openxmlformats.org/drawingml/2006/main">
              <a:ext uri="{FF2B5EF4-FFF2-40B4-BE49-F238E27FC236}">
                <a16:creationId xmlns:a16="http://schemas.microsoft.com/office/drawing/2014/main" id="{34972414-F634-46E4-9378-0348A43617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2125" y="4048125"/>
            <a:ext cx="223837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4259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C7333E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C7333E"/>
                </a:solidFill>
                <a:latin typeface="微软雅黑"/>
                <a:ea typeface="微软雅黑"/>
                <a:cs typeface="微软雅黑"/>
              </a:rPr>
              <a:t>还不能说明：真实 Wi‑Fi 调度收益</a:t>
            </a:r>
          </a:p>
        </p:txBody>
      </p:sp>
      <p:sp>
        <p:nvSpPr>
          <p:cNvPr id="52" name="boundary-arrow-2">
            <a:extLst xmlns:a="http://schemas.openxmlformats.org/drawingml/2006/main">
              <a:ext uri="{FF2B5EF4-FFF2-40B4-BE49-F238E27FC236}">
                <a16:creationId xmlns:a16="http://schemas.microsoft.com/office/drawing/2014/main" id="{5DBDC506-6AA3-4E11-8956-17368935C2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4095750"/>
            <a:ext cx="590550" cy="33337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B4F9A"/>
          </a:solidFill>
          <a:ln xmlns:a="http://schemas.openxmlformats.org/drawingml/2006/main" w="0">
            <a:solidFill>
              <a:srgbClr val="1B4F9A"/>
            </a:solidFill>
          </a:ln>
        </p:spPr>
      </p:sp>
      <p:sp>
        <p:nvSpPr>
          <p:cNvPr id="53" name="boundary-a-2">
            <a:extLst xmlns:a="http://schemas.openxmlformats.org/drawingml/2006/main">
              <a:ext uri="{FF2B5EF4-FFF2-40B4-BE49-F238E27FC236}">
                <a16:creationId xmlns:a16="http://schemas.microsoft.com/office/drawing/2014/main" id="{0E3FCC69-E5D1-4C61-B11C-93EEA0B256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3810000"/>
            <a:ext cx="5905500" cy="904875"/>
          </a:xfrm>
          <a:prstGeom xmlns:a="http://schemas.openxmlformats.org/drawingml/2006/main" prst="roundRect">
            <a:avLst>
              <a:gd name="adj" fmla="val 631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906">
            <a:solidFill>
              <a:srgbClr val="CBD8E5"/>
            </a:solidFill>
            <a:prstDash val="solid"/>
          </a:ln>
        </p:spPr>
      </p:sp>
      <p:sp>
        <p:nvSpPr>
          <p:cNvPr id="54" name="boundary-atext-2">
            <a:extLst xmlns:a="http://schemas.openxmlformats.org/drawingml/2006/main">
              <a:ext uri="{FF2B5EF4-FFF2-40B4-BE49-F238E27FC236}">
                <a16:creationId xmlns:a16="http://schemas.microsoft.com/office/drawing/2014/main" id="{802A615B-79D4-48D2-855B-F64657EBCE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4019550"/>
            <a:ext cx="5334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>
                <a:solidFill>
                  <a:srgbClr val="1F2937"/>
                </a:solidFill>
                <a:latin typeface="微软雅黑"/>
                <a:ea typeface="微软雅黑"/>
                <a:cs typeface="微软雅黑"/>
              </a:defRPr>
            </a:pPr>
            <a:r>
              <a:rPr sz="1350">
                <a:solidFill>
                  <a:srgbClr val="1F2937"/>
                </a:solidFill>
                <a:latin typeface="微软雅黑"/>
                <a:ea typeface="微软雅黑"/>
                <a:cs typeface="微软雅黑"/>
              </a:rPr>
              <a:t>P3B 不含竞争、退避、传播、干扰；P4 仍待完成。</a:t>
            </a:r>
          </a:p>
        </p:txBody>
      </p:sp>
      <p:sp>
        <p:nvSpPr>
          <p:cNvPr id="55" name="failure-note">
            <a:extLst xmlns:a="http://schemas.openxmlformats.org/drawingml/2006/main">
              <a:ext uri="{FF2B5EF4-FFF2-40B4-BE49-F238E27FC236}">
                <a16:creationId xmlns:a16="http://schemas.microsoft.com/office/drawing/2014/main" id="{2DD9B688-7C14-4CCC-844C-5948200D2E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5381625"/>
            <a:ext cx="8572500" cy="4572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C7333E"/>
          </a:solidFill>
          <a:ln xmlns:a="http://schemas.openxmlformats.org/drawingml/2006/main" w="11906">
            <a:solidFill>
              <a:srgbClr val="C7333E"/>
            </a:solidFill>
            <a:prstDash val="solid"/>
          </a:ln>
        </p:spPr>
      </p:sp>
      <p:sp>
        <p:nvSpPr>
          <p:cNvPr id="56" name="failure-note-text">
            <a:extLst xmlns:a="http://schemas.openxmlformats.org/drawingml/2006/main">
              <a:ext uri="{FF2B5EF4-FFF2-40B4-BE49-F238E27FC236}">
                <a16:creationId xmlns:a16="http://schemas.microsoft.com/office/drawing/2014/main" id="{0055FDE8-A356-40DE-99AD-DAED01F0C6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5505450"/>
            <a:ext cx="8229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5185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当前 HEAD 的 P3A.5 曾保留 9/10 完成样本；失败 episode 继续保留，不用成功重跑覆盖。</a:t>
            </a:r>
          </a:p>
        </p:txBody>
      </p:sp>
    </p:spTree>
    <p:extLst>
      <p:ext uri="{BB962C8B-B14F-4D97-AF65-F5344CB8AC3E}">
        <p14:creationId xmlns:p14="http://schemas.microsoft.com/office/powerpoint/2010/main" val="1643653039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7" name="left-nav-bg">
            <a:extLst xmlns:a="http://schemas.openxmlformats.org/drawingml/2006/main">
              <a:ext uri="{FF2B5EF4-FFF2-40B4-BE49-F238E27FC236}">
                <a16:creationId xmlns:a16="http://schemas.microsoft.com/office/drawing/2014/main" id="{84510785-B90E-4A1C-A417-71C9B323F3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906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D8D"/>
          </a:solidFill>
          <a:ln xmlns:a="http://schemas.openxmlformats.org/drawingml/2006/main" w="0">
            <a:solidFill>
              <a:srgbClr val="123D8D"/>
            </a:solidFill>
            <a:prstDash val="solid"/>
          </a:ln>
        </p:spPr>
      </p:sp>
      <p:sp>
        <p:nvSpPr>
          <p:cNvPr id="2" name="nav-label">
            <a:extLst xmlns:a="http://schemas.openxmlformats.org/drawingml/2006/main">
              <a:ext uri="{FF2B5EF4-FFF2-40B4-BE49-F238E27FC236}">
                <a16:creationId xmlns:a16="http://schemas.microsoft.com/office/drawing/2014/main" id="{EB5AC645-3E14-4BB9-9336-F6987323FC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" y="266700"/>
            <a:ext cx="933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8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近期工作分享</a:t>
            </a:r>
          </a:p>
        </p:txBody>
      </p:sp>
      <p:sp>
        <p:nvSpPr>
          <p:cNvPr id="3" name="nav-0">
            <a:extLst xmlns:a="http://schemas.openxmlformats.org/drawingml/2006/main">
              <a:ext uri="{FF2B5EF4-FFF2-40B4-BE49-F238E27FC236}">
                <a16:creationId xmlns:a16="http://schemas.microsoft.com/office/drawing/2014/main" id="{1ADB5CF6-0E3B-4DD3-8E3C-C960ED671B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" y="2095500"/>
            <a:ext cx="8763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4F9A"/>
          </a:solidFill>
          <a:ln xmlns:a="http://schemas.openxmlformats.org/drawingml/2006/main" w="9525">
            <a:solidFill>
              <a:srgbClr val="3169AA"/>
            </a:solidFill>
            <a:prstDash val="solid"/>
          </a:ln>
        </p:spPr>
      </p:sp>
      <p:sp>
        <p:nvSpPr>
          <p:cNvPr id="4" name="nav-text-0">
            <a:extLst xmlns:a="http://schemas.openxmlformats.org/drawingml/2006/main">
              <a:ext uri="{FF2B5EF4-FFF2-40B4-BE49-F238E27FC236}">
                <a16:creationId xmlns:a16="http://schemas.microsoft.com/office/drawing/2014/main" id="{B295AC4A-1126-47D2-82EC-976CD22229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" y="2181225"/>
            <a:ext cx="8191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38" b="0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938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问题提出</a:t>
            </a:r>
          </a:p>
        </p:txBody>
      </p:sp>
      <p:sp>
        <p:nvSpPr>
          <p:cNvPr id="5" name="nav-1">
            <a:extLst xmlns:a="http://schemas.openxmlformats.org/drawingml/2006/main">
              <a:ext uri="{FF2B5EF4-FFF2-40B4-BE49-F238E27FC236}">
                <a16:creationId xmlns:a16="http://schemas.microsoft.com/office/drawing/2014/main" id="{8E331A54-2FCF-471A-9971-FAC147AFF4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" y="2562225"/>
            <a:ext cx="8763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4F9A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6" name="nav-text-1">
            <a:extLst xmlns:a="http://schemas.openxmlformats.org/drawingml/2006/main">
              <a:ext uri="{FF2B5EF4-FFF2-40B4-BE49-F238E27FC236}">
                <a16:creationId xmlns:a16="http://schemas.microsoft.com/office/drawing/2014/main" id="{9B3B3193-1E22-41DE-877D-14EE114161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" y="2647950"/>
            <a:ext cx="8191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38" b="0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938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文献调研</a:t>
            </a:r>
          </a:p>
        </p:txBody>
      </p:sp>
      <p:sp>
        <p:nvSpPr>
          <p:cNvPr id="7" name="nav-2">
            <a:extLst xmlns:a="http://schemas.openxmlformats.org/drawingml/2006/main">
              <a:ext uri="{FF2B5EF4-FFF2-40B4-BE49-F238E27FC236}">
                <a16:creationId xmlns:a16="http://schemas.microsoft.com/office/drawing/2014/main" id="{59CF9F56-21E6-479A-88DB-FDBF2A8AD4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" y="3028950"/>
            <a:ext cx="8763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4F9A"/>
          </a:solidFill>
          <a:ln xmlns:a="http://schemas.openxmlformats.org/drawingml/2006/main" w="9525">
            <a:solidFill>
              <a:srgbClr val="3169AA"/>
            </a:solidFill>
            <a:prstDash val="solid"/>
          </a:ln>
        </p:spPr>
      </p:sp>
      <p:sp>
        <p:nvSpPr>
          <p:cNvPr id="8" name="nav-text-2">
            <a:extLst xmlns:a="http://schemas.openxmlformats.org/drawingml/2006/main">
              <a:ext uri="{FF2B5EF4-FFF2-40B4-BE49-F238E27FC236}">
                <a16:creationId xmlns:a16="http://schemas.microsoft.com/office/drawing/2014/main" id="{58777911-C081-4877-BF4E-CB9CE991EA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" y="3114675"/>
            <a:ext cx="8191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38" b="0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938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方法与路线</a:t>
            </a:r>
          </a:p>
        </p:txBody>
      </p:sp>
      <p:sp>
        <p:nvSpPr>
          <p:cNvPr id="9" name="nav-3">
            <a:extLst xmlns:a="http://schemas.openxmlformats.org/drawingml/2006/main">
              <a:ext uri="{FF2B5EF4-FFF2-40B4-BE49-F238E27FC236}">
                <a16:creationId xmlns:a16="http://schemas.microsoft.com/office/drawing/2014/main" id="{45D7D8C1-4BB8-4D79-B1C8-29E3085B65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" y="3495675"/>
            <a:ext cx="8763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4F9A"/>
          </a:solidFill>
          <a:ln xmlns:a="http://schemas.openxmlformats.org/drawingml/2006/main" w="9525">
            <a:solidFill>
              <a:srgbClr val="3169AA"/>
            </a:solidFill>
            <a:prstDash val="solid"/>
          </a:ln>
        </p:spPr>
      </p:sp>
      <p:sp>
        <p:nvSpPr>
          <p:cNvPr id="10" name="nav-text-3">
            <a:extLst xmlns:a="http://schemas.openxmlformats.org/drawingml/2006/main">
              <a:ext uri="{FF2B5EF4-FFF2-40B4-BE49-F238E27FC236}">
                <a16:creationId xmlns:a16="http://schemas.microsoft.com/office/drawing/2014/main" id="{789023A8-D5E5-4C2C-BA0B-EBB2139335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" y="3581400"/>
            <a:ext cx="8191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38" b="0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938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已完成工作</a:t>
            </a:r>
          </a:p>
        </p:txBody>
      </p:sp>
      <p:sp>
        <p:nvSpPr>
          <p:cNvPr id="11" name="nav-4">
            <a:extLst xmlns:a="http://schemas.openxmlformats.org/drawingml/2006/main">
              <a:ext uri="{FF2B5EF4-FFF2-40B4-BE49-F238E27FC236}">
                <a16:creationId xmlns:a16="http://schemas.microsoft.com/office/drawing/2014/main" id="{B14E2B43-0715-4580-BB2B-4B22B09DF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" y="3962400"/>
            <a:ext cx="8763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7FD"/>
          </a:solidFill>
          <a:ln xmlns:a="http://schemas.openxmlformats.org/drawingml/2006/main" w="9525">
            <a:solidFill>
              <a:srgbClr val="3169AA"/>
            </a:solidFill>
            <a:prstDash val="solid"/>
          </a:ln>
        </p:spPr>
      </p:sp>
      <p:sp>
        <p:nvSpPr>
          <p:cNvPr id="12" name="nav-text-4">
            <a:extLst xmlns:a="http://schemas.openxmlformats.org/drawingml/2006/main">
              <a:ext uri="{FF2B5EF4-FFF2-40B4-BE49-F238E27FC236}">
                <a16:creationId xmlns:a16="http://schemas.microsoft.com/office/drawing/2014/main" id="{D698FD60-36EC-48A2-90A4-E6E6752B9C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" y="4048125"/>
            <a:ext cx="8191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38" b="1">
                <a:solidFill>
                  <a:srgbClr val="123D8D"/>
                </a:solidFill>
                <a:latin typeface="微软雅黑"/>
                <a:ea typeface="微软雅黑"/>
                <a:cs typeface="微软雅黑"/>
              </a:defRPr>
            </a:pPr>
            <a:r>
              <a:rPr sz="938" b="1">
                <a:solidFill>
                  <a:srgbClr val="123D8D"/>
                </a:solidFill>
                <a:latin typeface="微软雅黑"/>
                <a:ea typeface="微软雅黑"/>
                <a:cs typeface="微软雅黑"/>
              </a:rPr>
              <a:t>演示安排</a:t>
            </a:r>
          </a:p>
        </p:txBody>
      </p:sp>
      <p:sp>
        <p:nvSpPr>
          <p:cNvPr id="13" name="nav-5">
            <a:extLst xmlns:a="http://schemas.openxmlformats.org/drawingml/2006/main">
              <a:ext uri="{FF2B5EF4-FFF2-40B4-BE49-F238E27FC236}">
                <a16:creationId xmlns:a16="http://schemas.microsoft.com/office/drawing/2014/main" id="{B817B142-0B0E-43A4-8FDA-763199989F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" y="4429125"/>
            <a:ext cx="8763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4F9A"/>
          </a:solidFill>
          <a:ln xmlns:a="http://schemas.openxmlformats.org/drawingml/2006/main" w="9525">
            <a:solidFill>
              <a:srgbClr val="3169AA"/>
            </a:solidFill>
            <a:prstDash val="solid"/>
          </a:ln>
        </p:spPr>
      </p:sp>
      <p:sp>
        <p:nvSpPr>
          <p:cNvPr id="14" name="nav-text-5">
            <a:extLst xmlns:a="http://schemas.openxmlformats.org/drawingml/2006/main">
              <a:ext uri="{FF2B5EF4-FFF2-40B4-BE49-F238E27FC236}">
                <a16:creationId xmlns:a16="http://schemas.microsoft.com/office/drawing/2014/main" id="{11FEC3B5-A724-4E8E-84BE-BA39E894B0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" y="4514850"/>
            <a:ext cx="8191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38" b="0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938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反思讨论</a:t>
            </a:r>
          </a:p>
        </p:txBody>
      </p:sp>
      <p:sp>
        <p:nvSpPr>
          <p:cNvPr id="15" name="title-square">
            <a:extLst xmlns:a="http://schemas.openxmlformats.org/drawingml/2006/main">
              <a:ext uri="{FF2B5EF4-FFF2-40B4-BE49-F238E27FC236}">
                <a16:creationId xmlns:a16="http://schemas.microsoft.com/office/drawing/2014/main" id="{C788E6C4-7AD5-436A-9687-F29556CE5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28600"/>
            <a:ext cx="1143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D8D"/>
          </a:solidFill>
          <a:ln xmlns:a="http://schemas.openxmlformats.org/drawingml/2006/main" w="0">
            <a:solidFill>
              <a:srgbClr val="123D8D"/>
            </a:solidFill>
            <a:prstDash val="solid"/>
          </a:ln>
        </p:spPr>
      </p:sp>
      <p:sp>
        <p:nvSpPr>
          <p:cNvPr id="16" name="slide-title">
            <a:extLst xmlns:a="http://schemas.openxmlformats.org/drawingml/2006/main">
              <a:ext uri="{FF2B5EF4-FFF2-40B4-BE49-F238E27FC236}">
                <a16:creationId xmlns:a16="http://schemas.microsoft.com/office/drawing/2014/main" id="{4B5F4ABC-E6D5-4190-BCF3-977D95A808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161925"/>
            <a:ext cx="83343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1667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0B2F6B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1">
                <a:solidFill>
                  <a:srgbClr val="0B2F6B"/>
                </a:solidFill>
                <a:latin typeface="微软雅黑"/>
                <a:ea typeface="微软雅黑"/>
                <a:cs typeface="微软雅黑"/>
              </a:rPr>
              <a:t>5  Gazebo 现场演示：先看任务闭环，再看消息边界</a:t>
            </a:r>
          </a:p>
        </p:txBody>
      </p:sp>
      <p:sp>
        <p:nvSpPr>
          <p:cNvPr id="17" name="title-rule">
            <a:extLst xmlns:a="http://schemas.openxmlformats.org/drawingml/2006/main">
              <a:ext uri="{FF2B5EF4-FFF2-40B4-BE49-F238E27FC236}">
                <a16:creationId xmlns:a16="http://schemas.microsoft.com/office/drawing/2014/main" id="{83C1891E-BE43-4080-85FE-C88C58B276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590550"/>
            <a:ext cx="87153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D8D"/>
          </a:solidFill>
          <a:ln xmlns:a="http://schemas.openxmlformats.org/drawingml/2006/main" w="0">
            <a:solidFill>
              <a:srgbClr val="123D8D"/>
            </a:solidFill>
            <a:prstDash val="solid"/>
          </a:ln>
        </p:spPr>
      </p:sp>
      <p:pic>
        <p:nvPicPr>
          <p:cNvPr id="77" name="图片 5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b48470829d843d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220791" y="66675"/>
            <a:ext cx="1608794" cy="514350"/>
          </a:xfrm>
          <a:prstGeom xmlns:a="http://schemas.openxmlformats.org/drawingml/2006/main" prst="rect">
            <a:avLst/>
          </a:prstGeom>
        </p:spPr>
      </p:pic>
      <p:sp>
        <p:nvSpPr>
          <p:cNvPr id="19" name="page-number">
            <a:extLst xmlns:a="http://schemas.openxmlformats.org/drawingml/2006/main">
              <a:ext uri="{FF2B5EF4-FFF2-40B4-BE49-F238E27FC236}">
                <a16:creationId xmlns:a16="http://schemas.microsoft.com/office/drawing/2014/main" id="{E0EFE05B-8E40-4197-89FA-F6455505FA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2375" y="6486525"/>
            <a:ext cx="47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7A8894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7A8894"/>
                </a:solidFill>
                <a:latin typeface="Arial"/>
                <a:ea typeface="Arial"/>
                <a:cs typeface="Arial"/>
              </a:rPr>
              <a:t>15</a:t>
            </a:r>
          </a:p>
        </p:txBody>
      </p:sp>
      <p:sp>
        <p:nvSpPr>
          <p:cNvPr id="20" name="citation-footer">
            <a:extLst xmlns:a="http://schemas.openxmlformats.org/drawingml/2006/main">
              <a:ext uri="{FF2B5EF4-FFF2-40B4-BE49-F238E27FC236}">
                <a16:creationId xmlns:a16="http://schemas.microsoft.com/office/drawing/2014/main" id="{452CE5CF-B921-4E8C-8ED5-C0F0AE0C67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6457950"/>
            <a:ext cx="495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0834"/>
          </a:bodyPr>
          <a:lstStyle xmlns:a="http://schemas.openxmlformats.org/drawingml/2006/main"/>
          <a:p xmlns:a="http://schemas.openxmlformats.org/drawingml/2006/main">
            <a:pPr algn="l">
              <a:buNone/>
              <a:defRPr sz="863" b="0">
                <a:solidFill>
                  <a:srgbClr val="7A8894"/>
                </a:solidFill>
                <a:latin typeface="微软雅黑"/>
                <a:ea typeface="微软雅黑"/>
                <a:cs typeface="微软雅黑"/>
              </a:defRPr>
            </a:pPr>
            <a:r>
              <a:rPr sz="863" b="0">
                <a:solidFill>
                  <a:srgbClr val="7A8894"/>
                </a:solidFill>
                <a:latin typeface="微软雅黑"/>
                <a:ea typeface="微软雅黑"/>
                <a:cs typeface="微软雅黑"/>
              </a:rPr>
              <a:t>演示安排 · 2 台稳定完整闭环，3 台作为扩展</a:t>
            </a:r>
          </a:p>
        </p:txBody>
      </p:sp>
      <p:sp>
        <p:nvSpPr>
          <p:cNvPr id="39" name="demo-sequence">
            <a:extLst xmlns:a="http://schemas.openxmlformats.org/drawingml/2006/main">
              <a:ext uri="{FF2B5EF4-FFF2-40B4-BE49-F238E27FC236}">
                <a16:creationId xmlns:a16="http://schemas.microsoft.com/office/drawing/2014/main" id="{E0CA7B06-1766-42DC-B989-54CAE91024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1238250"/>
            <a:ext cx="6858000" cy="3476625"/>
          </a:xfrm>
          <a:prstGeom xmlns:a="http://schemas.openxmlformats.org/drawingml/2006/main" prst="roundRect">
            <a:avLst>
              <a:gd name="adj" fmla="val 2192"/>
            </a:avLst>
          </a:prstGeom>
          <a:solidFill xmlns:a="http://schemas.openxmlformats.org/drawingml/2006/main">
            <a:srgbClr val="EEF7FD"/>
          </a:solidFill>
          <a:ln xmlns:a="http://schemas.openxmlformats.org/drawingml/2006/main" w="11906">
            <a:solidFill>
              <a:srgbClr val="AFCFE2"/>
            </a:solidFill>
            <a:prstDash val="solid"/>
          </a:ln>
        </p:spPr>
      </p:sp>
      <p:sp>
        <p:nvSpPr>
          <p:cNvPr id="40" name="demo-no-0">
            <a:extLst xmlns:a="http://schemas.openxmlformats.org/drawingml/2006/main">
              <a:ext uri="{FF2B5EF4-FFF2-40B4-BE49-F238E27FC236}">
                <a16:creationId xmlns:a16="http://schemas.microsoft.com/office/drawing/2014/main" id="{4D96DF23-0D94-4A71-89EB-FBBF28B6A4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7375" y="1476375"/>
            <a:ext cx="4286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3333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23D8D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23D8D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41" name="demo-title-0">
            <a:extLst xmlns:a="http://schemas.openxmlformats.org/drawingml/2006/main">
              <a:ext uri="{FF2B5EF4-FFF2-40B4-BE49-F238E27FC236}">
                <a16:creationId xmlns:a16="http://schemas.microsoft.com/office/drawing/2014/main" id="{7B6594C6-1AD1-47FC-BDFC-196F9ADB50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8875" y="1476375"/>
            <a:ext cx="1428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B2F6B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0B2F6B"/>
                </a:solidFill>
                <a:latin typeface="微软雅黑"/>
                <a:ea typeface="微软雅黑"/>
                <a:cs typeface="微软雅黑"/>
              </a:rPr>
              <a:t>协同探索</a:t>
            </a:r>
          </a:p>
        </p:txBody>
      </p:sp>
      <p:sp>
        <p:nvSpPr>
          <p:cNvPr id="42" name="demo-body-0">
            <a:extLst xmlns:a="http://schemas.openxmlformats.org/drawingml/2006/main">
              <a:ext uri="{FF2B5EF4-FFF2-40B4-BE49-F238E27FC236}">
                <a16:creationId xmlns:a16="http://schemas.microsoft.com/office/drawing/2014/main" id="{6FD52461-425F-4546-9B01-3FC724A3D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1476375"/>
            <a:ext cx="4000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>
                <a:solidFill>
                  <a:srgbClr val="1F2937"/>
                </a:solidFill>
                <a:latin typeface="微软雅黑"/>
                <a:ea typeface="微软雅黑"/>
                <a:cs typeface="微软雅黑"/>
              </a:defRPr>
            </a:pPr>
            <a:r>
              <a:rPr sz="1200">
                <a:solidFill>
                  <a:srgbClr val="1F2937"/>
                </a:solidFill>
                <a:latin typeface="微软雅黑"/>
                <a:ea typeface="微软雅黑"/>
                <a:cs typeface="微软雅黑"/>
              </a:rPr>
              <a:t>两台机器人从共同起始区出发，各自探索未知空间</a:t>
            </a:r>
          </a:p>
        </p:txBody>
      </p:sp>
      <p:sp>
        <p:nvSpPr>
          <p:cNvPr id="43" name="demo-rule-0">
            <a:extLst xmlns:a="http://schemas.openxmlformats.org/drawingml/2006/main">
              <a:ext uri="{FF2B5EF4-FFF2-40B4-BE49-F238E27FC236}">
                <a16:creationId xmlns:a16="http://schemas.microsoft.com/office/drawing/2014/main" id="{812CACBD-FE67-48B5-A518-9C505BE1D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8875" y="2000250"/>
            <a:ext cx="5334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8E5"/>
            </a:solidFill>
            <a:prstDash val="solid"/>
          </a:ln>
        </p:spPr>
      </p:sp>
      <p:sp>
        <p:nvSpPr>
          <p:cNvPr id="44" name="demo-no-1">
            <a:extLst xmlns:a="http://schemas.openxmlformats.org/drawingml/2006/main">
              <a:ext uri="{FF2B5EF4-FFF2-40B4-BE49-F238E27FC236}">
                <a16:creationId xmlns:a16="http://schemas.microsoft.com/office/drawing/2014/main" id="{55A2309D-CDF7-4845-B13E-7DA7B1DF9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7375" y="2238375"/>
            <a:ext cx="4286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3333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23D8D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23D8D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45" name="demo-title-1">
            <a:extLst xmlns:a="http://schemas.openxmlformats.org/drawingml/2006/main">
              <a:ext uri="{FF2B5EF4-FFF2-40B4-BE49-F238E27FC236}">
                <a16:creationId xmlns:a16="http://schemas.microsoft.com/office/drawing/2014/main" id="{B2FD79C1-06DD-4CC7-8F6E-EB3DECC0C5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8875" y="2238375"/>
            <a:ext cx="1428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B2F6B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0B2F6B"/>
                </a:solidFill>
                <a:latin typeface="微软雅黑"/>
                <a:ea typeface="微软雅黑"/>
                <a:cs typeface="微软雅黑"/>
              </a:rPr>
              <a:t>目标确认</a:t>
            </a:r>
          </a:p>
        </p:txBody>
      </p:sp>
      <p:sp>
        <p:nvSpPr>
          <p:cNvPr id="46" name="demo-body-1">
            <a:extLst xmlns:a="http://schemas.openxmlformats.org/drawingml/2006/main">
              <a:ext uri="{FF2B5EF4-FFF2-40B4-BE49-F238E27FC236}">
                <a16:creationId xmlns:a16="http://schemas.microsoft.com/office/drawing/2014/main" id="{41B4C898-47DE-4012-B72C-10A4E2E77E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2238375"/>
            <a:ext cx="4000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>
                <a:solidFill>
                  <a:srgbClr val="1F2937"/>
                </a:solidFill>
                <a:latin typeface="微软雅黑"/>
                <a:ea typeface="微软雅黑"/>
                <a:cs typeface="微软雅黑"/>
              </a:defRPr>
            </a:pPr>
            <a:r>
              <a:rPr sz="1200">
                <a:solidFill>
                  <a:srgbClr val="1F2937"/>
                </a:solidFill>
                <a:latin typeface="微软雅黑"/>
                <a:ea typeface="微软雅黑"/>
                <a:cs typeface="微软雅黑"/>
              </a:rPr>
              <a:t>目标检测后经过 FOUND_UNCONFIRMED → FOUND</a:t>
            </a:r>
          </a:p>
        </p:txBody>
      </p:sp>
      <p:sp>
        <p:nvSpPr>
          <p:cNvPr id="47" name="demo-rule-1">
            <a:extLst xmlns:a="http://schemas.openxmlformats.org/drawingml/2006/main">
              <a:ext uri="{FF2B5EF4-FFF2-40B4-BE49-F238E27FC236}">
                <a16:creationId xmlns:a16="http://schemas.microsoft.com/office/drawing/2014/main" id="{8555DFF7-8C90-4FBC-B411-AF53EA2CAF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8875" y="2762250"/>
            <a:ext cx="5334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8E5"/>
            </a:solidFill>
            <a:prstDash val="solid"/>
          </a:ln>
        </p:spPr>
      </p:sp>
      <p:sp>
        <p:nvSpPr>
          <p:cNvPr id="48" name="demo-no-2">
            <a:extLst xmlns:a="http://schemas.openxmlformats.org/drawingml/2006/main">
              <a:ext uri="{FF2B5EF4-FFF2-40B4-BE49-F238E27FC236}">
                <a16:creationId xmlns:a16="http://schemas.microsoft.com/office/drawing/2014/main" id="{11648EE0-F9D1-4C48-9A30-2A61D21AC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7375" y="3000375"/>
            <a:ext cx="4286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3333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23D8D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23D8D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49" name="demo-title-2">
            <a:extLst xmlns:a="http://schemas.openxmlformats.org/drawingml/2006/main">
              <a:ext uri="{FF2B5EF4-FFF2-40B4-BE49-F238E27FC236}">
                <a16:creationId xmlns:a16="http://schemas.microsoft.com/office/drawing/2014/main" id="{B1CA54A4-027D-49B6-80F0-7B9358AB4E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8875" y="3000375"/>
            <a:ext cx="1428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B2F6B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0B2F6B"/>
                </a:solidFill>
                <a:latin typeface="微软雅黑"/>
                <a:ea typeface="微软雅黑"/>
                <a:cs typeface="微软雅黑"/>
              </a:rPr>
              <a:t>集合完成</a:t>
            </a:r>
          </a:p>
        </p:txBody>
      </p:sp>
      <p:sp>
        <p:nvSpPr>
          <p:cNvPr id="50" name="demo-body-2">
            <a:extLst xmlns:a="http://schemas.openxmlformats.org/drawingml/2006/main">
              <a:ext uri="{FF2B5EF4-FFF2-40B4-BE49-F238E27FC236}">
                <a16:creationId xmlns:a16="http://schemas.microsoft.com/office/drawing/2014/main" id="{98817FD4-DA3B-4655-BFF9-A5CB0C4B84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3000375"/>
            <a:ext cx="4000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>
                <a:solidFill>
                  <a:srgbClr val="1F2937"/>
                </a:solidFill>
                <a:latin typeface="微软雅黑"/>
                <a:ea typeface="微软雅黑"/>
                <a:cs typeface="微软雅黑"/>
              </a:defRPr>
            </a:pPr>
            <a:r>
              <a:rPr sz="1200">
                <a:solidFill>
                  <a:srgbClr val="1F2937"/>
                </a:solidFill>
                <a:latin typeface="微软雅黑"/>
                <a:ea typeface="微软雅黑"/>
                <a:cs typeface="微软雅黑"/>
              </a:rPr>
              <a:t>分到不同橙色位姿，稳定后进入 RALLY / COMPLETE</a:t>
            </a:r>
          </a:p>
        </p:txBody>
      </p:sp>
      <p:sp>
        <p:nvSpPr>
          <p:cNvPr id="51" name="demo-rule-2">
            <a:extLst xmlns:a="http://schemas.openxmlformats.org/drawingml/2006/main">
              <a:ext uri="{FF2B5EF4-FFF2-40B4-BE49-F238E27FC236}">
                <a16:creationId xmlns:a16="http://schemas.microsoft.com/office/drawing/2014/main" id="{FC6B5E69-1E52-4F3F-8B29-EE80836C86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8875" y="3524250"/>
            <a:ext cx="5334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8E5"/>
            </a:solidFill>
            <a:prstDash val="solid"/>
          </a:ln>
        </p:spPr>
      </p:sp>
      <p:sp>
        <p:nvSpPr>
          <p:cNvPr id="52" name="demo-no-3">
            <a:extLst xmlns:a="http://schemas.openxmlformats.org/drawingml/2006/main">
              <a:ext uri="{FF2B5EF4-FFF2-40B4-BE49-F238E27FC236}">
                <a16:creationId xmlns:a16="http://schemas.microsoft.com/office/drawing/2014/main" id="{BE580238-D7DB-490D-AA3F-B776C41BF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7375" y="3762375"/>
            <a:ext cx="4286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3333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23D8D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23D8D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53" name="demo-title-3">
            <a:extLst xmlns:a="http://schemas.openxmlformats.org/drawingml/2006/main">
              <a:ext uri="{FF2B5EF4-FFF2-40B4-BE49-F238E27FC236}">
                <a16:creationId xmlns:a16="http://schemas.microsoft.com/office/drawing/2014/main" id="{49418C6B-4E7D-4F00-8340-BB3F1AD72E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8875" y="3762375"/>
            <a:ext cx="1428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B2F6B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0B2F6B"/>
                </a:solidFill>
                <a:latin typeface="微软雅黑"/>
                <a:ea typeface="微软雅黑"/>
                <a:cs typeface="微软雅黑"/>
              </a:rPr>
              <a:t>可选充电</a:t>
            </a:r>
          </a:p>
        </p:txBody>
      </p:sp>
      <p:sp>
        <p:nvSpPr>
          <p:cNvPr id="54" name="demo-body-3">
            <a:extLst xmlns:a="http://schemas.openxmlformats.org/drawingml/2006/main">
              <a:ext uri="{FF2B5EF4-FFF2-40B4-BE49-F238E27FC236}">
                <a16:creationId xmlns:a16="http://schemas.microsoft.com/office/drawing/2014/main" id="{B0328197-D9A6-4D07-A31D-86EBA1BCCD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3762375"/>
            <a:ext cx="4000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3297"/>
          </a:bodyPr>
          <a:lstStyle xmlns:a="http://schemas.openxmlformats.org/drawingml/2006/main"/>
          <a:p xmlns:a="http://schemas.openxmlformats.org/drawingml/2006/main">
            <a:pPr algn="l">
              <a:defRPr sz="1200">
                <a:solidFill>
                  <a:srgbClr val="1F2937"/>
                </a:solidFill>
                <a:latin typeface="微软雅黑"/>
                <a:ea typeface="微软雅黑"/>
                <a:cs typeface="微软雅黑"/>
              </a:defRPr>
            </a:pPr>
            <a:r>
              <a:rPr sz="1200">
                <a:solidFill>
                  <a:srgbClr val="1F2937"/>
                </a:solidFill>
                <a:latin typeface="微软雅黑"/>
                <a:ea typeface="微软雅黑"/>
                <a:cs typeface="微软雅黑"/>
              </a:rPr>
              <a:t>低电量返航、充电、恢复；最后对照 JSON/CSV 与 message events</a:t>
            </a:r>
          </a:p>
        </p:txBody>
      </p:sp>
      <p:sp>
        <p:nvSpPr>
          <p:cNvPr id="55" name="demo-callout">
            <a:extLst xmlns:a="http://schemas.openxmlformats.org/drawingml/2006/main">
              <a:ext uri="{FF2B5EF4-FFF2-40B4-BE49-F238E27FC236}">
                <a16:creationId xmlns:a16="http://schemas.microsoft.com/office/drawing/2014/main" id="{6A733E31-58FB-4D89-8661-7E55A4B3C5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1238250"/>
            <a:ext cx="2714625" cy="3476625"/>
          </a:xfrm>
          <a:prstGeom xmlns:a="http://schemas.openxmlformats.org/drawingml/2006/main" prst="roundRect">
            <a:avLst>
              <a:gd name="adj" fmla="val 2807"/>
            </a:avLst>
          </a:prstGeom>
          <a:solidFill xmlns:a="http://schemas.openxmlformats.org/drawingml/2006/main">
            <a:srgbClr val="FFF2E3"/>
          </a:solidFill>
          <a:ln xmlns:a="http://schemas.openxmlformats.org/drawingml/2006/main" w="11906">
            <a:solidFill>
              <a:srgbClr val="C97A2B"/>
            </a:solidFill>
            <a:prstDash val="solid"/>
          </a:ln>
        </p:spPr>
      </p:sp>
      <p:sp>
        <p:nvSpPr>
          <p:cNvPr id="56" name="demo-callout-title">
            <a:extLst xmlns:a="http://schemas.openxmlformats.org/drawingml/2006/main">
              <a:ext uri="{FF2B5EF4-FFF2-40B4-BE49-F238E27FC236}">
                <a16:creationId xmlns:a16="http://schemas.microsoft.com/office/drawing/2014/main" id="{94CF09D4-3463-4E65-8F99-BBAD1F47BF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1571625"/>
            <a:ext cx="19526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C97A2B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1">
                <a:solidFill>
                  <a:srgbClr val="C97A2B"/>
                </a:solidFill>
                <a:latin typeface="微软雅黑"/>
                <a:ea typeface="微软雅黑"/>
                <a:cs typeface="微软雅黑"/>
              </a:rPr>
              <a:t>现场口径</a:t>
            </a:r>
          </a:p>
        </p:txBody>
      </p:sp>
      <p:sp>
        <p:nvSpPr>
          <p:cNvPr id="57" name="demo-callout-body">
            <a:extLst xmlns:a="http://schemas.openxmlformats.org/drawingml/2006/main">
              <a:ext uri="{FF2B5EF4-FFF2-40B4-BE49-F238E27FC236}">
                <a16:creationId xmlns:a16="http://schemas.microsoft.com/office/drawing/2014/main" id="{F877C490-50E1-4032-8C4F-AF76DADF36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2143125"/>
            <a:ext cx="2143125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7629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75">
                <a:solidFill>
                  <a:srgbClr val="1F2937"/>
                </a:solidFill>
                <a:latin typeface="微软雅黑"/>
                <a:ea typeface="微软雅黑"/>
                <a:cs typeface="微软雅黑"/>
              </a:defRPr>
            </a:pPr>
            <a:r>
              <a:rPr sz="1275">
                <a:solidFill>
                  <a:srgbClr val="1F2937"/>
                </a:solidFill>
                <a:latin typeface="微软雅黑"/>
                <a:ea typeface="微软雅黑"/>
                <a:cs typeface="微软雅黑"/>
              </a:rPr>
              <a:t>演示的是任务层和消息边界已经能运行。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ctr">
              <a:lnSpc>
                <a:spcPct val="108000"/>
              </a:lnSpc>
              <a:buNone/>
              <a:defRPr sz="1275">
                <a:solidFill>
                  <a:srgbClr val="1F2937"/>
                </a:solidFill>
                <a:latin typeface="微软雅黑"/>
                <a:ea typeface="微软雅黑"/>
                <a:cs typeface="微软雅黑"/>
              </a:defRPr>
            </a:pPr>
            <a:r>
              <a:rPr sz="1275">
                <a:solidFill>
                  <a:srgbClr val="1F2937"/>
                </a:solidFill>
                <a:latin typeface="微软雅黑"/>
                <a:ea typeface="微软雅黑"/>
                <a:cs typeface="微软雅黑"/>
              </a:rPr>
              <a:t>真正的 Wi‑Fi 4 排队、竞争、重传和干扰耦合还在 P4。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ctr">
              <a:lnSpc>
                <a:spcPct val="108000"/>
              </a:lnSpc>
              <a:buNone/>
              <a:defRPr sz="1275">
                <a:solidFill>
                  <a:srgbClr val="1F2937"/>
                </a:solidFill>
                <a:latin typeface="微软雅黑"/>
                <a:ea typeface="微软雅黑"/>
                <a:cs typeface="微软雅黑"/>
              </a:defRPr>
            </a:pPr>
            <a:r>
              <a:rPr sz="1275">
                <a:solidFill>
                  <a:srgbClr val="1F2937"/>
                </a:solidFill>
                <a:latin typeface="微软雅黑"/>
                <a:ea typeface="微软雅黑"/>
                <a:cs typeface="微软雅黑"/>
              </a:rPr>
              <a:t>重点是状态、日志和因果链能互相对上。</a:t>
            </a:r>
          </a:p>
        </p:txBody>
      </p:sp>
      <p:sp>
        <p:nvSpPr>
          <p:cNvPr id="58" name="demo-takeaway">
            <a:extLst xmlns:a="http://schemas.openxmlformats.org/drawingml/2006/main">
              <a:ext uri="{FF2B5EF4-FFF2-40B4-BE49-F238E27FC236}">
                <a16:creationId xmlns:a16="http://schemas.microsoft.com/office/drawing/2014/main" id="{8348A6BB-D27E-4E32-870C-36CC8C377F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5286375"/>
            <a:ext cx="7334250" cy="476250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123D8D"/>
          </a:solidFill>
          <a:ln xmlns:a="http://schemas.openxmlformats.org/drawingml/2006/main" w="11906">
            <a:solidFill>
              <a:srgbClr val="123D8D"/>
            </a:solidFill>
            <a:prstDash val="solid"/>
          </a:ln>
        </p:spPr>
      </p:sp>
      <p:sp>
        <p:nvSpPr>
          <p:cNvPr id="59" name="demo-takeaway-text">
            <a:extLst xmlns:a="http://schemas.openxmlformats.org/drawingml/2006/main">
              <a:ext uri="{FF2B5EF4-FFF2-40B4-BE49-F238E27FC236}">
                <a16:creationId xmlns:a16="http://schemas.microsoft.com/office/drawing/2014/main" id="{6492A28A-A08E-4DC2-B657-8A6F56944E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5410200"/>
            <a:ext cx="6991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4444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推荐先跑 2 台；资源充足时再切换 3 台，不临时追求更大的数字。</a:t>
            </a:r>
          </a:p>
        </p:txBody>
      </p:sp>
    </p:spTree>
    <p:extLst>
      <p:ext uri="{BB962C8B-B14F-4D97-AF65-F5344CB8AC3E}">
        <p14:creationId xmlns:p14="http://schemas.microsoft.com/office/powerpoint/2010/main" val="801515875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3" name="left-nav-bg">
            <a:extLst xmlns:a="http://schemas.openxmlformats.org/drawingml/2006/main">
              <a:ext uri="{FF2B5EF4-FFF2-40B4-BE49-F238E27FC236}">
                <a16:creationId xmlns:a16="http://schemas.microsoft.com/office/drawing/2014/main" id="{A4B8A7CF-F876-4E41-ADE7-907A8231A8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906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D8D"/>
          </a:solidFill>
          <a:ln xmlns:a="http://schemas.openxmlformats.org/drawingml/2006/main" w="0">
            <a:solidFill>
              <a:srgbClr val="123D8D"/>
            </a:solidFill>
            <a:prstDash val="solid"/>
          </a:ln>
        </p:spPr>
      </p:sp>
      <p:sp>
        <p:nvSpPr>
          <p:cNvPr id="2" name="nav-label">
            <a:extLst xmlns:a="http://schemas.openxmlformats.org/drawingml/2006/main">
              <a:ext uri="{FF2B5EF4-FFF2-40B4-BE49-F238E27FC236}">
                <a16:creationId xmlns:a16="http://schemas.microsoft.com/office/drawing/2014/main" id="{DCF570E7-7B74-44A4-A3AF-3E4EBE8126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" y="266700"/>
            <a:ext cx="933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8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近期工作分享</a:t>
            </a:r>
          </a:p>
        </p:txBody>
      </p:sp>
      <p:sp>
        <p:nvSpPr>
          <p:cNvPr id="3" name="nav-0">
            <a:extLst xmlns:a="http://schemas.openxmlformats.org/drawingml/2006/main">
              <a:ext uri="{FF2B5EF4-FFF2-40B4-BE49-F238E27FC236}">
                <a16:creationId xmlns:a16="http://schemas.microsoft.com/office/drawing/2014/main" id="{B037EB13-A5A5-47D8-8A0B-57350EC54A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" y="2095500"/>
            <a:ext cx="8763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4F9A"/>
          </a:solidFill>
          <a:ln xmlns:a="http://schemas.openxmlformats.org/drawingml/2006/main" w="9525">
            <a:solidFill>
              <a:srgbClr val="3169AA"/>
            </a:solidFill>
            <a:prstDash val="solid"/>
          </a:ln>
        </p:spPr>
      </p:sp>
      <p:sp>
        <p:nvSpPr>
          <p:cNvPr id="4" name="nav-text-0">
            <a:extLst xmlns:a="http://schemas.openxmlformats.org/drawingml/2006/main">
              <a:ext uri="{FF2B5EF4-FFF2-40B4-BE49-F238E27FC236}">
                <a16:creationId xmlns:a16="http://schemas.microsoft.com/office/drawing/2014/main" id="{085606AC-284B-49E1-87EF-680758E0E8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" y="2181225"/>
            <a:ext cx="8191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38" b="0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938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问题提出</a:t>
            </a:r>
          </a:p>
        </p:txBody>
      </p:sp>
      <p:sp>
        <p:nvSpPr>
          <p:cNvPr id="5" name="nav-1">
            <a:extLst xmlns:a="http://schemas.openxmlformats.org/drawingml/2006/main">
              <a:ext uri="{FF2B5EF4-FFF2-40B4-BE49-F238E27FC236}">
                <a16:creationId xmlns:a16="http://schemas.microsoft.com/office/drawing/2014/main" id="{BF0AB03D-7A9D-40B4-9F9A-DF0BC27C48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" y="2562225"/>
            <a:ext cx="8763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4F9A"/>
          </a:solidFill>
          <a:ln xmlns:a="http://schemas.openxmlformats.org/drawingml/2006/main" w="9525">
            <a:solidFill>
              <a:srgbClr val="3169AA"/>
            </a:solidFill>
            <a:prstDash val="solid"/>
          </a:ln>
        </p:spPr>
      </p:sp>
      <p:sp>
        <p:nvSpPr>
          <p:cNvPr id="6" name="nav-text-1">
            <a:extLst xmlns:a="http://schemas.openxmlformats.org/drawingml/2006/main">
              <a:ext uri="{FF2B5EF4-FFF2-40B4-BE49-F238E27FC236}">
                <a16:creationId xmlns:a16="http://schemas.microsoft.com/office/drawing/2014/main" id="{552FB2FC-4519-4AD4-841D-3698F2587D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" y="2647950"/>
            <a:ext cx="8191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38" b="0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938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文献调研</a:t>
            </a:r>
          </a:p>
        </p:txBody>
      </p:sp>
      <p:sp>
        <p:nvSpPr>
          <p:cNvPr id="7" name="nav-2">
            <a:extLst xmlns:a="http://schemas.openxmlformats.org/drawingml/2006/main">
              <a:ext uri="{FF2B5EF4-FFF2-40B4-BE49-F238E27FC236}">
                <a16:creationId xmlns:a16="http://schemas.microsoft.com/office/drawing/2014/main" id="{D327E02F-F3D8-4AAF-889E-8E695DA693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" y="3028950"/>
            <a:ext cx="8763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4F9A"/>
          </a:solidFill>
          <a:ln xmlns:a="http://schemas.openxmlformats.org/drawingml/2006/main" w="9525">
            <a:solidFill>
              <a:srgbClr val="3169AA"/>
            </a:solidFill>
            <a:prstDash val="solid"/>
          </a:ln>
        </p:spPr>
      </p:sp>
      <p:sp>
        <p:nvSpPr>
          <p:cNvPr id="8" name="nav-text-2">
            <a:extLst xmlns:a="http://schemas.openxmlformats.org/drawingml/2006/main">
              <a:ext uri="{FF2B5EF4-FFF2-40B4-BE49-F238E27FC236}">
                <a16:creationId xmlns:a16="http://schemas.microsoft.com/office/drawing/2014/main" id="{6564C069-3210-4737-9053-C4CB4208AA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" y="3114675"/>
            <a:ext cx="8191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38" b="0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938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方法与路线</a:t>
            </a:r>
          </a:p>
        </p:txBody>
      </p:sp>
      <p:sp>
        <p:nvSpPr>
          <p:cNvPr id="9" name="nav-3">
            <a:extLst xmlns:a="http://schemas.openxmlformats.org/drawingml/2006/main">
              <a:ext uri="{FF2B5EF4-FFF2-40B4-BE49-F238E27FC236}">
                <a16:creationId xmlns:a16="http://schemas.microsoft.com/office/drawing/2014/main" id="{83C1529E-5DA5-4028-A7FE-7EFD15FDB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" y="3495675"/>
            <a:ext cx="8763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4F9A"/>
          </a:solidFill>
          <a:ln xmlns:a="http://schemas.openxmlformats.org/drawingml/2006/main" w="9525">
            <a:solidFill>
              <a:srgbClr val="3169AA"/>
            </a:solidFill>
            <a:prstDash val="solid"/>
          </a:ln>
        </p:spPr>
      </p:sp>
      <p:sp>
        <p:nvSpPr>
          <p:cNvPr id="10" name="nav-text-3">
            <a:extLst xmlns:a="http://schemas.openxmlformats.org/drawingml/2006/main">
              <a:ext uri="{FF2B5EF4-FFF2-40B4-BE49-F238E27FC236}">
                <a16:creationId xmlns:a16="http://schemas.microsoft.com/office/drawing/2014/main" id="{E6EE0522-09FB-41E8-AEB7-E2EC01E68C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" y="3581400"/>
            <a:ext cx="8191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38" b="0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938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已完成工作</a:t>
            </a:r>
          </a:p>
        </p:txBody>
      </p:sp>
      <p:sp>
        <p:nvSpPr>
          <p:cNvPr id="11" name="nav-4">
            <a:extLst xmlns:a="http://schemas.openxmlformats.org/drawingml/2006/main">
              <a:ext uri="{FF2B5EF4-FFF2-40B4-BE49-F238E27FC236}">
                <a16:creationId xmlns:a16="http://schemas.microsoft.com/office/drawing/2014/main" id="{367564FE-DB80-43F9-907A-B85CE0A0D5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" y="3962400"/>
            <a:ext cx="8763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4F9A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2" name="nav-text-4">
            <a:extLst xmlns:a="http://schemas.openxmlformats.org/drawingml/2006/main">
              <a:ext uri="{FF2B5EF4-FFF2-40B4-BE49-F238E27FC236}">
                <a16:creationId xmlns:a16="http://schemas.microsoft.com/office/drawing/2014/main" id="{EE8E68A4-A809-47AE-A8F9-BD5C67F55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" y="4048125"/>
            <a:ext cx="8191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38" b="0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938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演示安排</a:t>
            </a:r>
          </a:p>
        </p:txBody>
      </p:sp>
      <p:sp>
        <p:nvSpPr>
          <p:cNvPr id="13" name="nav-5">
            <a:extLst xmlns:a="http://schemas.openxmlformats.org/drawingml/2006/main">
              <a:ext uri="{FF2B5EF4-FFF2-40B4-BE49-F238E27FC236}">
                <a16:creationId xmlns:a16="http://schemas.microsoft.com/office/drawing/2014/main" id="{67527CAD-9A03-4A65-86A0-BF94CB54B0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" y="4429125"/>
            <a:ext cx="8763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7FD"/>
          </a:solidFill>
          <a:ln xmlns:a="http://schemas.openxmlformats.org/drawingml/2006/main" w="9525">
            <a:solidFill>
              <a:srgbClr val="3169AA"/>
            </a:solidFill>
            <a:prstDash val="solid"/>
          </a:ln>
        </p:spPr>
      </p:sp>
      <p:sp>
        <p:nvSpPr>
          <p:cNvPr id="14" name="nav-text-5">
            <a:extLst xmlns:a="http://schemas.openxmlformats.org/drawingml/2006/main">
              <a:ext uri="{FF2B5EF4-FFF2-40B4-BE49-F238E27FC236}">
                <a16:creationId xmlns:a16="http://schemas.microsoft.com/office/drawing/2014/main" id="{250F0795-7309-4B7E-B835-8EDD7AEBE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" y="4514850"/>
            <a:ext cx="8191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38" b="1">
                <a:solidFill>
                  <a:srgbClr val="123D8D"/>
                </a:solidFill>
                <a:latin typeface="微软雅黑"/>
                <a:ea typeface="微软雅黑"/>
                <a:cs typeface="微软雅黑"/>
              </a:defRPr>
            </a:pPr>
            <a:r>
              <a:rPr sz="938" b="1">
                <a:solidFill>
                  <a:srgbClr val="123D8D"/>
                </a:solidFill>
                <a:latin typeface="微软雅黑"/>
                <a:ea typeface="微软雅黑"/>
                <a:cs typeface="微软雅黑"/>
              </a:rPr>
              <a:t>反思讨论</a:t>
            </a:r>
          </a:p>
        </p:txBody>
      </p:sp>
      <p:sp>
        <p:nvSpPr>
          <p:cNvPr id="15" name="title-square">
            <a:extLst xmlns:a="http://schemas.openxmlformats.org/drawingml/2006/main">
              <a:ext uri="{FF2B5EF4-FFF2-40B4-BE49-F238E27FC236}">
                <a16:creationId xmlns:a16="http://schemas.microsoft.com/office/drawing/2014/main" id="{C3A98E0C-9D93-4EB7-8F04-02FBDB3634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28600"/>
            <a:ext cx="1143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D8D"/>
          </a:solidFill>
          <a:ln xmlns:a="http://schemas.openxmlformats.org/drawingml/2006/main" w="0">
            <a:solidFill>
              <a:srgbClr val="123D8D"/>
            </a:solidFill>
            <a:prstDash val="solid"/>
          </a:ln>
        </p:spPr>
      </p:sp>
      <p:sp>
        <p:nvSpPr>
          <p:cNvPr id="16" name="slide-title">
            <a:extLst xmlns:a="http://schemas.openxmlformats.org/drawingml/2006/main">
              <a:ext uri="{FF2B5EF4-FFF2-40B4-BE49-F238E27FC236}">
                <a16:creationId xmlns:a16="http://schemas.microsoft.com/office/drawing/2014/main" id="{43E31594-B640-47A7-B32E-EDDE6E9CDA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161925"/>
            <a:ext cx="83343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1667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0B2F6B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1">
                <a:solidFill>
                  <a:srgbClr val="0B2F6B"/>
                </a:solidFill>
                <a:latin typeface="微软雅黑"/>
                <a:ea typeface="微软雅黑"/>
                <a:cs typeface="微软雅黑"/>
              </a:rPr>
              <a:t>6  反思：现在最需要讨论的是问题边界，不是模型名字</a:t>
            </a:r>
          </a:p>
        </p:txBody>
      </p:sp>
      <p:sp>
        <p:nvSpPr>
          <p:cNvPr id="17" name="title-rule">
            <a:extLst xmlns:a="http://schemas.openxmlformats.org/drawingml/2006/main">
              <a:ext uri="{FF2B5EF4-FFF2-40B4-BE49-F238E27FC236}">
                <a16:creationId xmlns:a16="http://schemas.microsoft.com/office/drawing/2014/main" id="{9EB5CC31-FFFD-4D76-9653-ED46636DEB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590550"/>
            <a:ext cx="87153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D8D"/>
          </a:solidFill>
          <a:ln xmlns:a="http://schemas.openxmlformats.org/drawingml/2006/main" w="0">
            <a:solidFill>
              <a:srgbClr val="123D8D"/>
            </a:solidFill>
            <a:prstDash val="solid"/>
          </a:ln>
        </p:spPr>
      </p:sp>
      <p:pic>
        <p:nvPicPr>
          <p:cNvPr id="80" name="图片 59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a891769a6f0436d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220791" y="66675"/>
            <a:ext cx="1608794" cy="514350"/>
          </a:xfrm>
          <a:prstGeom xmlns:a="http://schemas.openxmlformats.org/drawingml/2006/main" prst="rect">
            <a:avLst/>
          </a:prstGeom>
        </p:spPr>
      </p:pic>
      <p:sp>
        <p:nvSpPr>
          <p:cNvPr id="19" name="page-number">
            <a:extLst xmlns:a="http://schemas.openxmlformats.org/drawingml/2006/main">
              <a:ext uri="{FF2B5EF4-FFF2-40B4-BE49-F238E27FC236}">
                <a16:creationId xmlns:a16="http://schemas.microsoft.com/office/drawing/2014/main" id="{ECFFA6C8-63A5-4F25-87E3-BA71AD8F4D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2375" y="6486525"/>
            <a:ext cx="47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7A8894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7A8894"/>
                </a:solidFill>
                <a:latin typeface="Arial"/>
                <a:ea typeface="Arial"/>
                <a:cs typeface="Arial"/>
              </a:rPr>
              <a:t>16</a:t>
            </a:r>
          </a:p>
        </p:txBody>
      </p:sp>
      <p:sp>
        <p:nvSpPr>
          <p:cNvPr id="20" name="citation-footer">
            <a:extLst xmlns:a="http://schemas.openxmlformats.org/drawingml/2006/main">
              <a:ext uri="{FF2B5EF4-FFF2-40B4-BE49-F238E27FC236}">
                <a16:creationId xmlns:a16="http://schemas.microsoft.com/office/drawing/2014/main" id="{57C9D51A-5032-415C-92BA-148D8FB9B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6457950"/>
            <a:ext cx="495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0834"/>
          </a:bodyPr>
          <a:lstStyle xmlns:a="http://schemas.openxmlformats.org/drawingml/2006/main"/>
          <a:p xmlns:a="http://schemas.openxmlformats.org/drawingml/2006/main">
            <a:pPr algn="l">
              <a:buNone/>
              <a:defRPr sz="863" b="0">
                <a:solidFill>
                  <a:srgbClr val="7A8894"/>
                </a:solidFill>
                <a:latin typeface="微软雅黑"/>
                <a:ea typeface="微软雅黑"/>
                <a:cs typeface="微软雅黑"/>
              </a:defRPr>
            </a:pPr>
            <a:r>
              <a:rPr sz="863" b="0">
                <a:solidFill>
                  <a:srgbClr val="7A8894"/>
                </a:solidFill>
                <a:latin typeface="微软雅黑"/>
                <a:ea typeface="微软雅黑"/>
                <a:cs typeface="微软雅黑"/>
              </a:rPr>
              <a:t>反思与讨论 · 先判断问题是否真实存在</a:t>
            </a:r>
          </a:p>
        </p:txBody>
      </p:sp>
      <p:sp>
        <p:nvSpPr>
          <p:cNvPr id="45" name="question-card-0">
            <a:extLst xmlns:a="http://schemas.openxmlformats.org/drawingml/2006/main">
              <a:ext uri="{FF2B5EF4-FFF2-40B4-BE49-F238E27FC236}">
                <a16:creationId xmlns:a16="http://schemas.microsoft.com/office/drawing/2014/main" id="{99BDA1F0-67AC-4CE7-BE59-79894A7F03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1476375"/>
            <a:ext cx="2190750" cy="3524250"/>
          </a:xfrm>
          <a:prstGeom xmlns:a="http://schemas.openxmlformats.org/drawingml/2006/main" prst="roundRect">
            <a:avLst>
              <a:gd name="adj" fmla="val 3478"/>
            </a:avLst>
          </a:prstGeom>
          <a:solidFill xmlns:a="http://schemas.openxmlformats.org/drawingml/2006/main">
            <a:srgbClr val="EEF7FD"/>
          </a:solidFill>
          <a:ln xmlns:a="http://schemas.openxmlformats.org/drawingml/2006/main" w="11906">
            <a:solidFill>
              <a:srgbClr val="AFCFE2"/>
            </a:solidFill>
            <a:prstDash val="solid"/>
          </a:ln>
        </p:spPr>
      </p:sp>
      <p:sp>
        <p:nvSpPr>
          <p:cNvPr id="46" name="question-no-0">
            <a:extLst xmlns:a="http://schemas.openxmlformats.org/drawingml/2006/main">
              <a:ext uri="{FF2B5EF4-FFF2-40B4-BE49-F238E27FC236}">
                <a16:creationId xmlns:a16="http://schemas.microsoft.com/office/drawing/2014/main" id="{A3663675-10BA-49BB-9C6E-0D615B7C37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62175" y="1181100"/>
            <a:ext cx="6096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123D8D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23D8D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47" name="question-title-0">
            <a:extLst xmlns:a="http://schemas.openxmlformats.org/drawingml/2006/main">
              <a:ext uri="{FF2B5EF4-FFF2-40B4-BE49-F238E27FC236}">
                <a16:creationId xmlns:a16="http://schemas.microsoft.com/office/drawing/2014/main" id="{105A2CEE-963B-4E69-9C14-288212B950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2575" y="2095500"/>
            <a:ext cx="18478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2F6B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0B2F6B"/>
                </a:solidFill>
                <a:latin typeface="微软雅黑"/>
                <a:ea typeface="微软雅黑"/>
                <a:cs typeface="微软雅黑"/>
              </a:rPr>
              <a:t>消息价值怎么定义？</a:t>
            </a:r>
          </a:p>
        </p:txBody>
      </p:sp>
      <p:sp>
        <p:nvSpPr>
          <p:cNvPr id="48" name="question-body-0">
            <a:extLst xmlns:a="http://schemas.openxmlformats.org/drawingml/2006/main">
              <a:ext uri="{FF2B5EF4-FFF2-40B4-BE49-F238E27FC236}">
                <a16:creationId xmlns:a16="http://schemas.microsoft.com/office/drawing/2014/main" id="{E33BF8C7-927B-4C7A-AC00-0F62D6156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952750"/>
            <a:ext cx="17145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163">
                <a:solidFill>
                  <a:srgbClr val="1F2937"/>
                </a:solidFill>
                <a:latin typeface="微软雅黑"/>
                <a:ea typeface="微软雅黑"/>
                <a:cs typeface="微软雅黑"/>
              </a:defRPr>
            </a:pPr>
            <a:r>
              <a:rPr sz="1163">
                <a:solidFill>
                  <a:srgbClr val="1F2937"/>
                </a:solidFill>
                <a:latin typeface="微软雅黑"/>
                <a:ea typeface="微软雅黑"/>
                <a:cs typeface="微软雅黑"/>
              </a:rPr>
              <a:t>AoI、deadline、RSSI、队列长度和任务阶段，怎样合成可解释的“送达收益”？</a:t>
            </a:r>
          </a:p>
        </p:txBody>
      </p:sp>
      <p:sp>
        <p:nvSpPr>
          <p:cNvPr id="49" name="question-card-1">
            <a:extLst xmlns:a="http://schemas.openxmlformats.org/drawingml/2006/main">
              <a:ext uri="{FF2B5EF4-FFF2-40B4-BE49-F238E27FC236}">
                <a16:creationId xmlns:a16="http://schemas.microsoft.com/office/drawing/2014/main" id="{E00244F5-6A25-4B68-B000-913DBB10E4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1476375"/>
            <a:ext cx="2190750" cy="3524250"/>
          </a:xfrm>
          <a:prstGeom xmlns:a="http://schemas.openxmlformats.org/drawingml/2006/main" prst="roundRect">
            <a:avLst>
              <a:gd name="adj" fmla="val 3478"/>
            </a:avLst>
          </a:prstGeom>
          <a:solidFill xmlns:a="http://schemas.openxmlformats.org/drawingml/2006/main">
            <a:srgbClr val="EEF7FD"/>
          </a:solidFill>
          <a:ln xmlns:a="http://schemas.openxmlformats.org/drawingml/2006/main" w="11906">
            <a:solidFill>
              <a:srgbClr val="AFCFE2"/>
            </a:solidFill>
            <a:prstDash val="solid"/>
          </a:ln>
        </p:spPr>
      </p:sp>
      <p:sp>
        <p:nvSpPr>
          <p:cNvPr id="50" name="question-no-1">
            <a:extLst xmlns:a="http://schemas.openxmlformats.org/drawingml/2006/main">
              <a:ext uri="{FF2B5EF4-FFF2-40B4-BE49-F238E27FC236}">
                <a16:creationId xmlns:a16="http://schemas.microsoft.com/office/drawing/2014/main" id="{C0903DBE-FF76-43B7-B6FD-5277CA107F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1181100"/>
            <a:ext cx="6096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123D8D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23D8D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51" name="question-title-1">
            <a:extLst xmlns:a="http://schemas.openxmlformats.org/drawingml/2006/main">
              <a:ext uri="{FF2B5EF4-FFF2-40B4-BE49-F238E27FC236}">
                <a16:creationId xmlns:a16="http://schemas.microsoft.com/office/drawing/2014/main" id="{033B932B-8BFF-493D-AC87-43F4153651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00" y="2095500"/>
            <a:ext cx="18478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2F6B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0B2F6B"/>
                </a:solidFill>
                <a:latin typeface="微软雅黑"/>
                <a:ea typeface="微软雅黑"/>
                <a:cs typeface="微软雅黑"/>
              </a:rPr>
              <a:t>中央端能看到什么？</a:t>
            </a:r>
          </a:p>
        </p:txBody>
      </p:sp>
      <p:sp>
        <p:nvSpPr>
          <p:cNvPr id="52" name="question-body-1">
            <a:extLst xmlns:a="http://schemas.openxmlformats.org/drawingml/2006/main">
              <a:ext uri="{FF2B5EF4-FFF2-40B4-BE49-F238E27FC236}">
                <a16:creationId xmlns:a16="http://schemas.microsoft.com/office/drawing/2014/main" id="{92A9A2F7-7612-4B52-90AD-10CB92ACEF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3375" y="2952750"/>
            <a:ext cx="17145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163">
                <a:solidFill>
                  <a:srgbClr val="1F2937"/>
                </a:solidFill>
                <a:latin typeface="微软雅黑"/>
                <a:ea typeface="微软雅黑"/>
                <a:cs typeface="微软雅黑"/>
              </a:defRPr>
            </a:pPr>
            <a:r>
              <a:rPr sz="1163">
                <a:solidFill>
                  <a:srgbClr val="1F2937"/>
                </a:solidFill>
                <a:latin typeface="微软雅黑"/>
                <a:ea typeface="微软雅黑"/>
                <a:cs typeface="微软雅黑"/>
              </a:rPr>
              <a:t>不能免费知道隐藏队列；关键事件如何避免因为没有请求而永远不可见？</a:t>
            </a:r>
          </a:p>
        </p:txBody>
      </p:sp>
      <p:sp>
        <p:nvSpPr>
          <p:cNvPr id="53" name="question-card-2">
            <a:extLst xmlns:a="http://schemas.openxmlformats.org/drawingml/2006/main">
              <a:ext uri="{FF2B5EF4-FFF2-40B4-BE49-F238E27FC236}">
                <a16:creationId xmlns:a16="http://schemas.microsoft.com/office/drawing/2014/main" id="{82E8E16A-7615-41EB-AD4D-18D948FED5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1476375"/>
            <a:ext cx="2190750" cy="3524250"/>
          </a:xfrm>
          <a:prstGeom xmlns:a="http://schemas.openxmlformats.org/drawingml/2006/main" prst="roundRect">
            <a:avLst>
              <a:gd name="adj" fmla="val 3478"/>
            </a:avLst>
          </a:prstGeom>
          <a:solidFill xmlns:a="http://schemas.openxmlformats.org/drawingml/2006/main">
            <a:srgbClr val="EEF7FD"/>
          </a:solidFill>
          <a:ln xmlns:a="http://schemas.openxmlformats.org/drawingml/2006/main" w="11906">
            <a:solidFill>
              <a:srgbClr val="AFCFE2"/>
            </a:solidFill>
            <a:prstDash val="solid"/>
          </a:ln>
        </p:spPr>
      </p:sp>
      <p:sp>
        <p:nvSpPr>
          <p:cNvPr id="54" name="question-no-2">
            <a:extLst xmlns:a="http://schemas.openxmlformats.org/drawingml/2006/main">
              <a:ext uri="{FF2B5EF4-FFF2-40B4-BE49-F238E27FC236}">
                <a16:creationId xmlns:a16="http://schemas.microsoft.com/office/drawing/2014/main" id="{64EDAD88-EFE0-49EC-9DFD-95C53D959C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0425" y="1181100"/>
            <a:ext cx="6096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123D8D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23D8D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55" name="question-title-2">
            <a:extLst xmlns:a="http://schemas.openxmlformats.org/drawingml/2006/main">
              <a:ext uri="{FF2B5EF4-FFF2-40B4-BE49-F238E27FC236}">
                <a16:creationId xmlns:a16="http://schemas.microsoft.com/office/drawing/2014/main" id="{05243311-C532-46BD-942B-91EF4B7BC5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0825" y="2095500"/>
            <a:ext cx="18478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2F6B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0B2F6B"/>
                </a:solidFill>
                <a:latin typeface="微软雅黑"/>
                <a:ea typeface="微软雅黑"/>
                <a:cs typeface="微软雅黑"/>
              </a:rPr>
              <a:t>任务和网络怎样合并？</a:t>
            </a:r>
          </a:p>
        </p:txBody>
      </p:sp>
      <p:sp>
        <p:nvSpPr>
          <p:cNvPr id="56" name="question-body-2">
            <a:extLst xmlns:a="http://schemas.openxmlformats.org/drawingml/2006/main">
              <a:ext uri="{FF2B5EF4-FFF2-40B4-BE49-F238E27FC236}">
                <a16:creationId xmlns:a16="http://schemas.microsoft.com/office/drawing/2014/main" id="{A43AADF1-9D6A-4735-9A99-6A3D82597B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952750"/>
            <a:ext cx="17145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163">
                <a:solidFill>
                  <a:srgbClr val="1F2937"/>
                </a:solidFill>
                <a:latin typeface="微软雅黑"/>
                <a:ea typeface="微软雅黑"/>
                <a:cs typeface="微软雅黑"/>
              </a:defRPr>
            </a:pPr>
            <a:r>
              <a:rPr sz="1163">
                <a:solidFill>
                  <a:srgbClr val="1F2937"/>
                </a:solidFill>
                <a:latin typeface="微软雅黑"/>
                <a:ea typeface="微软雅黑"/>
                <a:cs typeface="微软雅黑"/>
              </a:rPr>
              <a:t>成功率、完成时间、PDR、AoI、payload、airtime、能耗的主终点如何固定？</a:t>
            </a:r>
          </a:p>
        </p:txBody>
      </p:sp>
      <p:sp>
        <p:nvSpPr>
          <p:cNvPr id="57" name="question-card-3">
            <a:extLst xmlns:a="http://schemas.openxmlformats.org/drawingml/2006/main">
              <a:ext uri="{FF2B5EF4-FFF2-40B4-BE49-F238E27FC236}">
                <a16:creationId xmlns:a16="http://schemas.microsoft.com/office/drawing/2014/main" id="{D0B6D100-D976-47D9-90FE-5D7EBBDE9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1476375"/>
            <a:ext cx="2190750" cy="3524250"/>
          </a:xfrm>
          <a:prstGeom xmlns:a="http://schemas.openxmlformats.org/drawingml/2006/main" prst="roundRect">
            <a:avLst>
              <a:gd name="adj" fmla="val 3478"/>
            </a:avLst>
          </a:prstGeom>
          <a:solidFill xmlns:a="http://schemas.openxmlformats.org/drawingml/2006/main">
            <a:srgbClr val="FBE9EB"/>
          </a:solidFill>
          <a:ln xmlns:a="http://schemas.openxmlformats.org/drawingml/2006/main" w="11906">
            <a:solidFill>
              <a:srgbClr val="C7333E"/>
            </a:solidFill>
            <a:prstDash val="solid"/>
          </a:ln>
        </p:spPr>
      </p:sp>
      <p:sp>
        <p:nvSpPr>
          <p:cNvPr id="58" name="question-no-3">
            <a:extLst xmlns:a="http://schemas.openxmlformats.org/drawingml/2006/main">
              <a:ext uri="{FF2B5EF4-FFF2-40B4-BE49-F238E27FC236}">
                <a16:creationId xmlns:a16="http://schemas.microsoft.com/office/drawing/2014/main" id="{EB847B7B-9723-45AC-9270-396BA4F842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1181100"/>
            <a:ext cx="6096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C7333E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C7333E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59" name="question-title-3">
            <a:extLst xmlns:a="http://schemas.openxmlformats.org/drawingml/2006/main">
              <a:ext uri="{FF2B5EF4-FFF2-40B4-BE49-F238E27FC236}">
                <a16:creationId xmlns:a16="http://schemas.microsoft.com/office/drawing/2014/main" id="{829F97BE-2BAC-40C3-B9AD-D2CFE36E59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2095500"/>
            <a:ext cx="18478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2F6B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0B2F6B"/>
                </a:solidFill>
                <a:latin typeface="微软雅黑"/>
                <a:ea typeface="微软雅黑"/>
                <a:cs typeface="微软雅黑"/>
              </a:rPr>
              <a:t>强基线和实物怎么办？</a:t>
            </a:r>
          </a:p>
        </p:txBody>
      </p:sp>
      <p:sp>
        <p:nvSpPr>
          <p:cNvPr id="60" name="question-body-3">
            <a:extLst xmlns:a="http://schemas.openxmlformats.org/drawingml/2006/main">
              <a:ext uri="{FF2B5EF4-FFF2-40B4-BE49-F238E27FC236}">
                <a16:creationId xmlns:a16="http://schemas.microsoft.com/office/drawing/2014/main" id="{230AF812-FC27-435B-8206-51674EA164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2952750"/>
            <a:ext cx="17145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163">
                <a:solidFill>
                  <a:srgbClr val="1F2937"/>
                </a:solidFill>
                <a:latin typeface="微软雅黑"/>
                <a:ea typeface="微软雅黑"/>
                <a:cs typeface="微软雅黑"/>
              </a:defRPr>
            </a:pPr>
            <a:r>
              <a:rPr sz="1163">
                <a:solidFill>
                  <a:srgbClr val="1F2937"/>
                </a:solidFill>
                <a:latin typeface="微软雅黑"/>
                <a:ea typeface="微软雅黑"/>
                <a:cs typeface="微软雅黑"/>
              </a:rPr>
              <a:t>task-value greedy 是否已经足够？断网时机器人应继续、等待、返航还是报告 PARTIAL_COMPLETE？</a:t>
            </a:r>
          </a:p>
        </p:txBody>
      </p:sp>
      <p:sp>
        <p:nvSpPr>
          <p:cNvPr id="61" name="reflection-takeaway">
            <a:extLst xmlns:a="http://schemas.openxmlformats.org/drawingml/2006/main">
              <a:ext uri="{FF2B5EF4-FFF2-40B4-BE49-F238E27FC236}">
                <a16:creationId xmlns:a16="http://schemas.microsoft.com/office/drawing/2014/main" id="{E701B4C9-F889-41BF-9A7B-F6F98D1998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5476875"/>
            <a:ext cx="7048500" cy="4572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C7333E"/>
          </a:solidFill>
          <a:ln xmlns:a="http://schemas.openxmlformats.org/drawingml/2006/main" w="11906">
            <a:solidFill>
              <a:srgbClr val="C7333E"/>
            </a:solidFill>
            <a:prstDash val="solid"/>
          </a:ln>
        </p:spPr>
      </p:sp>
      <p:sp>
        <p:nvSpPr>
          <p:cNvPr id="62" name="reflection-takeaway-text">
            <a:extLst xmlns:a="http://schemas.openxmlformats.org/drawingml/2006/main">
              <a:ext uri="{FF2B5EF4-FFF2-40B4-BE49-F238E27FC236}">
                <a16:creationId xmlns:a16="http://schemas.microsoft.com/office/drawing/2014/main" id="{437E80CF-2F5B-47B6-97C0-388F547AA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5600700"/>
            <a:ext cx="6705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5185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如果真实候选负载不足，RL 可能只是在制造一个人为问题。</a:t>
            </a:r>
          </a:p>
        </p:txBody>
      </p:sp>
    </p:spTree>
    <p:extLst>
      <p:ext uri="{BB962C8B-B14F-4D97-AF65-F5344CB8AC3E}">
        <p14:creationId xmlns:p14="http://schemas.microsoft.com/office/powerpoint/2010/main" val="1238385699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8" name="left-nav-bg">
            <a:extLst xmlns:a="http://schemas.openxmlformats.org/drawingml/2006/main">
              <a:ext uri="{FF2B5EF4-FFF2-40B4-BE49-F238E27FC236}">
                <a16:creationId xmlns:a16="http://schemas.microsoft.com/office/drawing/2014/main" id="{25DF4B4D-34C2-46DA-A268-7D200EF5C7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906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D8D"/>
          </a:solidFill>
          <a:ln xmlns:a="http://schemas.openxmlformats.org/drawingml/2006/main" w="0">
            <a:solidFill>
              <a:srgbClr val="123D8D"/>
            </a:solidFill>
            <a:prstDash val="solid"/>
          </a:ln>
        </p:spPr>
      </p:sp>
      <p:sp>
        <p:nvSpPr>
          <p:cNvPr id="2" name="nav-label">
            <a:extLst xmlns:a="http://schemas.openxmlformats.org/drawingml/2006/main">
              <a:ext uri="{FF2B5EF4-FFF2-40B4-BE49-F238E27FC236}">
                <a16:creationId xmlns:a16="http://schemas.microsoft.com/office/drawing/2014/main" id="{EE15988F-B34E-4AEC-B159-48F78044BA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" y="266700"/>
            <a:ext cx="933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8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近期工作分享</a:t>
            </a:r>
          </a:p>
        </p:txBody>
      </p:sp>
      <p:sp>
        <p:nvSpPr>
          <p:cNvPr id="3" name="nav-0">
            <a:extLst xmlns:a="http://schemas.openxmlformats.org/drawingml/2006/main">
              <a:ext uri="{FF2B5EF4-FFF2-40B4-BE49-F238E27FC236}">
                <a16:creationId xmlns:a16="http://schemas.microsoft.com/office/drawing/2014/main" id="{169642CD-0400-4A1A-879F-368CB002B2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" y="2095500"/>
            <a:ext cx="8763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4F9A"/>
          </a:solidFill>
          <a:ln xmlns:a="http://schemas.openxmlformats.org/drawingml/2006/main" w="9525">
            <a:solidFill>
              <a:srgbClr val="3169AA"/>
            </a:solidFill>
            <a:prstDash val="solid"/>
          </a:ln>
        </p:spPr>
      </p:sp>
      <p:sp>
        <p:nvSpPr>
          <p:cNvPr id="4" name="nav-text-0">
            <a:extLst xmlns:a="http://schemas.openxmlformats.org/drawingml/2006/main">
              <a:ext uri="{FF2B5EF4-FFF2-40B4-BE49-F238E27FC236}">
                <a16:creationId xmlns:a16="http://schemas.microsoft.com/office/drawing/2014/main" id="{76518BA1-89E0-45AC-A33F-523901448C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" y="2181225"/>
            <a:ext cx="8191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38" b="0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938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问题提出</a:t>
            </a:r>
          </a:p>
        </p:txBody>
      </p:sp>
      <p:sp>
        <p:nvSpPr>
          <p:cNvPr id="5" name="nav-1">
            <a:extLst xmlns:a="http://schemas.openxmlformats.org/drawingml/2006/main">
              <a:ext uri="{FF2B5EF4-FFF2-40B4-BE49-F238E27FC236}">
                <a16:creationId xmlns:a16="http://schemas.microsoft.com/office/drawing/2014/main" id="{8A260165-8F08-44A0-8AB7-FA28C17783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" y="2562225"/>
            <a:ext cx="8763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4F9A"/>
          </a:solidFill>
          <a:ln xmlns:a="http://schemas.openxmlformats.org/drawingml/2006/main" w="9525">
            <a:solidFill>
              <a:srgbClr val="3169AA"/>
            </a:solidFill>
            <a:prstDash val="solid"/>
          </a:ln>
        </p:spPr>
      </p:sp>
      <p:sp>
        <p:nvSpPr>
          <p:cNvPr id="6" name="nav-text-1">
            <a:extLst xmlns:a="http://schemas.openxmlformats.org/drawingml/2006/main">
              <a:ext uri="{FF2B5EF4-FFF2-40B4-BE49-F238E27FC236}">
                <a16:creationId xmlns:a16="http://schemas.microsoft.com/office/drawing/2014/main" id="{8795331C-078C-40A4-BD93-37ED3099A9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" y="2647950"/>
            <a:ext cx="8191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38" b="0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938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文献调研</a:t>
            </a:r>
          </a:p>
        </p:txBody>
      </p:sp>
      <p:sp>
        <p:nvSpPr>
          <p:cNvPr id="7" name="nav-2">
            <a:extLst xmlns:a="http://schemas.openxmlformats.org/drawingml/2006/main">
              <a:ext uri="{FF2B5EF4-FFF2-40B4-BE49-F238E27FC236}">
                <a16:creationId xmlns:a16="http://schemas.microsoft.com/office/drawing/2014/main" id="{E9B9B8FB-A23E-4291-AD15-ECF8D8AAB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" y="3028950"/>
            <a:ext cx="8763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4F9A"/>
          </a:solidFill>
          <a:ln xmlns:a="http://schemas.openxmlformats.org/drawingml/2006/main" w="9525">
            <a:solidFill>
              <a:srgbClr val="3169AA"/>
            </a:solidFill>
            <a:prstDash val="solid"/>
          </a:ln>
        </p:spPr>
      </p:sp>
      <p:sp>
        <p:nvSpPr>
          <p:cNvPr id="8" name="nav-text-2">
            <a:extLst xmlns:a="http://schemas.openxmlformats.org/drawingml/2006/main">
              <a:ext uri="{FF2B5EF4-FFF2-40B4-BE49-F238E27FC236}">
                <a16:creationId xmlns:a16="http://schemas.microsoft.com/office/drawing/2014/main" id="{B61AD2DE-6B9A-44AD-B197-C9E568734C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" y="3114675"/>
            <a:ext cx="8191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38" b="0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938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方法与路线</a:t>
            </a:r>
          </a:p>
        </p:txBody>
      </p:sp>
      <p:sp>
        <p:nvSpPr>
          <p:cNvPr id="9" name="nav-3">
            <a:extLst xmlns:a="http://schemas.openxmlformats.org/drawingml/2006/main">
              <a:ext uri="{FF2B5EF4-FFF2-40B4-BE49-F238E27FC236}">
                <a16:creationId xmlns:a16="http://schemas.microsoft.com/office/drawing/2014/main" id="{CBB91A73-F098-4519-A417-803210EC79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" y="3495675"/>
            <a:ext cx="8763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4F9A"/>
          </a:solidFill>
          <a:ln xmlns:a="http://schemas.openxmlformats.org/drawingml/2006/main" w="9525">
            <a:solidFill>
              <a:srgbClr val="3169AA"/>
            </a:solidFill>
            <a:prstDash val="solid"/>
          </a:ln>
        </p:spPr>
      </p:sp>
      <p:sp>
        <p:nvSpPr>
          <p:cNvPr id="10" name="nav-text-3">
            <a:extLst xmlns:a="http://schemas.openxmlformats.org/drawingml/2006/main">
              <a:ext uri="{FF2B5EF4-FFF2-40B4-BE49-F238E27FC236}">
                <a16:creationId xmlns:a16="http://schemas.microsoft.com/office/drawing/2014/main" id="{36EF509A-7CE5-4A2C-8164-FBC26EC8EE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" y="3581400"/>
            <a:ext cx="8191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38" b="0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938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已完成工作</a:t>
            </a:r>
          </a:p>
        </p:txBody>
      </p:sp>
      <p:sp>
        <p:nvSpPr>
          <p:cNvPr id="11" name="nav-4">
            <a:extLst xmlns:a="http://schemas.openxmlformats.org/drawingml/2006/main">
              <a:ext uri="{FF2B5EF4-FFF2-40B4-BE49-F238E27FC236}">
                <a16:creationId xmlns:a16="http://schemas.microsoft.com/office/drawing/2014/main" id="{A4A2BE6D-6E4C-4539-B959-BC99792095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" y="3962400"/>
            <a:ext cx="8763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4F9A"/>
          </a:solidFill>
          <a:ln xmlns:a="http://schemas.openxmlformats.org/drawingml/2006/main" w="9525">
            <a:solidFill>
              <a:srgbClr val="3169AA"/>
            </a:solidFill>
            <a:prstDash val="solid"/>
          </a:ln>
        </p:spPr>
      </p:sp>
      <p:sp>
        <p:nvSpPr>
          <p:cNvPr id="12" name="nav-text-4">
            <a:extLst xmlns:a="http://schemas.openxmlformats.org/drawingml/2006/main">
              <a:ext uri="{FF2B5EF4-FFF2-40B4-BE49-F238E27FC236}">
                <a16:creationId xmlns:a16="http://schemas.microsoft.com/office/drawing/2014/main" id="{7B17BDF5-5B30-4B6F-83A3-DCB16533AD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" y="4048125"/>
            <a:ext cx="8191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38" b="0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938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演示安排</a:t>
            </a:r>
          </a:p>
        </p:txBody>
      </p:sp>
      <p:sp>
        <p:nvSpPr>
          <p:cNvPr id="13" name="nav-5">
            <a:extLst xmlns:a="http://schemas.openxmlformats.org/drawingml/2006/main">
              <a:ext uri="{FF2B5EF4-FFF2-40B4-BE49-F238E27FC236}">
                <a16:creationId xmlns:a16="http://schemas.microsoft.com/office/drawing/2014/main" id="{86FC1F2C-05A2-45F8-8B4E-0D3B2D61C7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" y="4429125"/>
            <a:ext cx="8763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7FD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4" name="nav-text-5">
            <a:extLst xmlns:a="http://schemas.openxmlformats.org/drawingml/2006/main">
              <a:ext uri="{FF2B5EF4-FFF2-40B4-BE49-F238E27FC236}">
                <a16:creationId xmlns:a16="http://schemas.microsoft.com/office/drawing/2014/main" id="{1D668EF5-76B5-4D2B-9C36-C89BDC280B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" y="4514850"/>
            <a:ext cx="8191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38" b="1">
                <a:solidFill>
                  <a:srgbClr val="123D8D"/>
                </a:solidFill>
                <a:latin typeface="微软雅黑"/>
                <a:ea typeface="微软雅黑"/>
                <a:cs typeface="微软雅黑"/>
              </a:defRPr>
            </a:pPr>
            <a:r>
              <a:rPr sz="938" b="1">
                <a:solidFill>
                  <a:srgbClr val="123D8D"/>
                </a:solidFill>
                <a:latin typeface="微软雅黑"/>
                <a:ea typeface="微软雅黑"/>
                <a:cs typeface="微软雅黑"/>
              </a:rPr>
              <a:t>反思讨论</a:t>
            </a:r>
          </a:p>
        </p:txBody>
      </p:sp>
      <p:sp>
        <p:nvSpPr>
          <p:cNvPr id="15" name="title-square">
            <a:extLst xmlns:a="http://schemas.openxmlformats.org/drawingml/2006/main">
              <a:ext uri="{FF2B5EF4-FFF2-40B4-BE49-F238E27FC236}">
                <a16:creationId xmlns:a16="http://schemas.microsoft.com/office/drawing/2014/main" id="{689D6CD1-FE2C-4D83-A055-D54653A018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28600"/>
            <a:ext cx="1143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D8D"/>
          </a:solidFill>
          <a:ln xmlns:a="http://schemas.openxmlformats.org/drawingml/2006/main" w="0">
            <a:solidFill>
              <a:srgbClr val="123D8D"/>
            </a:solidFill>
            <a:prstDash val="solid"/>
          </a:ln>
        </p:spPr>
      </p:sp>
      <p:sp>
        <p:nvSpPr>
          <p:cNvPr id="16" name="slide-title">
            <a:extLst xmlns:a="http://schemas.openxmlformats.org/drawingml/2006/main">
              <a:ext uri="{FF2B5EF4-FFF2-40B4-BE49-F238E27FC236}">
                <a16:creationId xmlns:a16="http://schemas.microsoft.com/office/drawing/2014/main" id="{37064F3F-22EC-4579-B693-C23A3FC356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161925"/>
            <a:ext cx="83343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1667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0B2F6B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1">
                <a:solidFill>
                  <a:srgbClr val="0B2F6B"/>
                </a:solidFill>
                <a:latin typeface="微软雅黑"/>
                <a:ea typeface="微软雅黑"/>
                <a:cs typeface="微软雅黑"/>
              </a:rPr>
              <a:t>6.1  最近的工程门与几个需要一起判断的选择</a:t>
            </a:r>
          </a:p>
        </p:txBody>
      </p:sp>
      <p:sp>
        <p:nvSpPr>
          <p:cNvPr id="17" name="title-rule">
            <a:extLst xmlns:a="http://schemas.openxmlformats.org/drawingml/2006/main">
              <a:ext uri="{FF2B5EF4-FFF2-40B4-BE49-F238E27FC236}">
                <a16:creationId xmlns:a16="http://schemas.microsoft.com/office/drawing/2014/main" id="{759C68B7-C4FB-442D-864B-411113C02F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590550"/>
            <a:ext cx="87153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D8D"/>
          </a:solidFill>
          <a:ln xmlns:a="http://schemas.openxmlformats.org/drawingml/2006/main" w="0">
            <a:solidFill>
              <a:srgbClr val="123D8D"/>
            </a:solidFill>
            <a:prstDash val="solid"/>
          </a:ln>
        </p:spPr>
      </p:sp>
      <p:pic>
        <p:nvPicPr>
          <p:cNvPr id="74" name="图片 5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9a12907e0884f0f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220791" y="66675"/>
            <a:ext cx="1608794" cy="514350"/>
          </a:xfrm>
          <a:prstGeom xmlns:a="http://schemas.openxmlformats.org/drawingml/2006/main" prst="rect">
            <a:avLst/>
          </a:prstGeom>
        </p:spPr>
      </p:pic>
      <p:sp>
        <p:nvSpPr>
          <p:cNvPr id="19" name="page-number">
            <a:extLst xmlns:a="http://schemas.openxmlformats.org/drawingml/2006/main">
              <a:ext uri="{FF2B5EF4-FFF2-40B4-BE49-F238E27FC236}">
                <a16:creationId xmlns:a16="http://schemas.microsoft.com/office/drawing/2014/main" id="{11B53966-1D4F-4247-9316-C1E9D391C5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2375" y="6486525"/>
            <a:ext cx="47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7A8894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7A8894"/>
                </a:solidFill>
                <a:latin typeface="Arial"/>
                <a:ea typeface="Arial"/>
                <a:cs typeface="Arial"/>
              </a:rPr>
              <a:t>17</a:t>
            </a:r>
          </a:p>
        </p:txBody>
      </p:sp>
      <p:sp>
        <p:nvSpPr>
          <p:cNvPr id="20" name="citation-footer">
            <a:extLst xmlns:a="http://schemas.openxmlformats.org/drawingml/2006/main">
              <a:ext uri="{FF2B5EF4-FFF2-40B4-BE49-F238E27FC236}">
                <a16:creationId xmlns:a16="http://schemas.microsoft.com/office/drawing/2014/main" id="{868F00D2-A783-4EB6-AADC-DED5C89C38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6457950"/>
            <a:ext cx="495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0834"/>
          </a:bodyPr>
          <a:lstStyle xmlns:a="http://schemas.openxmlformats.org/drawingml/2006/main"/>
          <a:p xmlns:a="http://schemas.openxmlformats.org/drawingml/2006/main">
            <a:pPr algn="l">
              <a:buNone/>
              <a:defRPr sz="863" b="0">
                <a:solidFill>
                  <a:srgbClr val="7A8894"/>
                </a:solidFill>
                <a:latin typeface="微软雅黑"/>
                <a:ea typeface="微软雅黑"/>
                <a:cs typeface="微软雅黑"/>
              </a:defRPr>
            </a:pPr>
            <a:r>
              <a:rPr sz="863" b="0">
                <a:solidFill>
                  <a:srgbClr val="7A8894"/>
                </a:solidFill>
                <a:latin typeface="微软雅黑"/>
                <a:ea typeface="微软雅黑"/>
                <a:cs typeface="微软雅黑"/>
              </a:rPr>
              <a:t>反思与讨论 · 下一步不是直接训练，而是先补证据</a:t>
            </a:r>
          </a:p>
        </p:txBody>
      </p:sp>
      <p:sp>
        <p:nvSpPr>
          <p:cNvPr id="40" name="next-q-0">
            <a:extLst xmlns:a="http://schemas.openxmlformats.org/drawingml/2006/main">
              <a:ext uri="{FF2B5EF4-FFF2-40B4-BE49-F238E27FC236}">
                <a16:creationId xmlns:a16="http://schemas.microsoft.com/office/drawing/2014/main" id="{7DCC1190-4E4B-43FE-AC8D-1A21E1FA2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1285875"/>
            <a:ext cx="2857500" cy="876300"/>
          </a:xfrm>
          <a:prstGeom xmlns:a="http://schemas.openxmlformats.org/drawingml/2006/main" prst="roundRect">
            <a:avLst>
              <a:gd name="adj" fmla="val 6522"/>
            </a:avLst>
          </a:prstGeom>
          <a:solidFill xmlns:a="http://schemas.openxmlformats.org/drawingml/2006/main">
            <a:srgbClr val="EEF7FD"/>
          </a:solidFill>
          <a:ln xmlns:a="http://schemas.openxmlformats.org/drawingml/2006/main" w="11906">
            <a:solidFill>
              <a:srgbClr val="AFCFE2"/>
            </a:solidFill>
            <a:prstDash val="solid"/>
          </a:ln>
        </p:spPr>
      </p:sp>
      <p:sp>
        <p:nvSpPr>
          <p:cNvPr id="41" name="next-qtext-0">
            <a:extLst xmlns:a="http://schemas.openxmlformats.org/drawingml/2006/main">
              <a:ext uri="{FF2B5EF4-FFF2-40B4-BE49-F238E27FC236}">
                <a16:creationId xmlns:a16="http://schemas.microsoft.com/office/drawing/2014/main" id="{965CCAA7-4605-4551-8ABB-A775B1C98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1524000"/>
            <a:ext cx="24193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23D8D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23D8D"/>
                </a:solidFill>
                <a:latin typeface="Arial"/>
                <a:ea typeface="Arial"/>
                <a:cs typeface="Arial"/>
              </a:rPr>
              <a:t>P3B.5 / P3C.5</a:t>
            </a:r>
          </a:p>
        </p:txBody>
      </p:sp>
      <p:sp>
        <p:nvSpPr>
          <p:cNvPr id="42" name="next-arrow-0">
            <a:extLst xmlns:a="http://schemas.openxmlformats.org/drawingml/2006/main">
              <a:ext uri="{FF2B5EF4-FFF2-40B4-BE49-F238E27FC236}">
                <a16:creationId xmlns:a16="http://schemas.microsoft.com/office/drawing/2014/main" id="{ED1781C2-0D13-4565-A3F5-A668D9DF32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1552575"/>
            <a:ext cx="590550" cy="33337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B4F9A"/>
          </a:solidFill>
          <a:ln xmlns:a="http://schemas.openxmlformats.org/drawingml/2006/main" w="0">
            <a:solidFill>
              <a:srgbClr val="1B4F9A"/>
            </a:solidFill>
          </a:ln>
        </p:spPr>
      </p:sp>
      <p:sp>
        <p:nvSpPr>
          <p:cNvPr id="43" name="next-a-0">
            <a:extLst xmlns:a="http://schemas.openxmlformats.org/drawingml/2006/main">
              <a:ext uri="{FF2B5EF4-FFF2-40B4-BE49-F238E27FC236}">
                <a16:creationId xmlns:a16="http://schemas.microsoft.com/office/drawing/2014/main" id="{CB3F9DD0-7DDF-4B26-9145-2F9190A7A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1285875"/>
            <a:ext cx="5715000" cy="876300"/>
          </a:xfrm>
          <a:prstGeom xmlns:a="http://schemas.openxmlformats.org/drawingml/2006/main" prst="roundRect">
            <a:avLst>
              <a:gd name="adj" fmla="val 652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906">
            <a:solidFill>
              <a:srgbClr val="CBD8E5"/>
            </a:solidFill>
            <a:prstDash val="solid"/>
          </a:ln>
        </p:spPr>
      </p:sp>
      <p:sp>
        <p:nvSpPr>
          <p:cNvPr id="44" name="next-atext-0">
            <a:extLst xmlns:a="http://schemas.openxmlformats.org/drawingml/2006/main">
              <a:ext uri="{FF2B5EF4-FFF2-40B4-BE49-F238E27FC236}">
                <a16:creationId xmlns:a16="http://schemas.microsoft.com/office/drawing/2014/main" id="{86D1F2AF-C15B-48D1-A1FA-00CAC38F90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1476375"/>
            <a:ext cx="5143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13">
                <a:solidFill>
                  <a:srgbClr val="1F2937"/>
                </a:solidFill>
                <a:latin typeface="微软雅黑"/>
                <a:ea typeface="微软雅黑"/>
                <a:cs typeface="微软雅黑"/>
              </a:defRPr>
            </a:pPr>
            <a:r>
              <a:rPr sz="1313">
                <a:solidFill>
                  <a:srgbClr val="1F2937"/>
                </a:solidFill>
                <a:latin typeface="微软雅黑"/>
                <a:ea typeface="微软雅黑"/>
                <a:cs typeface="微软雅黑"/>
              </a:rPr>
              <a:t>完整 fault-mode 任务矩阵 + 真实候选负载、控制开销、AoI、过期和能耗审计</a:t>
            </a:r>
          </a:p>
        </p:txBody>
      </p:sp>
      <p:sp>
        <p:nvSpPr>
          <p:cNvPr id="45" name="next-q-1">
            <a:extLst xmlns:a="http://schemas.openxmlformats.org/drawingml/2006/main">
              <a:ext uri="{FF2B5EF4-FFF2-40B4-BE49-F238E27FC236}">
                <a16:creationId xmlns:a16="http://schemas.microsoft.com/office/drawing/2014/main" id="{A5D2944C-B884-4160-B489-32F62CF9D0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2524125"/>
            <a:ext cx="2857500" cy="876300"/>
          </a:xfrm>
          <a:prstGeom xmlns:a="http://schemas.openxmlformats.org/drawingml/2006/main" prst="roundRect">
            <a:avLst>
              <a:gd name="adj" fmla="val 6522"/>
            </a:avLst>
          </a:prstGeom>
          <a:solidFill xmlns:a="http://schemas.openxmlformats.org/drawingml/2006/main">
            <a:srgbClr val="EEF7FD"/>
          </a:solidFill>
          <a:ln xmlns:a="http://schemas.openxmlformats.org/drawingml/2006/main" w="11906">
            <a:solidFill>
              <a:srgbClr val="AFCFE2"/>
            </a:solidFill>
            <a:prstDash val="solid"/>
          </a:ln>
        </p:spPr>
      </p:sp>
      <p:sp>
        <p:nvSpPr>
          <p:cNvPr id="46" name="next-qtext-1">
            <a:extLst xmlns:a="http://schemas.openxmlformats.org/drawingml/2006/main">
              <a:ext uri="{FF2B5EF4-FFF2-40B4-BE49-F238E27FC236}">
                <a16:creationId xmlns:a16="http://schemas.microsoft.com/office/drawing/2014/main" id="{C6803CA0-EBC9-4EFA-AA81-119ED727D4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2762250"/>
            <a:ext cx="24193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23D8D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23D8D"/>
                </a:solidFill>
                <a:latin typeface="Arial"/>
                <a:ea typeface="Arial"/>
                <a:cs typeface="Arial"/>
              </a:rPr>
              <a:t>P4</a:t>
            </a:r>
          </a:p>
        </p:txBody>
      </p:sp>
      <p:sp>
        <p:nvSpPr>
          <p:cNvPr id="47" name="next-arrow-1">
            <a:extLst xmlns:a="http://schemas.openxmlformats.org/drawingml/2006/main">
              <a:ext uri="{FF2B5EF4-FFF2-40B4-BE49-F238E27FC236}">
                <a16:creationId xmlns:a16="http://schemas.microsoft.com/office/drawing/2014/main" id="{AC4F06B1-7F22-416E-B0EF-FAD3295D18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790825"/>
            <a:ext cx="590550" cy="33337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B4F9A"/>
          </a:solidFill>
          <a:ln xmlns:a="http://schemas.openxmlformats.org/drawingml/2006/main" w="0">
            <a:solidFill>
              <a:srgbClr val="1B4F9A"/>
            </a:solidFill>
          </a:ln>
        </p:spPr>
      </p:sp>
      <p:sp>
        <p:nvSpPr>
          <p:cNvPr id="48" name="next-a-1">
            <a:extLst xmlns:a="http://schemas.openxmlformats.org/drawingml/2006/main">
              <a:ext uri="{FF2B5EF4-FFF2-40B4-BE49-F238E27FC236}">
                <a16:creationId xmlns:a16="http://schemas.microsoft.com/office/drawing/2014/main" id="{0D1EFC79-E735-46A4-B170-90039CD6FB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2524125"/>
            <a:ext cx="5715000" cy="876300"/>
          </a:xfrm>
          <a:prstGeom xmlns:a="http://schemas.openxmlformats.org/drawingml/2006/main" prst="roundRect">
            <a:avLst>
              <a:gd name="adj" fmla="val 652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906">
            <a:solidFill>
              <a:srgbClr val="CBD8E5"/>
            </a:solidFill>
            <a:prstDash val="solid"/>
          </a:ln>
        </p:spPr>
      </p:sp>
      <p:sp>
        <p:nvSpPr>
          <p:cNvPr id="49" name="next-atext-1">
            <a:extLst xmlns:a="http://schemas.openxmlformats.org/drawingml/2006/main">
              <a:ext uri="{FF2B5EF4-FFF2-40B4-BE49-F238E27FC236}">
                <a16:creationId xmlns:a16="http://schemas.microsoft.com/office/drawing/2014/main" id="{624BCAC0-CEAC-4873-8C39-0DF142D78F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714625"/>
            <a:ext cx="5143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13">
                <a:solidFill>
                  <a:srgbClr val="1F2937"/>
                </a:solidFill>
                <a:latin typeface="微软雅黑"/>
                <a:ea typeface="微软雅黑"/>
                <a:cs typeface="微软雅黑"/>
              </a:defRPr>
            </a:pPr>
            <a:r>
              <a:rPr sz="1313">
                <a:solidFill>
                  <a:srgbClr val="1F2937"/>
                </a:solidFill>
                <a:latin typeface="微软雅黑"/>
                <a:ea typeface="微软雅黑"/>
                <a:cs typeface="微软雅黑"/>
              </a:rPr>
              <a:t>ns-3 Wi‑Fi 4：时间、字节、位置一致，加入队列、竞争、重传和墙损耗</a:t>
            </a:r>
          </a:p>
        </p:txBody>
      </p:sp>
      <p:sp>
        <p:nvSpPr>
          <p:cNvPr id="50" name="next-q-2">
            <a:extLst xmlns:a="http://schemas.openxmlformats.org/drawingml/2006/main">
              <a:ext uri="{FF2B5EF4-FFF2-40B4-BE49-F238E27FC236}">
                <a16:creationId xmlns:a16="http://schemas.microsoft.com/office/drawing/2014/main" id="{9858580A-D9FE-40AB-8FED-D7AF8EF374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3762375"/>
            <a:ext cx="2857500" cy="876300"/>
          </a:xfrm>
          <a:prstGeom xmlns:a="http://schemas.openxmlformats.org/drawingml/2006/main" prst="roundRect">
            <a:avLst>
              <a:gd name="adj" fmla="val 6522"/>
            </a:avLst>
          </a:prstGeom>
          <a:solidFill xmlns:a="http://schemas.openxmlformats.org/drawingml/2006/main">
            <a:srgbClr val="FBE9EB"/>
          </a:solidFill>
          <a:ln xmlns:a="http://schemas.openxmlformats.org/drawingml/2006/main" w="11906">
            <a:solidFill>
              <a:srgbClr val="C7333E"/>
            </a:solidFill>
            <a:prstDash val="solid"/>
          </a:ln>
        </p:spPr>
      </p:sp>
      <p:sp>
        <p:nvSpPr>
          <p:cNvPr id="51" name="next-qtext-2">
            <a:extLst xmlns:a="http://schemas.openxmlformats.org/drawingml/2006/main">
              <a:ext uri="{FF2B5EF4-FFF2-40B4-BE49-F238E27FC236}">
                <a16:creationId xmlns:a16="http://schemas.microsoft.com/office/drawing/2014/main" id="{EE49C946-E5DB-43D7-97E1-5F564E17A5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4000500"/>
            <a:ext cx="24193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C7333E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C7333E"/>
                </a:solidFill>
                <a:latin typeface="Arial"/>
                <a:ea typeface="Arial"/>
                <a:cs typeface="Arial"/>
              </a:rPr>
              <a:t>P5</a:t>
            </a:r>
          </a:p>
        </p:txBody>
      </p:sp>
      <p:sp>
        <p:nvSpPr>
          <p:cNvPr id="52" name="next-arrow-2">
            <a:extLst xmlns:a="http://schemas.openxmlformats.org/drawingml/2006/main">
              <a:ext uri="{FF2B5EF4-FFF2-40B4-BE49-F238E27FC236}">
                <a16:creationId xmlns:a16="http://schemas.microsoft.com/office/drawing/2014/main" id="{5EA6BD92-714A-4FEE-80C3-03621836B5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4029075"/>
            <a:ext cx="590550" cy="33337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B4F9A"/>
          </a:solidFill>
          <a:ln xmlns:a="http://schemas.openxmlformats.org/drawingml/2006/main" w="0">
            <a:solidFill>
              <a:srgbClr val="1B4F9A"/>
            </a:solidFill>
          </a:ln>
        </p:spPr>
      </p:sp>
      <p:sp>
        <p:nvSpPr>
          <p:cNvPr id="53" name="next-a-2">
            <a:extLst xmlns:a="http://schemas.openxmlformats.org/drawingml/2006/main">
              <a:ext uri="{FF2B5EF4-FFF2-40B4-BE49-F238E27FC236}">
                <a16:creationId xmlns:a16="http://schemas.microsoft.com/office/drawing/2014/main" id="{97954D59-3DF7-45D1-B4E2-BC176F2D36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3762375"/>
            <a:ext cx="5715000" cy="876300"/>
          </a:xfrm>
          <a:prstGeom xmlns:a="http://schemas.openxmlformats.org/drawingml/2006/main" prst="roundRect">
            <a:avLst>
              <a:gd name="adj" fmla="val 652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906">
            <a:solidFill>
              <a:srgbClr val="CBD8E5"/>
            </a:solidFill>
            <a:prstDash val="solid"/>
          </a:ln>
        </p:spPr>
      </p:sp>
      <p:sp>
        <p:nvSpPr>
          <p:cNvPr id="54" name="next-atext-2">
            <a:extLst xmlns:a="http://schemas.openxmlformats.org/drawingml/2006/main">
              <a:ext uri="{FF2B5EF4-FFF2-40B4-BE49-F238E27FC236}">
                <a16:creationId xmlns:a16="http://schemas.microsoft.com/office/drawing/2014/main" id="{C4216E04-D866-4998-8C7C-CEADE36DE2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3952875"/>
            <a:ext cx="5143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13">
                <a:solidFill>
                  <a:srgbClr val="1F2937"/>
                </a:solidFill>
                <a:latin typeface="微软雅黑"/>
                <a:ea typeface="微软雅黑"/>
                <a:cs typeface="微软雅黑"/>
              </a:defRPr>
            </a:pPr>
            <a:r>
              <a:rPr sz="1313">
                <a:solidFill>
                  <a:srgbClr val="1F2937"/>
                </a:solidFill>
                <a:latin typeface="微软雅黑"/>
                <a:ea typeface="微软雅黑"/>
                <a:cs typeface="微软雅黑"/>
              </a:rPr>
              <a:t>无普通通信 / 固定周期 / 事件触发 / task-value greedy / SchedNet-inspired / RL go-no-go</a:t>
            </a:r>
          </a:p>
        </p:txBody>
      </p:sp>
      <p:sp>
        <p:nvSpPr>
          <p:cNvPr id="55" name="next-takeaway">
            <a:extLst xmlns:a="http://schemas.openxmlformats.org/drawingml/2006/main">
              <a:ext uri="{FF2B5EF4-FFF2-40B4-BE49-F238E27FC236}">
                <a16:creationId xmlns:a16="http://schemas.microsoft.com/office/drawing/2014/main" id="{6B07FC1C-480B-4DA6-AFAE-8B4C4F345B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5381625"/>
            <a:ext cx="8572500" cy="4572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123D8D"/>
          </a:solidFill>
          <a:ln xmlns:a="http://schemas.openxmlformats.org/drawingml/2006/main" w="11906">
            <a:solidFill>
              <a:srgbClr val="123D8D"/>
            </a:solidFill>
            <a:prstDash val="solid"/>
          </a:ln>
        </p:spPr>
      </p:sp>
      <p:sp>
        <p:nvSpPr>
          <p:cNvPr id="56" name="next-takeaway-text">
            <a:extLst xmlns:a="http://schemas.openxmlformats.org/drawingml/2006/main">
              <a:ext uri="{FF2B5EF4-FFF2-40B4-BE49-F238E27FC236}">
                <a16:creationId xmlns:a16="http://schemas.microsoft.com/office/drawing/2014/main" id="{F7F1636A-E448-4A76-A9F8-CB7DC3485B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24075" y="5505450"/>
            <a:ext cx="8229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5185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主 demo 采用 2 台稳定完整闭环；3 台作为扩展，等任务和资源条件允许再做。</a:t>
            </a:r>
          </a:p>
        </p:txBody>
      </p:sp>
    </p:spTree>
    <p:extLst>
      <p:ext uri="{BB962C8B-B14F-4D97-AF65-F5344CB8AC3E}">
        <p14:creationId xmlns:p14="http://schemas.microsoft.com/office/powerpoint/2010/main" val="1643653039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closing-border">
            <a:extLst xmlns:a="http://schemas.openxmlformats.org/drawingml/2006/main">
              <a:ext uri="{FF2B5EF4-FFF2-40B4-BE49-F238E27FC236}">
                <a16:creationId xmlns:a16="http://schemas.microsoft.com/office/drawing/2014/main" id="{345D8C10-0924-44F9-91C6-01592CAC0E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" y="190500"/>
            <a:ext cx="11772900" cy="647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23D8D"/>
            </a:solidFill>
            <a:prstDash val="solid"/>
          </a:ln>
        </p:spPr>
      </p:sp>
      <p:sp>
        <p:nvSpPr>
          <p:cNvPr id="2" name="closing-band">
            <a:extLst xmlns:a="http://schemas.openxmlformats.org/drawingml/2006/main">
              <a:ext uri="{FF2B5EF4-FFF2-40B4-BE49-F238E27FC236}">
                <a16:creationId xmlns:a16="http://schemas.microsoft.com/office/drawing/2014/main" id="{2C859E35-C98A-4976-92DA-82A625E09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" y="5381625"/>
            <a:ext cx="11772900" cy="1285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D8D"/>
          </a:solidFill>
          <a:ln xmlns:a="http://schemas.openxmlformats.org/drawingml/2006/main" w="0">
            <a:solidFill>
              <a:srgbClr val="123D8D"/>
            </a:solidFill>
            <a:prstDash val="solid"/>
          </a:ln>
        </p:spPr>
      </p:sp>
      <p:pic>
        <p:nvPicPr>
          <p:cNvPr id="12" name="图片 9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bfd618acb0e482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338244" y="590550"/>
            <a:ext cx="3515513" cy="1123950"/>
          </a:xfrm>
          <a:prstGeom xmlns:a="http://schemas.openxmlformats.org/drawingml/2006/main" prst="rect">
            <a:avLst/>
          </a:prstGeom>
        </p:spPr>
      </p:pic>
      <p:sp>
        <p:nvSpPr>
          <p:cNvPr id="4" name="closing-title">
            <a:extLst xmlns:a="http://schemas.openxmlformats.org/drawingml/2006/main">
              <a:ext uri="{FF2B5EF4-FFF2-40B4-BE49-F238E27FC236}">
                <a16:creationId xmlns:a16="http://schemas.microsoft.com/office/drawing/2014/main" id="{D69A22C1-EB57-45D0-BAD6-13506C863F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2781300"/>
            <a:ext cx="8001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75806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325" b="1">
                <a:solidFill>
                  <a:srgbClr val="123D8D"/>
                </a:solidFill>
                <a:latin typeface="微软雅黑"/>
                <a:ea typeface="微软雅黑"/>
                <a:cs typeface="微软雅黑"/>
              </a:defRPr>
            </a:pPr>
            <a:r>
              <a:rPr sz="2325" b="1">
                <a:solidFill>
                  <a:srgbClr val="123D8D"/>
                </a:solidFill>
                <a:latin typeface="微软雅黑"/>
                <a:ea typeface="微软雅黑"/>
                <a:cs typeface="微软雅黑"/>
              </a:rPr>
              <a:t>把任务、消息、网络和日志</a:t>
            </a:r>
          </a:p>
          <a:p xmlns:a="http://schemas.openxmlformats.org/drawingml/2006/main">
            <a:pPr algn="ctr">
              <a:buNone/>
              <a:defRPr sz="2325" b="1">
                <a:solidFill>
                  <a:srgbClr val="123D8D"/>
                </a:solidFill>
                <a:latin typeface="微软雅黑"/>
                <a:ea typeface="微软雅黑"/>
                <a:cs typeface="微软雅黑"/>
              </a:defRPr>
            </a:pPr>
            <a:r>
              <a:rPr sz="2325" b="1">
                <a:solidFill>
                  <a:srgbClr val="123D8D"/>
                </a:solidFill>
                <a:latin typeface="微软雅黑"/>
                <a:ea typeface="微软雅黑"/>
                <a:cs typeface="微软雅黑"/>
              </a:rPr>
              <a:t>连成一条证据链</a:t>
            </a:r>
          </a:p>
        </p:txBody>
      </p:sp>
      <p:sp>
        <p:nvSpPr>
          <p:cNvPr id="5" name="closing-question">
            <a:extLst xmlns:a="http://schemas.openxmlformats.org/drawingml/2006/main">
              <a:ext uri="{FF2B5EF4-FFF2-40B4-BE49-F238E27FC236}">
                <a16:creationId xmlns:a16="http://schemas.microsoft.com/office/drawing/2014/main" id="{C743E9F6-2A48-490D-B9BF-93E2EFF639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3733800"/>
            <a:ext cx="7239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75" b="0">
                <a:solidFill>
                  <a:srgbClr val="5F6B76"/>
                </a:solidFill>
                <a:latin typeface="微软雅黑"/>
                <a:ea typeface="微软雅黑"/>
                <a:cs typeface="微软雅黑"/>
              </a:defRPr>
            </a:pPr>
            <a:r>
              <a:rPr sz="1575" b="0">
                <a:solidFill>
                  <a:srgbClr val="5F6B76"/>
                </a:solidFill>
                <a:latin typeface="微软雅黑"/>
                <a:ea typeface="微软雅黑"/>
                <a:cs typeface="微软雅黑"/>
              </a:rPr>
              <a:t>欢迎围绕“先测什么、先固定什么、何时需要 RL”讨论</a:t>
            </a:r>
          </a:p>
        </p:txBody>
      </p:sp>
      <p:sp>
        <p:nvSpPr>
          <p:cNvPr id="6" name="closing-presenter">
            <a:extLst xmlns:a="http://schemas.openxmlformats.org/drawingml/2006/main">
              <a:ext uri="{FF2B5EF4-FFF2-40B4-BE49-F238E27FC236}">
                <a16:creationId xmlns:a16="http://schemas.microsoft.com/office/drawing/2014/main" id="{60B087EE-FD10-46F9-9E93-7DB829C5EA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5886450"/>
            <a:ext cx="247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5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汇报人：XXX</a:t>
            </a:r>
          </a:p>
        </p:txBody>
      </p:sp>
      <p:sp>
        <p:nvSpPr>
          <p:cNvPr id="7" name="closing-date">
            <a:extLst xmlns:a="http://schemas.openxmlformats.org/drawingml/2006/main">
              <a:ext uri="{FF2B5EF4-FFF2-40B4-BE49-F238E27FC236}">
                <a16:creationId xmlns:a16="http://schemas.microsoft.com/office/drawing/2014/main" id="{6F31D985-3F7D-4B5E-BD21-E0729A09C9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5886450"/>
            <a:ext cx="285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5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汇报日期：2026/09/29</a:t>
            </a:r>
          </a:p>
        </p:txBody>
      </p:sp>
    </p:spTree>
    <p:extLst>
      <p:ext uri="{BB962C8B-B14F-4D97-AF65-F5344CB8AC3E}">
        <p14:creationId xmlns:p14="http://schemas.microsoft.com/office/powerpoint/2010/main" val="184251186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2026-09-29T10:28:40.9360000Z</dcterms:created>
  <dcterms:modified xsi:type="dcterms:W3CDTF">2026-09-29T10:28:40.9370000Z</dcterms:modified>
</coreProperties>
</file>