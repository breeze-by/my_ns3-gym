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6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https://www.nature.com/articles/s41592-024-02201-0</a:t>
            </a:r>
          </a:p>
          <a:p>
            <a:r>
              <a:t>- https://www.fudan.edu.cn/fdbsxz/list.htm</a:t>
            </a:r>
          </a:p>
          <a:p>
            <a:r>
              <a:t>[/Sources]</a:t>
            </a:r>
          </a:p>
          <a:p>
            <a:endParaRPr/>
          </a:p>
          <a:p>
            <a:r>
              <a:t>讲解提示：开场交代论文、期刊和汇报目的；汇报人信息可直接修改。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https://www.nature.com/articles/s41592-024-02201-0</a:t>
            </a:r>
          </a:p>
          <a:p>
            <a:r>
              <a:t>[/Sources]</a:t>
            </a:r>
          </a:p>
          <a:p>
            <a:endParaRPr/>
          </a:p>
          <a:p>
            <a:r>
              <a:t>讲解提示：目录不是简单罗列，将汇报分成提出问题、建立模型、验证任务、审视边界四个递进阶段。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https://www.nature.com/articles/s41592-024-02201-0</a:t>
            </a:r>
          </a:p>
          <a:p>
            <a:r>
              <a:t>- https://github.com/bowang-lab/scGPT</a:t>
            </a:r>
          </a:p>
          <a:p>
            <a:r>
              <a:t>[/Sources]</a:t>
            </a:r>
          </a:p>
          <a:p>
            <a:endParaRPr/>
          </a:p>
          <a:p>
            <a:r>
              <a:t>讲解提示：说明两位共同第一作者与通讯作者；强调这是一篇方法论文，后续结果围绕统一表示能力展开。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https://www.nature.com/articles/s41592-024-02201-0</a:t>
            </a:r>
          </a:p>
          <a:p>
            <a:r>
              <a:t>[/Sources]</a:t>
            </a:r>
          </a:p>
          <a:p>
            <a:endParaRPr/>
          </a:p>
          <a:p>
            <a:r>
              <a:t>讲解提示：从数据规模、任务扩展和模型复用三个矛盾切入，为基础模型的必要性铺垫。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https://www.nature.com/articles/s41592-024-02201-0</a:t>
            </a:r>
          </a:p>
          <a:p>
            <a:r>
              <a:t>- https://www.nature.com/articles/s41592-024-02201-0/figures/1</a:t>
            </a:r>
          </a:p>
          <a:p>
            <a:r>
              <a:t>[/Sources]</a:t>
            </a:r>
          </a:p>
          <a:p>
            <a:endParaRPr/>
          </a:p>
          <a:p>
            <a:r>
              <a:t>讲解提示：明确这不是简单照搬语言模型；作者需要重新设计输入嵌入和注意力掩码来适应单细胞数据。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https://www.nature.com/articles/s41592-024-02201-0/figures/1</a:t>
            </a:r>
          </a:p>
          <a:p>
            <a:r>
              <a:t>[/Sources]</a:t>
            </a:r>
          </a:p>
          <a:p>
            <a:endParaRPr/>
          </a:p>
          <a:p>
            <a:r>
              <a:t>讲解提示：先讲共性路线，再进入模型细节；强调不同任务共享同一预训练表示。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https://www.nature.com/articles/s41592-024-02201-0/figures/1</a:t>
            </a:r>
          </a:p>
          <a:p>
            <a:r>
              <a:t>[/Sources]</a:t>
            </a:r>
          </a:p>
          <a:p>
            <a:endParaRPr/>
          </a:p>
          <a:p>
            <a:r>
              <a:t>讲解提示：按输入、骨干、迁移三层讲解；提醒基因并非自然语言中的有序单词，专门的掩码设计是方法关键。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https://www.nature.com/articles/s41592-024-02201-0/figures/1</a:t>
            </a:r>
          </a:p>
          <a:p>
            <a:r>
              <a:t>- https://github.com/bowang-lab/scGPT</a:t>
            </a:r>
          </a:p>
          <a:p>
            <a:r>
              <a:t>[/Sources]</a:t>
            </a:r>
          </a:p>
          <a:p>
            <a:endParaRPr/>
          </a:p>
          <a:p>
            <a:r>
              <a:t>讲解提示：说明 whole-human 模型和组织专用模型；UMAP 只证明表示具有结构，不等同于已学习因果机制。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https://www.nature.com/articles/s41592-024-02201-0/figures/2</a:t>
            </a:r>
          </a:p>
          <a:p>
            <a:r>
              <a:t>[/Sources]</a:t>
            </a:r>
          </a:p>
          <a:p>
            <a:endParaRPr/>
          </a:p>
          <a:p>
            <a:r>
              <a:t>讲解提示：先用最直观的胰腺数据说明预测与人工注释一致，再强调其作为迁移学习示例的意义。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https://www.nature.com/articles/s41592-024-02201-0/figures/2</a:t>
            </a:r>
          </a:p>
          <a:p>
            <a:r>
              <a:t>[/Sources]</a:t>
            </a:r>
          </a:p>
          <a:p>
            <a:endParaRPr/>
          </a:p>
          <a:p>
            <a:r>
              <a:t>讲解提示：解释 reference/query 的分布差异；最后用四项指标总结，不将 UMAP 视觉分离直接等同于模型性能。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https://www.nature.com/articles/s41592-024-02201-0/figures/3</a:t>
            </a:r>
          </a:p>
          <a:p>
            <a:r>
              <a:t>[/Sources]</a:t>
            </a:r>
          </a:p>
          <a:p>
            <a:endParaRPr/>
          </a:p>
          <a:p>
            <a:r>
              <a:t>讲解提示：先解释 Pearson-delta 指标，再对比三套数据；注意这是论文中的基准结果，后续限制页会补充2025年的重新评估。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https://www.nature.com/articles/s41592-024-02201-0/figures/3</a:t>
            </a:r>
          </a:p>
          <a:p>
            <a:r>
              <a:t>[/Sources]</a:t>
            </a:r>
          </a:p>
          <a:p>
            <a:endParaRPr/>
          </a:p>
          <a:p>
            <a:r>
              <a:t>讲解提示：将正向与反向任务区分清楚；强调应用潜力，不把计算预测当成实验验证。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https://www.nature.com/articles/s41592-024-02201-0/figures/4</a:t>
            </a:r>
          </a:p>
          <a:p>
            <a:r>
              <a:t>- https://github.com/bowang-lab/scGPT/blob/main/examples/finetune_integration.py</a:t>
            </a:r>
          </a:p>
          <a:p>
            <a:r>
              <a:t>[/Sources]</a:t>
            </a:r>
          </a:p>
          <a:p>
            <a:endParaRPr/>
          </a:p>
          <a:p>
            <a:r>
              <a:t>讲解提示：Fig. 4a 和 AvgBIO 直接支持的是细胞类型结构保留。批次整合应同时评价批次效应降低与生物结构保留；scGPT 的整合训练还结合批次/模态嵌入、域对抗目标与 DSBN。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https://www.nature.com/articles/s41592-024-02201-0/figures/4</a:t>
            </a:r>
          </a:p>
          <a:p>
            <a:r>
              <a:t>[/Sources]</a:t>
            </a:r>
          </a:p>
          <a:p>
            <a:endParaRPr/>
          </a:p>
          <a:p>
            <a:r>
              <a:t>讲解提示：逐行说明 paired 与 mosaic 场景；把条件编码与工程复用联系起来。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https://www.nature.com/articles/s41592-024-02201-0/figures/5</a:t>
            </a:r>
          </a:p>
          <a:p>
            <a:r>
              <a:t>[/Sources]</a:t>
            </a:r>
          </a:p>
          <a:p>
            <a:endParaRPr/>
          </a:p>
          <a:p>
            <a:r>
              <a:t>讲解提示：先展示 zero-shot 网络，再比较微调变化；明确通路富集与网络结构是解释线索，不是因果证明。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https://www.nature.com/articles/s41592-024-02201-0/figures/6</a:t>
            </a:r>
          </a:p>
          <a:p>
            <a:r>
              <a:t>[/Sources]</a:t>
            </a:r>
          </a:p>
          <a:p>
            <a:endParaRPr/>
          </a:p>
          <a:p>
            <a:r>
              <a:t>讲解提示：按输入、归一化、差异、验证四步讲解；强调 attention-based GRN 是候选假设生成。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https://www.nature.com/articles/s41592-024-02201-0</a:t>
            </a:r>
          </a:p>
          <a:p>
            <a:r>
              <a:t>- https://www.nature.com/articles/s41592-024-02201-0/figures/1</a:t>
            </a:r>
          </a:p>
          <a:p>
            <a:r>
              <a:t>- https://www.nature.com/articles/s41592-024-02201-0/figures/2</a:t>
            </a:r>
          </a:p>
          <a:p>
            <a:r>
              <a:t>- https://www.nature.com/articles/s41592-024-02201-0/figures/3</a:t>
            </a:r>
          </a:p>
          <a:p>
            <a:r>
              <a:t>- https://www.nature.com/articles/s41592-024-02201-0/figures/4</a:t>
            </a:r>
          </a:p>
          <a:p>
            <a:r>
              <a:t>- https://www.nature.com/articles/s41592-024-02201-0/figures/5</a:t>
            </a:r>
          </a:p>
          <a:p>
            <a:r>
              <a:t>- https://www.nature.com/articles/s41592-024-02201-0/figures/6</a:t>
            </a:r>
          </a:p>
          <a:p>
            <a:r>
              <a:t>[/Sources]</a:t>
            </a:r>
          </a:p>
          <a:p>
            <a:endParaRPr/>
          </a:p>
          <a:p>
            <a:r>
              <a:t>讲解提示：用四个关键词收束证据链，最后为局限页留出张力。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https://www.nature.com/articles/s41592-024-02201-0</a:t>
            </a:r>
          </a:p>
          <a:p>
            <a:r>
              <a:t>- https://www.nature.com/articles/s41592-025-02772-6</a:t>
            </a:r>
          </a:p>
          <a:p>
            <a:r>
              <a:t>[/Sources]</a:t>
            </a:r>
          </a:p>
          <a:p>
            <a:endParaRPr/>
          </a:p>
          <a:p>
            <a:r>
              <a:t>讲解提示：前3点为对论文设计与解释边界的总结；第4点加入2025年同行再评价，使讨论反映当前研究进展。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https://www.nature.com/articles/s41592-024-02201-0</a:t>
            </a:r>
          </a:p>
          <a:p>
            <a:r>
              <a:t>- https://github.com/bowang-lab/scGPT</a:t>
            </a:r>
          </a:p>
          <a:p>
            <a:r>
              <a:t>- https://www.nature.com/articles/s41592-025-02772-6</a:t>
            </a:r>
          </a:p>
          <a:p>
            <a:r>
              <a:t>[/Sources]</a:t>
            </a:r>
          </a:p>
          <a:p>
            <a:endParaRPr/>
          </a:p>
          <a:p>
            <a:r>
              <a:t>讲解提示：把创新点和对自身课题的启发分开；最后落到可执行的研究设计原则。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https://www.nature.com/articles/s41592-024-02201-0</a:t>
            </a:r>
          </a:p>
          <a:p>
            <a:r>
              <a:t>- https://www.nature.com/articles/s41592-025-02772-6</a:t>
            </a:r>
          </a:p>
          <a:p>
            <a:r>
              <a:t>[/Sources]</a:t>
            </a:r>
          </a:p>
          <a:p>
            <a:endParaRPr/>
          </a:p>
          <a:p>
            <a:r>
              <a:t>讲解提示：用三个问题结束主体汇报，给出平衡判断并邀请讨论具体应用场景。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https://www.nature.com/articles/s41592-024-02201-0</a:t>
            </a:r>
          </a:p>
          <a:p>
            <a:r>
              <a:t>- https://www.nature.com/articles/s41592-025-02772-6</a:t>
            </a:r>
          </a:p>
          <a:p>
            <a:r>
              <a:t>- https://www.fudan.edu.cn/fdbsxz/list.htm</a:t>
            </a:r>
          </a:p>
          <a:p>
            <a:r>
              <a:t>[/Sources]</a:t>
            </a:r>
          </a:p>
          <a:p>
            <a:endParaRPr/>
          </a:p>
          <a:p>
            <a:r>
              <a:t>讲解提示：用一个可讨论的问题收尾，而不是只说谢谢。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1850" y="6362700"/>
            <a:ext cx="1009650" cy="3048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1850" y="6362700"/>
            <a:ext cx="1009650" cy="3048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" Type="http://schemas.openxmlformats.org/officeDocument/2006/relationships/tags" Target="../tags/tag3.xml"/><Relationship Id="rId21" Type="http://schemas.openxmlformats.org/officeDocument/2006/relationships/slideLayout" Target="../slideLayouts/slideLayout1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image" Target="../media/image2.png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ver-border"/>
          <p:cNvSpPr>
            <a:spLocks noGrp="1"/>
          </p:cNvSpPr>
          <p:nvPr/>
        </p:nvSpPr>
        <p:spPr>
          <a:xfrm>
            <a:off x="209550" y="190500"/>
            <a:ext cx="11772900" cy="6477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23D8D"/>
            </a:solidFill>
            <a:prstDash val="solid"/>
          </a:ln>
        </p:spPr>
      </p:sp>
      <p:sp>
        <p:nvSpPr>
          <p:cNvPr id="2" name="cover-band"/>
          <p:cNvSpPr>
            <a:spLocks noGrp="1"/>
          </p:cNvSpPr>
          <p:nvPr/>
        </p:nvSpPr>
        <p:spPr>
          <a:xfrm>
            <a:off x="209550" y="5381625"/>
            <a:ext cx="11772900" cy="1285875"/>
          </a:xfrm>
          <a:prstGeom prst="rect">
            <a:avLst/>
          </a:prstGeom>
          <a:solidFill>
            <a:srgbClr val="123D8D"/>
          </a:solidFill>
          <a:ln w="0">
            <a:solidFill>
              <a:srgbClr val="123D8D"/>
            </a:solidFill>
            <a:prstDash val="solid"/>
          </a:ln>
        </p:spPr>
      </p:sp>
      <p:pic>
        <p:nvPicPr>
          <p:cNvPr id="14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8036" y="457200"/>
            <a:ext cx="3455928" cy="1104900"/>
          </a:xfrm>
          <a:prstGeom prst="rect">
            <a:avLst/>
          </a:prstGeom>
        </p:spPr>
      </p:pic>
      <p:sp>
        <p:nvSpPr>
          <p:cNvPr id="4" name="cover-title"/>
          <p:cNvSpPr>
            <a:spLocks noGrp="1"/>
          </p:cNvSpPr>
          <p:nvPr/>
        </p:nvSpPr>
        <p:spPr>
          <a:xfrm>
            <a:off x="1714500" y="2020570"/>
            <a:ext cx="87630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700" b="1">
                <a:solidFill>
                  <a:srgbClr val="123D8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700" b="1">
                <a:solidFill>
                  <a:srgbClr val="123D8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scGPT: toward building a foundation model for</a:t>
            </a:r>
          </a:p>
          <a:p>
            <a:pPr algn="ctr">
              <a:buNone/>
              <a:defRPr sz="2700" b="1">
                <a:solidFill>
                  <a:srgbClr val="123D8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700" b="1">
                <a:solidFill>
                  <a:srgbClr val="123D8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single-cell multi-omics using generative AI</a:t>
            </a:r>
          </a:p>
        </p:txBody>
      </p:sp>
      <p:sp>
        <p:nvSpPr>
          <p:cNvPr id="5" name="cover-subtitle"/>
          <p:cNvSpPr>
            <a:spLocks noGrp="1"/>
          </p:cNvSpPr>
          <p:nvPr/>
        </p:nvSpPr>
        <p:spPr>
          <a:xfrm>
            <a:off x="2476500" y="3192145"/>
            <a:ext cx="7239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250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基于生成式 AI 的单细胞多组学基础模型</a:t>
            </a:r>
          </a:p>
        </p:txBody>
      </p:sp>
      <p:sp>
        <p:nvSpPr>
          <p:cNvPr id="6" name="cover-context"/>
          <p:cNvSpPr>
            <a:spLocks noGrp="1"/>
          </p:cNvSpPr>
          <p:nvPr/>
        </p:nvSpPr>
        <p:spPr>
          <a:xfrm>
            <a:off x="3810000" y="3887470"/>
            <a:ext cx="4572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00" b="1">
                <a:solidFill>
                  <a:srgbClr val="5F6B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5F6B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课题组文献汇报</a:t>
            </a:r>
          </a:p>
        </p:txBody>
      </p:sp>
      <p:sp>
        <p:nvSpPr>
          <p:cNvPr id="7" name="journal"/>
          <p:cNvSpPr>
            <a:spLocks noGrp="1"/>
          </p:cNvSpPr>
          <p:nvPr/>
        </p:nvSpPr>
        <p:spPr>
          <a:xfrm>
            <a:off x="4381500" y="445897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650" b="0">
                <a:solidFill>
                  <a:srgbClr val="1B4F9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0">
                <a:solidFill>
                  <a:srgbClr val="1B4F9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Nature Methods · 2024</a:t>
            </a:r>
          </a:p>
        </p:txBody>
      </p:sp>
      <p:sp>
        <p:nvSpPr>
          <p:cNvPr id="8" name="presenter"/>
          <p:cNvSpPr>
            <a:spLocks noGrp="1"/>
          </p:cNvSpPr>
          <p:nvPr/>
        </p:nvSpPr>
        <p:spPr>
          <a:xfrm>
            <a:off x="2762250" y="588645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汇报人：XXX</a:t>
            </a:r>
          </a:p>
        </p:txBody>
      </p:sp>
      <p:sp>
        <p:nvSpPr>
          <p:cNvPr id="9" name="date"/>
          <p:cNvSpPr>
            <a:spLocks noGrp="1"/>
          </p:cNvSpPr>
          <p:nvPr/>
        </p:nvSpPr>
        <p:spPr>
          <a:xfrm>
            <a:off x="6572250" y="5886450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汇报日期：2026/08/28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2281" y="171450"/>
            <a:ext cx="2323814" cy="742950"/>
          </a:xfrm>
          <a:prstGeom prst="rect">
            <a:avLst/>
          </a:prstGeom>
        </p:spPr>
      </p:pic>
      <p:sp>
        <p:nvSpPr>
          <p:cNvPr id="2" name="contents-tab"/>
          <p:cNvSpPr>
            <a:spLocks noGrp="1"/>
          </p:cNvSpPr>
          <p:nvPr/>
        </p:nvSpPr>
        <p:spPr>
          <a:xfrm>
            <a:off x="857250" y="0"/>
            <a:ext cx="1428750" cy="1428750"/>
          </a:xfrm>
          <a:prstGeom prst="rect">
            <a:avLst/>
          </a:prstGeom>
          <a:solidFill>
            <a:srgbClr val="123D8D"/>
          </a:solidFill>
          <a:ln w="0">
            <a:solidFill>
              <a:srgbClr val="123D8D"/>
            </a:solidFill>
            <a:prstDash val="solid"/>
          </a:ln>
        </p:spPr>
      </p:sp>
      <p:sp>
        <p:nvSpPr>
          <p:cNvPr id="3" name="contents-title"/>
          <p:cNvSpPr>
            <a:spLocks noGrp="1"/>
          </p:cNvSpPr>
          <p:nvPr/>
        </p:nvSpPr>
        <p:spPr>
          <a:xfrm>
            <a:off x="1028700" y="266700"/>
            <a:ext cx="10858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8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目录</a:t>
            </a:r>
          </a:p>
        </p:txBody>
      </p:sp>
      <p:sp>
        <p:nvSpPr>
          <p:cNvPr id="4" name="contents-en"/>
          <p:cNvSpPr>
            <a:spLocks noGrp="1"/>
          </p:cNvSpPr>
          <p:nvPr/>
        </p:nvSpPr>
        <p:spPr>
          <a:xfrm>
            <a:off x="1047750" y="81915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CONTENTS</a:t>
            </a:r>
          </a:p>
        </p:txBody>
      </p:sp>
      <p:sp>
        <p:nvSpPr>
          <p:cNvPr id="5" name="contents-rule"/>
          <p:cNvSpPr>
            <a:spLocks noGrp="1"/>
          </p:cNvSpPr>
          <p:nvPr/>
        </p:nvSpPr>
        <p:spPr>
          <a:xfrm>
            <a:off x="1000125" y="1200150"/>
            <a:ext cx="1143000" cy="190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6" name="contents-frame"/>
          <p:cNvSpPr>
            <a:spLocks noGrp="1"/>
          </p:cNvSpPr>
          <p:nvPr/>
        </p:nvSpPr>
        <p:spPr>
          <a:xfrm>
            <a:off x="952500" y="1771650"/>
            <a:ext cx="10287000" cy="3714750"/>
          </a:xfrm>
          <a:prstGeom prst="rect">
            <a:avLst/>
          </a:prstGeom>
          <a:solidFill>
            <a:srgbClr val="FFFFFF"/>
          </a:solidFill>
          <a:ln w="14288">
            <a:solidFill>
              <a:srgbClr val="123D8D"/>
            </a:solidFill>
            <a:prstDash val="solid"/>
          </a:ln>
        </p:spPr>
      </p:sp>
      <p:sp>
        <p:nvSpPr>
          <p:cNvPr id="7" name="contents-no-0"/>
          <p:cNvSpPr>
            <a:spLocks noGrp="1"/>
          </p:cNvSpPr>
          <p:nvPr/>
        </p:nvSpPr>
        <p:spPr>
          <a:xfrm>
            <a:off x="1428750" y="2381250"/>
            <a:ext cx="6191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250" b="1">
                <a:solidFill>
                  <a:srgbClr val="123D8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250" b="1">
                <a:solidFill>
                  <a:srgbClr val="123D8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</a:t>
            </a:r>
          </a:p>
        </p:txBody>
      </p:sp>
      <p:sp>
        <p:nvSpPr>
          <p:cNvPr id="8" name="contents-under-0"/>
          <p:cNvSpPr>
            <a:spLocks noGrp="1"/>
          </p:cNvSpPr>
          <p:nvPr/>
        </p:nvSpPr>
        <p:spPr>
          <a:xfrm>
            <a:off x="1428750" y="2838450"/>
            <a:ext cx="666750" cy="28575"/>
          </a:xfrm>
          <a:prstGeom prst="rect">
            <a:avLst/>
          </a:prstGeom>
          <a:solidFill>
            <a:srgbClr val="123D8D"/>
          </a:solidFill>
          <a:ln w="0">
            <a:solidFill>
              <a:srgbClr val="123D8D"/>
            </a:solidFill>
            <a:prstDash val="solid"/>
          </a:ln>
        </p:spPr>
      </p:sp>
      <p:sp>
        <p:nvSpPr>
          <p:cNvPr id="9" name="contents-label-0"/>
          <p:cNvSpPr>
            <a:spLocks noGrp="1"/>
          </p:cNvSpPr>
          <p:nvPr/>
        </p:nvSpPr>
        <p:spPr>
          <a:xfrm>
            <a:off x="2171700" y="2409825"/>
            <a:ext cx="171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00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基本信息</a:t>
            </a:r>
          </a:p>
        </p:txBody>
      </p:sp>
      <p:sp>
        <p:nvSpPr>
          <p:cNvPr id="10" name="contents-no-1"/>
          <p:cNvSpPr>
            <a:spLocks noGrp="1"/>
          </p:cNvSpPr>
          <p:nvPr/>
        </p:nvSpPr>
        <p:spPr>
          <a:xfrm>
            <a:off x="4810125" y="2381250"/>
            <a:ext cx="6191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250" b="1">
                <a:solidFill>
                  <a:srgbClr val="123D8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250" b="1">
                <a:solidFill>
                  <a:srgbClr val="123D8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</a:p>
        </p:txBody>
      </p:sp>
      <p:sp>
        <p:nvSpPr>
          <p:cNvPr id="11" name="contents-under-1"/>
          <p:cNvSpPr>
            <a:spLocks noGrp="1"/>
          </p:cNvSpPr>
          <p:nvPr/>
        </p:nvSpPr>
        <p:spPr>
          <a:xfrm>
            <a:off x="4810125" y="2838450"/>
            <a:ext cx="666750" cy="28575"/>
          </a:xfrm>
          <a:prstGeom prst="rect">
            <a:avLst/>
          </a:prstGeom>
          <a:solidFill>
            <a:srgbClr val="123D8D"/>
          </a:solidFill>
          <a:ln w="0">
            <a:solidFill>
              <a:srgbClr val="123D8D"/>
            </a:solidFill>
            <a:prstDash val="solid"/>
          </a:ln>
        </p:spPr>
      </p:sp>
      <p:sp>
        <p:nvSpPr>
          <p:cNvPr id="12" name="contents-label-1"/>
          <p:cNvSpPr>
            <a:spLocks noGrp="1"/>
          </p:cNvSpPr>
          <p:nvPr/>
        </p:nvSpPr>
        <p:spPr>
          <a:xfrm>
            <a:off x="5553075" y="2409825"/>
            <a:ext cx="171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00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研究背景</a:t>
            </a:r>
          </a:p>
        </p:txBody>
      </p:sp>
      <p:sp>
        <p:nvSpPr>
          <p:cNvPr id="13" name="contents-no-2"/>
          <p:cNvSpPr>
            <a:spLocks noGrp="1"/>
          </p:cNvSpPr>
          <p:nvPr/>
        </p:nvSpPr>
        <p:spPr>
          <a:xfrm>
            <a:off x="8191500" y="2381250"/>
            <a:ext cx="6191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250" b="1">
                <a:solidFill>
                  <a:srgbClr val="123D8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250" b="1">
                <a:solidFill>
                  <a:srgbClr val="123D8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</a:t>
            </a:r>
          </a:p>
        </p:txBody>
      </p:sp>
      <p:sp>
        <p:nvSpPr>
          <p:cNvPr id="14" name="contents-under-2"/>
          <p:cNvSpPr>
            <a:spLocks noGrp="1"/>
          </p:cNvSpPr>
          <p:nvPr/>
        </p:nvSpPr>
        <p:spPr>
          <a:xfrm>
            <a:off x="8191500" y="2838450"/>
            <a:ext cx="666750" cy="28575"/>
          </a:xfrm>
          <a:prstGeom prst="rect">
            <a:avLst/>
          </a:prstGeom>
          <a:solidFill>
            <a:srgbClr val="123D8D"/>
          </a:solidFill>
          <a:ln w="0">
            <a:solidFill>
              <a:srgbClr val="123D8D"/>
            </a:solidFill>
            <a:prstDash val="solid"/>
          </a:ln>
        </p:spPr>
      </p:sp>
      <p:sp>
        <p:nvSpPr>
          <p:cNvPr id="15" name="contents-label-2"/>
          <p:cNvSpPr>
            <a:spLocks noGrp="1"/>
          </p:cNvSpPr>
          <p:nvPr/>
        </p:nvSpPr>
        <p:spPr>
          <a:xfrm>
            <a:off x="8934450" y="2409825"/>
            <a:ext cx="171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00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研究思路</a:t>
            </a:r>
          </a:p>
        </p:txBody>
      </p:sp>
      <p:sp>
        <p:nvSpPr>
          <p:cNvPr id="16" name="contents-no-3"/>
          <p:cNvSpPr>
            <a:spLocks noGrp="1"/>
          </p:cNvSpPr>
          <p:nvPr/>
        </p:nvSpPr>
        <p:spPr>
          <a:xfrm>
            <a:off x="1428750" y="3905250"/>
            <a:ext cx="6191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250" b="1">
                <a:solidFill>
                  <a:srgbClr val="123D8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250" b="1">
                <a:solidFill>
                  <a:srgbClr val="123D8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04</a:t>
            </a:r>
          </a:p>
        </p:txBody>
      </p:sp>
      <p:sp>
        <p:nvSpPr>
          <p:cNvPr id="17" name="contents-under-3"/>
          <p:cNvSpPr>
            <a:spLocks noGrp="1"/>
          </p:cNvSpPr>
          <p:nvPr/>
        </p:nvSpPr>
        <p:spPr>
          <a:xfrm>
            <a:off x="1428750" y="4362450"/>
            <a:ext cx="666750" cy="28575"/>
          </a:xfrm>
          <a:prstGeom prst="rect">
            <a:avLst/>
          </a:prstGeom>
          <a:solidFill>
            <a:srgbClr val="123D8D"/>
          </a:solidFill>
          <a:ln w="0">
            <a:solidFill>
              <a:srgbClr val="123D8D"/>
            </a:solidFill>
            <a:prstDash val="solid"/>
          </a:ln>
        </p:spPr>
      </p:sp>
      <p:sp>
        <p:nvSpPr>
          <p:cNvPr id="18" name="contents-label-3"/>
          <p:cNvSpPr>
            <a:spLocks noGrp="1"/>
          </p:cNvSpPr>
          <p:nvPr/>
        </p:nvSpPr>
        <p:spPr>
          <a:xfrm>
            <a:off x="2171700" y="3933825"/>
            <a:ext cx="171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00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研究结果</a:t>
            </a:r>
          </a:p>
        </p:txBody>
      </p:sp>
      <p:sp>
        <p:nvSpPr>
          <p:cNvPr id="19" name="contents-no-4"/>
          <p:cNvSpPr>
            <a:spLocks noGrp="1"/>
          </p:cNvSpPr>
          <p:nvPr/>
        </p:nvSpPr>
        <p:spPr>
          <a:xfrm>
            <a:off x="4810125" y="3905250"/>
            <a:ext cx="6191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250" b="1">
                <a:solidFill>
                  <a:srgbClr val="123D8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250" b="1">
                <a:solidFill>
                  <a:srgbClr val="123D8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05</a:t>
            </a:r>
          </a:p>
        </p:txBody>
      </p:sp>
      <p:sp>
        <p:nvSpPr>
          <p:cNvPr id="20" name="contents-under-4"/>
          <p:cNvSpPr>
            <a:spLocks noGrp="1"/>
          </p:cNvSpPr>
          <p:nvPr/>
        </p:nvSpPr>
        <p:spPr>
          <a:xfrm>
            <a:off x="4810125" y="4362450"/>
            <a:ext cx="666750" cy="28575"/>
          </a:xfrm>
          <a:prstGeom prst="rect">
            <a:avLst/>
          </a:prstGeom>
          <a:solidFill>
            <a:srgbClr val="123D8D"/>
          </a:solidFill>
          <a:ln w="0">
            <a:solidFill>
              <a:srgbClr val="123D8D"/>
            </a:solidFill>
            <a:prstDash val="solid"/>
          </a:ln>
        </p:spPr>
      </p:sp>
      <p:sp>
        <p:nvSpPr>
          <p:cNvPr id="21" name="contents-label-4"/>
          <p:cNvSpPr>
            <a:spLocks noGrp="1"/>
          </p:cNvSpPr>
          <p:nvPr/>
        </p:nvSpPr>
        <p:spPr>
          <a:xfrm>
            <a:off x="5553075" y="3933825"/>
            <a:ext cx="171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00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结论与讨论</a:t>
            </a:r>
          </a:p>
        </p:txBody>
      </p:sp>
      <p:sp>
        <p:nvSpPr>
          <p:cNvPr id="22" name="contents-no-5"/>
          <p:cNvSpPr>
            <a:spLocks noGrp="1"/>
          </p:cNvSpPr>
          <p:nvPr/>
        </p:nvSpPr>
        <p:spPr>
          <a:xfrm>
            <a:off x="8191500" y="3905250"/>
            <a:ext cx="6191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250" b="1">
                <a:solidFill>
                  <a:srgbClr val="123D8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250" b="1">
                <a:solidFill>
                  <a:srgbClr val="123D8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06</a:t>
            </a:r>
          </a:p>
        </p:txBody>
      </p:sp>
      <p:sp>
        <p:nvSpPr>
          <p:cNvPr id="23" name="contents-under-5"/>
          <p:cNvSpPr>
            <a:spLocks noGrp="1"/>
          </p:cNvSpPr>
          <p:nvPr/>
        </p:nvSpPr>
        <p:spPr>
          <a:xfrm>
            <a:off x="8191500" y="4362450"/>
            <a:ext cx="666750" cy="28575"/>
          </a:xfrm>
          <a:prstGeom prst="rect">
            <a:avLst/>
          </a:prstGeom>
          <a:solidFill>
            <a:srgbClr val="123D8D"/>
          </a:solidFill>
          <a:ln w="0">
            <a:solidFill>
              <a:srgbClr val="123D8D"/>
            </a:solidFill>
            <a:prstDash val="solid"/>
          </a:ln>
        </p:spPr>
      </p:sp>
      <p:sp>
        <p:nvSpPr>
          <p:cNvPr id="24" name="contents-label-5"/>
          <p:cNvSpPr>
            <a:spLocks noGrp="1"/>
          </p:cNvSpPr>
          <p:nvPr/>
        </p:nvSpPr>
        <p:spPr>
          <a:xfrm>
            <a:off x="8934450" y="3933825"/>
            <a:ext cx="171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00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创新与启发</a:t>
            </a:r>
          </a:p>
        </p:txBody>
      </p:sp>
      <p:sp>
        <p:nvSpPr>
          <p:cNvPr id="25" name="contents-message"/>
          <p:cNvSpPr>
            <a:spLocks noGrp="1"/>
          </p:cNvSpPr>
          <p:nvPr/>
        </p:nvSpPr>
        <p:spPr>
          <a:xfrm>
            <a:off x="1905000" y="5905500"/>
            <a:ext cx="8382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650" b="0">
                <a:solidFill>
                  <a:srgbClr val="5F6B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F6B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从方法假设出发，沿着模型证据链回答：scGPT 学到了什么，又还没有证明什么？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left-nav-bg"/>
          <p:cNvSpPr>
            <a:spLocks noGrp="1"/>
          </p:cNvSpPr>
          <p:nvPr/>
        </p:nvSpPr>
        <p:spPr>
          <a:xfrm>
            <a:off x="0" y="0"/>
            <a:ext cx="990600" cy="6858000"/>
          </a:xfrm>
          <a:prstGeom prst="rect">
            <a:avLst/>
          </a:prstGeom>
          <a:solidFill>
            <a:srgbClr val="123D8D"/>
          </a:solidFill>
          <a:ln w="0">
            <a:solidFill>
              <a:srgbClr val="123D8D"/>
            </a:solidFill>
            <a:prstDash val="solid"/>
          </a:ln>
        </p:spPr>
      </p:sp>
      <p:sp>
        <p:nvSpPr>
          <p:cNvPr id="2" name="nav-label"/>
          <p:cNvSpPr>
            <a:spLocks noGrp="1"/>
          </p:cNvSpPr>
          <p:nvPr/>
        </p:nvSpPr>
        <p:spPr>
          <a:xfrm>
            <a:off x="28575" y="2667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课题组文献汇报</a:t>
            </a:r>
          </a:p>
        </p:txBody>
      </p:sp>
      <p:sp>
        <p:nvSpPr>
          <p:cNvPr id="3" name="nav-0"/>
          <p:cNvSpPr>
            <a:spLocks noGrp="1"/>
          </p:cNvSpPr>
          <p:nvPr/>
        </p:nvSpPr>
        <p:spPr>
          <a:xfrm>
            <a:off x="57150" y="2095500"/>
            <a:ext cx="876300" cy="409575"/>
          </a:xfrm>
          <a:prstGeom prst="rect">
            <a:avLst/>
          </a:prstGeom>
          <a:solidFill>
            <a:srgbClr val="EEF7F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nav-text-0"/>
          <p:cNvSpPr>
            <a:spLocks noGrp="1"/>
          </p:cNvSpPr>
          <p:nvPr/>
        </p:nvSpPr>
        <p:spPr>
          <a:xfrm>
            <a:off x="85725" y="2181225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123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23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基本信息</a:t>
            </a:r>
          </a:p>
        </p:txBody>
      </p:sp>
      <p:sp>
        <p:nvSpPr>
          <p:cNvPr id="5" name="nav-1"/>
          <p:cNvSpPr>
            <a:spLocks noGrp="1"/>
          </p:cNvSpPr>
          <p:nvPr/>
        </p:nvSpPr>
        <p:spPr>
          <a:xfrm>
            <a:off x="57150" y="2562225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6" name="nav-text-1"/>
          <p:cNvSpPr>
            <a:spLocks noGrp="1"/>
          </p:cNvSpPr>
          <p:nvPr/>
        </p:nvSpPr>
        <p:spPr>
          <a:xfrm>
            <a:off x="85725" y="2647950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研究背景</a:t>
            </a:r>
          </a:p>
        </p:txBody>
      </p:sp>
      <p:sp>
        <p:nvSpPr>
          <p:cNvPr id="7" name="nav-2"/>
          <p:cNvSpPr>
            <a:spLocks noGrp="1"/>
          </p:cNvSpPr>
          <p:nvPr/>
        </p:nvSpPr>
        <p:spPr>
          <a:xfrm>
            <a:off x="57150" y="3028950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8" name="nav-text-2"/>
          <p:cNvSpPr>
            <a:spLocks noGrp="1"/>
          </p:cNvSpPr>
          <p:nvPr/>
        </p:nvSpPr>
        <p:spPr>
          <a:xfrm>
            <a:off x="85725" y="3114675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研究思路</a:t>
            </a:r>
          </a:p>
        </p:txBody>
      </p:sp>
      <p:sp>
        <p:nvSpPr>
          <p:cNvPr id="9" name="nav-3"/>
          <p:cNvSpPr>
            <a:spLocks noGrp="1"/>
          </p:cNvSpPr>
          <p:nvPr/>
        </p:nvSpPr>
        <p:spPr>
          <a:xfrm>
            <a:off x="57150" y="3495675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10" name="nav-text-3"/>
          <p:cNvSpPr>
            <a:spLocks noGrp="1"/>
          </p:cNvSpPr>
          <p:nvPr/>
        </p:nvSpPr>
        <p:spPr>
          <a:xfrm>
            <a:off x="85725" y="3581400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研究结果</a:t>
            </a:r>
          </a:p>
        </p:txBody>
      </p:sp>
      <p:sp>
        <p:nvSpPr>
          <p:cNvPr id="11" name="nav-4"/>
          <p:cNvSpPr>
            <a:spLocks noGrp="1"/>
          </p:cNvSpPr>
          <p:nvPr/>
        </p:nvSpPr>
        <p:spPr>
          <a:xfrm>
            <a:off x="57150" y="3962400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12" name="nav-text-4"/>
          <p:cNvSpPr>
            <a:spLocks noGrp="1"/>
          </p:cNvSpPr>
          <p:nvPr/>
        </p:nvSpPr>
        <p:spPr>
          <a:xfrm>
            <a:off x="85725" y="4048125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结论与讨论</a:t>
            </a:r>
          </a:p>
        </p:txBody>
      </p:sp>
      <p:sp>
        <p:nvSpPr>
          <p:cNvPr id="13" name="nav-5"/>
          <p:cNvSpPr>
            <a:spLocks noGrp="1"/>
          </p:cNvSpPr>
          <p:nvPr/>
        </p:nvSpPr>
        <p:spPr>
          <a:xfrm>
            <a:off x="57150" y="4429125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14" name="nav-text-5"/>
          <p:cNvSpPr>
            <a:spLocks noGrp="1"/>
          </p:cNvSpPr>
          <p:nvPr/>
        </p:nvSpPr>
        <p:spPr>
          <a:xfrm>
            <a:off x="85725" y="4514850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创新与启发</a:t>
            </a:r>
          </a:p>
        </p:txBody>
      </p:sp>
      <p:sp>
        <p:nvSpPr>
          <p:cNvPr id="15" name="title-square"/>
          <p:cNvSpPr>
            <a:spLocks noGrp="1"/>
          </p:cNvSpPr>
          <p:nvPr/>
        </p:nvSpPr>
        <p:spPr>
          <a:xfrm>
            <a:off x="1162050" y="228600"/>
            <a:ext cx="114300" cy="190500"/>
          </a:xfrm>
          <a:prstGeom prst="rect">
            <a:avLst/>
          </a:prstGeom>
          <a:solidFill>
            <a:srgbClr val="123D8D"/>
          </a:solidFill>
          <a:ln w="0">
            <a:solidFill>
              <a:srgbClr val="123D8D"/>
            </a:solidFill>
            <a:prstDash val="solid"/>
          </a:ln>
        </p:spPr>
      </p:sp>
      <p:sp>
        <p:nvSpPr>
          <p:cNvPr id="16" name="slide-title"/>
          <p:cNvSpPr>
            <a:spLocks noGrp="1"/>
          </p:cNvSpPr>
          <p:nvPr/>
        </p:nvSpPr>
        <p:spPr>
          <a:xfrm>
            <a:off x="1352550" y="161925"/>
            <a:ext cx="8334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buNone/>
              <a:defRPr sz="2025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 基本信息：论文与研究团队</a:t>
            </a:r>
          </a:p>
        </p:txBody>
      </p:sp>
      <p:sp>
        <p:nvSpPr>
          <p:cNvPr id="17" name="title-rule"/>
          <p:cNvSpPr>
            <a:spLocks noGrp="1"/>
          </p:cNvSpPr>
          <p:nvPr/>
        </p:nvSpPr>
        <p:spPr>
          <a:xfrm>
            <a:off x="1162050" y="590550"/>
            <a:ext cx="8715375" cy="19050"/>
          </a:xfrm>
          <a:prstGeom prst="rect">
            <a:avLst/>
          </a:prstGeom>
          <a:solidFill>
            <a:srgbClr val="123D8D"/>
          </a:solidFill>
          <a:ln w="0">
            <a:solidFill>
              <a:srgbClr val="123D8D"/>
            </a:solidFill>
            <a:prstDash val="solid"/>
          </a:ln>
        </p:spPr>
      </p:sp>
      <p:pic>
        <p:nvPicPr>
          <p:cNvPr id="59" name="图片 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0791" y="66675"/>
            <a:ext cx="1608794" cy="514350"/>
          </a:xfrm>
          <a:prstGeom prst="rect">
            <a:avLst/>
          </a:prstGeom>
        </p:spPr>
      </p:pic>
      <p:sp>
        <p:nvSpPr>
          <p:cNvPr id="19" name="page-number"/>
          <p:cNvSpPr>
            <a:spLocks noGrp="1"/>
          </p:cNvSpPr>
          <p:nvPr/>
        </p:nvSpPr>
        <p:spPr>
          <a:xfrm>
            <a:off x="11382375" y="64865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0">
                <a:solidFill>
                  <a:srgbClr val="7A889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7A889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</a:t>
            </a:r>
          </a:p>
        </p:txBody>
      </p:sp>
      <p:sp>
        <p:nvSpPr>
          <p:cNvPr id="20" name="citation-footer"/>
          <p:cNvSpPr>
            <a:spLocks noGrp="1"/>
          </p:cNvSpPr>
          <p:nvPr/>
        </p:nvSpPr>
        <p:spPr>
          <a:xfrm>
            <a:off x="1162050" y="64579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7A889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>
                <a:solidFill>
                  <a:srgbClr val="7A889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Cui et al. | Nature Methods 21, 1470–1480 (2024)</a:t>
            </a:r>
          </a:p>
        </p:txBody>
      </p:sp>
      <p:sp>
        <p:nvSpPr>
          <p:cNvPr id="21" name="journal-card"/>
          <p:cNvSpPr>
            <a:spLocks noGrp="1"/>
          </p:cNvSpPr>
          <p:nvPr/>
        </p:nvSpPr>
        <p:spPr>
          <a:xfrm>
            <a:off x="1404620" y="1038860"/>
            <a:ext cx="3126105" cy="4989830"/>
          </a:xfrm>
          <a:prstGeom prst="rect">
            <a:avLst/>
          </a:prstGeom>
          <a:solidFill>
            <a:srgbClr val="F5F3EE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2" name="journal-masthead"/>
          <p:cNvSpPr>
            <a:spLocks noGrp="1"/>
          </p:cNvSpPr>
          <p:nvPr/>
        </p:nvSpPr>
        <p:spPr>
          <a:xfrm>
            <a:off x="1785620" y="1477010"/>
            <a:ext cx="2400935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3900" b="1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3900" b="1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nature</a:t>
            </a:r>
          </a:p>
          <a:p>
            <a:pPr algn="ctr">
              <a:buNone/>
              <a:defRPr sz="3900" b="1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3900" b="1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methods</a:t>
            </a:r>
          </a:p>
        </p:txBody>
      </p:sp>
      <p:sp>
        <p:nvSpPr>
          <p:cNvPr id="23" name="volume"/>
          <p:cNvSpPr>
            <a:spLocks noGrp="1"/>
          </p:cNvSpPr>
          <p:nvPr/>
        </p:nvSpPr>
        <p:spPr>
          <a:xfrm>
            <a:off x="1880870" y="2867660"/>
            <a:ext cx="221996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650" b="0">
                <a:solidFill>
                  <a:srgbClr val="5F6B7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0">
                <a:solidFill>
                  <a:srgbClr val="5F6B7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Volume 21 · 2024</a:t>
            </a:r>
          </a:p>
        </p:txBody>
      </p:sp>
      <p:sp>
        <p:nvSpPr>
          <p:cNvPr id="24" name="journal-rule"/>
          <p:cNvSpPr>
            <a:spLocks noGrp="1"/>
          </p:cNvSpPr>
          <p:nvPr/>
        </p:nvSpPr>
        <p:spPr>
          <a:xfrm>
            <a:off x="1785620" y="3401060"/>
            <a:ext cx="2400935" cy="76200"/>
          </a:xfrm>
          <a:prstGeom prst="rect">
            <a:avLst/>
          </a:prstGeom>
          <a:solidFill>
            <a:srgbClr val="123D8D"/>
          </a:solidFill>
          <a:ln w="0">
            <a:solidFill>
              <a:srgbClr val="123D8D"/>
            </a:solidFill>
            <a:prstDash val="solid"/>
          </a:ln>
        </p:spPr>
      </p:sp>
      <p:sp>
        <p:nvSpPr>
          <p:cNvPr id="25" name="article-type"/>
          <p:cNvSpPr>
            <a:spLocks noGrp="1"/>
          </p:cNvSpPr>
          <p:nvPr/>
        </p:nvSpPr>
        <p:spPr>
          <a:xfrm>
            <a:off x="1928495" y="3667760"/>
            <a:ext cx="212915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650" b="1">
                <a:solidFill>
                  <a:srgbClr val="123D8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123D8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Article</a:t>
            </a:r>
          </a:p>
        </p:txBody>
      </p:sp>
      <p:sp>
        <p:nvSpPr>
          <p:cNvPr id="26" name="publish-date"/>
          <p:cNvSpPr>
            <a:spLocks noGrp="1"/>
          </p:cNvSpPr>
          <p:nvPr/>
        </p:nvSpPr>
        <p:spPr>
          <a:xfrm>
            <a:off x="1690370" y="4239260"/>
            <a:ext cx="258254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50" b="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Published 20 February 2024</a:t>
            </a:r>
          </a:p>
        </p:txBody>
      </p:sp>
      <p:sp>
        <p:nvSpPr>
          <p:cNvPr id="27" name="pages"/>
          <p:cNvSpPr>
            <a:spLocks noGrp="1"/>
          </p:cNvSpPr>
          <p:nvPr/>
        </p:nvSpPr>
        <p:spPr>
          <a:xfrm>
            <a:off x="1928495" y="4715510"/>
            <a:ext cx="212915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00" b="1">
                <a:solidFill>
                  <a:srgbClr val="0B2F6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0B2F6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1470–1480</a:t>
            </a:r>
          </a:p>
        </p:txBody>
      </p:sp>
      <p:sp>
        <p:nvSpPr>
          <p:cNvPr id="28" name="paper-title-box"/>
          <p:cNvSpPr>
            <a:spLocks noGrp="1"/>
          </p:cNvSpPr>
          <p:nvPr/>
        </p:nvSpPr>
        <p:spPr>
          <a:xfrm>
            <a:off x="5071745" y="1057910"/>
            <a:ext cx="6715125" cy="1200150"/>
          </a:xfrm>
          <a:prstGeom prst="rect">
            <a:avLst/>
          </a:prstGeom>
          <a:solidFill>
            <a:srgbClr val="EEF7FD"/>
          </a:solidFill>
          <a:ln w="9525">
            <a:solidFill>
              <a:srgbClr val="C9DDEB"/>
            </a:solidFill>
            <a:prstDash val="solid"/>
          </a:ln>
        </p:spPr>
      </p:sp>
      <p:sp>
        <p:nvSpPr>
          <p:cNvPr id="29" name="paper-title"/>
          <p:cNvSpPr>
            <a:spLocks noGrp="1"/>
          </p:cNvSpPr>
          <p:nvPr/>
        </p:nvSpPr>
        <p:spPr>
          <a:xfrm>
            <a:off x="5309870" y="1210310"/>
            <a:ext cx="6238875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025" b="1">
                <a:solidFill>
                  <a:srgbClr val="0B2F6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025" b="1">
                <a:solidFill>
                  <a:srgbClr val="0B2F6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scGPT: toward building a foundation model for single-cell multi-omics using generative AI</a:t>
            </a:r>
          </a:p>
        </p:txBody>
      </p:sp>
      <p:sp>
        <p:nvSpPr>
          <p:cNvPr id="30" name="author-label"/>
          <p:cNvSpPr>
            <a:spLocks noGrp="1"/>
          </p:cNvSpPr>
          <p:nvPr/>
        </p:nvSpPr>
        <p:spPr>
          <a:xfrm>
            <a:off x="5095240" y="2581910"/>
            <a:ext cx="800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1">
                <a:solidFill>
                  <a:srgbClr val="123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23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作者</a:t>
            </a:r>
          </a:p>
        </p:txBody>
      </p:sp>
      <p:sp>
        <p:nvSpPr>
          <p:cNvPr id="31" name="authors"/>
          <p:cNvSpPr>
            <a:spLocks noGrp="1"/>
          </p:cNvSpPr>
          <p:nvPr/>
        </p:nvSpPr>
        <p:spPr>
          <a:xfrm>
            <a:off x="6161405" y="2492375"/>
            <a:ext cx="5524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425" b="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Haotian Cui*, Chloe Wang*, Hassaan Maan, Kuan Pang, Fengning Luo, Nan Duan, Bo Wang†</a:t>
            </a:r>
          </a:p>
        </p:txBody>
      </p:sp>
      <p:sp>
        <p:nvSpPr>
          <p:cNvPr id="32" name="position-label"/>
          <p:cNvSpPr>
            <a:spLocks noGrp="1"/>
          </p:cNvSpPr>
          <p:nvPr/>
        </p:nvSpPr>
        <p:spPr>
          <a:xfrm>
            <a:off x="5095240" y="3324860"/>
            <a:ext cx="1137920" cy="298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1">
                <a:solidFill>
                  <a:srgbClr val="123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23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研究定位</a:t>
            </a:r>
          </a:p>
        </p:txBody>
      </p:sp>
      <p:sp>
        <p:nvSpPr>
          <p:cNvPr id="33" name="research-position"/>
          <p:cNvSpPr>
            <a:spLocks noGrp="1"/>
          </p:cNvSpPr>
          <p:nvPr/>
        </p:nvSpPr>
        <p:spPr>
          <a:xfrm>
            <a:off x="6142990" y="3286760"/>
            <a:ext cx="5699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42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单细胞基础模型｜生成式预训练｜多组学整合｜扰动预测｜基因网络</a:t>
            </a:r>
          </a:p>
        </p:txBody>
      </p:sp>
      <p:sp>
        <p:nvSpPr>
          <p:cNvPr id="34" name="scale-label"/>
          <p:cNvSpPr>
            <a:spLocks noGrp="1"/>
          </p:cNvSpPr>
          <p:nvPr/>
        </p:nvSpPr>
        <p:spPr>
          <a:xfrm>
            <a:off x="5095240" y="4086860"/>
            <a:ext cx="1048385" cy="3028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1">
                <a:solidFill>
                  <a:srgbClr val="123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23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核心规模</a:t>
            </a:r>
          </a:p>
        </p:txBody>
      </p:sp>
      <p:sp>
        <p:nvSpPr>
          <p:cNvPr id="35" name="scale-content"/>
          <p:cNvSpPr>
            <a:spLocks noGrp="1"/>
          </p:cNvSpPr>
          <p:nvPr/>
        </p:nvSpPr>
        <p:spPr>
          <a:xfrm>
            <a:off x="6142990" y="3957955"/>
            <a:ext cx="5334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50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33 million</a:t>
            </a:r>
            <a:r>
              <a:rPr sz="150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正常人类细胞用于整人模型预训练</a:t>
            </a:r>
          </a:p>
          <a:p>
            <a:pPr algn="l">
              <a:lnSpc>
                <a:spcPct val="110000"/>
              </a:lnSpc>
              <a:buNone/>
              <a:defRPr sz="150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类</a:t>
            </a:r>
            <a:r>
              <a:rPr sz="150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下游任务验证统一表示能力</a:t>
            </a:r>
          </a:p>
        </p:txBody>
      </p:sp>
      <p:sp>
        <p:nvSpPr>
          <p:cNvPr id="36" name="doi-label"/>
          <p:cNvSpPr>
            <a:spLocks noGrp="1"/>
          </p:cNvSpPr>
          <p:nvPr/>
        </p:nvSpPr>
        <p:spPr>
          <a:xfrm>
            <a:off x="5095240" y="4929505"/>
            <a:ext cx="76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1">
                <a:solidFill>
                  <a:srgbClr val="123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23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DOI</a:t>
            </a:r>
          </a:p>
        </p:txBody>
      </p:sp>
      <p:sp>
        <p:nvSpPr>
          <p:cNvPr id="37" name="doi"/>
          <p:cNvSpPr>
            <a:spLocks noGrp="1"/>
          </p:cNvSpPr>
          <p:nvPr/>
        </p:nvSpPr>
        <p:spPr>
          <a:xfrm>
            <a:off x="6096635" y="4910455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10.1038/s41592-024-02201-0</a:t>
            </a:r>
          </a:p>
        </p:txBody>
      </p:sp>
      <p:sp>
        <p:nvSpPr>
          <p:cNvPr id="38" name="paper-takeaway"/>
          <p:cNvSpPr>
            <a:spLocks noGrp="1"/>
          </p:cNvSpPr>
          <p:nvPr/>
        </p:nvSpPr>
        <p:spPr>
          <a:xfrm>
            <a:off x="5071745" y="5515610"/>
            <a:ext cx="6715125" cy="513080"/>
          </a:xfrm>
          <a:prstGeom prst="rect">
            <a:avLst/>
          </a:prstGeom>
          <a:solidFill>
            <a:srgbClr val="123D8D"/>
          </a:solidFill>
          <a:ln w="0">
            <a:solidFill>
              <a:srgbClr val="123D8D"/>
            </a:solidFill>
            <a:prstDash val="solid"/>
          </a:ln>
        </p:spPr>
      </p:sp>
      <p:sp>
        <p:nvSpPr>
          <p:cNvPr id="39" name="paper-one-liner"/>
          <p:cNvSpPr>
            <a:spLocks noGrp="1"/>
          </p:cNvSpPr>
          <p:nvPr/>
        </p:nvSpPr>
        <p:spPr>
          <a:xfrm>
            <a:off x="5262245" y="5610860"/>
            <a:ext cx="6334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一句话：把“细胞表达谱”转化为可迁移、可生成、可解释的基础表示。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left-nav-bg"/>
          <p:cNvSpPr>
            <a:spLocks noGrp="1"/>
          </p:cNvSpPr>
          <p:nvPr/>
        </p:nvSpPr>
        <p:spPr>
          <a:xfrm>
            <a:off x="0" y="0"/>
            <a:ext cx="990600" cy="6858000"/>
          </a:xfrm>
          <a:prstGeom prst="rect">
            <a:avLst/>
          </a:prstGeom>
          <a:solidFill>
            <a:srgbClr val="123D8D"/>
          </a:solidFill>
          <a:ln w="0">
            <a:solidFill>
              <a:srgbClr val="123D8D"/>
            </a:solidFill>
            <a:prstDash val="solid"/>
          </a:ln>
        </p:spPr>
      </p:sp>
      <p:sp>
        <p:nvSpPr>
          <p:cNvPr id="2" name="nav-label"/>
          <p:cNvSpPr>
            <a:spLocks noGrp="1"/>
          </p:cNvSpPr>
          <p:nvPr/>
        </p:nvSpPr>
        <p:spPr>
          <a:xfrm>
            <a:off x="28575" y="2667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课题组文献汇报</a:t>
            </a:r>
          </a:p>
        </p:txBody>
      </p:sp>
      <p:sp>
        <p:nvSpPr>
          <p:cNvPr id="3" name="nav-0"/>
          <p:cNvSpPr>
            <a:spLocks noGrp="1"/>
          </p:cNvSpPr>
          <p:nvPr/>
        </p:nvSpPr>
        <p:spPr>
          <a:xfrm>
            <a:off x="57150" y="2095500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4" name="nav-text-0"/>
          <p:cNvSpPr>
            <a:spLocks noGrp="1"/>
          </p:cNvSpPr>
          <p:nvPr/>
        </p:nvSpPr>
        <p:spPr>
          <a:xfrm>
            <a:off x="85725" y="2181225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基本信息</a:t>
            </a:r>
          </a:p>
        </p:txBody>
      </p:sp>
      <p:sp>
        <p:nvSpPr>
          <p:cNvPr id="5" name="nav-1"/>
          <p:cNvSpPr>
            <a:spLocks noGrp="1"/>
          </p:cNvSpPr>
          <p:nvPr/>
        </p:nvSpPr>
        <p:spPr>
          <a:xfrm>
            <a:off x="57150" y="2562225"/>
            <a:ext cx="876300" cy="409575"/>
          </a:xfrm>
          <a:prstGeom prst="rect">
            <a:avLst/>
          </a:prstGeom>
          <a:solidFill>
            <a:srgbClr val="EEF7F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" name="nav-text-1"/>
          <p:cNvSpPr>
            <a:spLocks noGrp="1"/>
          </p:cNvSpPr>
          <p:nvPr/>
        </p:nvSpPr>
        <p:spPr>
          <a:xfrm>
            <a:off x="85725" y="2647950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123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23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研究背景</a:t>
            </a:r>
          </a:p>
        </p:txBody>
      </p:sp>
      <p:sp>
        <p:nvSpPr>
          <p:cNvPr id="7" name="nav-2"/>
          <p:cNvSpPr>
            <a:spLocks noGrp="1"/>
          </p:cNvSpPr>
          <p:nvPr/>
        </p:nvSpPr>
        <p:spPr>
          <a:xfrm>
            <a:off x="57150" y="3028950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8" name="nav-text-2"/>
          <p:cNvSpPr>
            <a:spLocks noGrp="1"/>
          </p:cNvSpPr>
          <p:nvPr/>
        </p:nvSpPr>
        <p:spPr>
          <a:xfrm>
            <a:off x="85725" y="3114675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研究思路</a:t>
            </a:r>
          </a:p>
        </p:txBody>
      </p:sp>
      <p:sp>
        <p:nvSpPr>
          <p:cNvPr id="9" name="nav-3"/>
          <p:cNvSpPr>
            <a:spLocks noGrp="1"/>
          </p:cNvSpPr>
          <p:nvPr/>
        </p:nvSpPr>
        <p:spPr>
          <a:xfrm>
            <a:off x="57150" y="3495675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10" name="nav-text-3"/>
          <p:cNvSpPr>
            <a:spLocks noGrp="1"/>
          </p:cNvSpPr>
          <p:nvPr/>
        </p:nvSpPr>
        <p:spPr>
          <a:xfrm>
            <a:off x="85725" y="3581400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研究结果</a:t>
            </a:r>
          </a:p>
        </p:txBody>
      </p:sp>
      <p:sp>
        <p:nvSpPr>
          <p:cNvPr id="11" name="nav-4"/>
          <p:cNvSpPr>
            <a:spLocks noGrp="1"/>
          </p:cNvSpPr>
          <p:nvPr/>
        </p:nvSpPr>
        <p:spPr>
          <a:xfrm>
            <a:off x="57150" y="3962400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12" name="nav-text-4"/>
          <p:cNvSpPr>
            <a:spLocks noGrp="1"/>
          </p:cNvSpPr>
          <p:nvPr/>
        </p:nvSpPr>
        <p:spPr>
          <a:xfrm>
            <a:off x="85725" y="4048125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结论与讨论</a:t>
            </a:r>
          </a:p>
        </p:txBody>
      </p:sp>
      <p:sp>
        <p:nvSpPr>
          <p:cNvPr id="13" name="nav-5"/>
          <p:cNvSpPr>
            <a:spLocks noGrp="1"/>
          </p:cNvSpPr>
          <p:nvPr/>
        </p:nvSpPr>
        <p:spPr>
          <a:xfrm>
            <a:off x="57150" y="4429125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14" name="nav-text-5"/>
          <p:cNvSpPr>
            <a:spLocks noGrp="1"/>
          </p:cNvSpPr>
          <p:nvPr/>
        </p:nvSpPr>
        <p:spPr>
          <a:xfrm>
            <a:off x="85725" y="4514850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创新与启发</a:t>
            </a:r>
          </a:p>
        </p:txBody>
      </p:sp>
      <p:sp>
        <p:nvSpPr>
          <p:cNvPr id="15" name="title-square"/>
          <p:cNvSpPr>
            <a:spLocks noGrp="1"/>
          </p:cNvSpPr>
          <p:nvPr/>
        </p:nvSpPr>
        <p:spPr>
          <a:xfrm>
            <a:off x="1162050" y="228600"/>
            <a:ext cx="114300" cy="190500"/>
          </a:xfrm>
          <a:prstGeom prst="rect">
            <a:avLst/>
          </a:prstGeom>
          <a:solidFill>
            <a:srgbClr val="123D8D"/>
          </a:solidFill>
          <a:ln w="0">
            <a:solidFill>
              <a:srgbClr val="123D8D"/>
            </a:solidFill>
            <a:prstDash val="solid"/>
          </a:ln>
        </p:spPr>
      </p:sp>
      <p:sp>
        <p:nvSpPr>
          <p:cNvPr id="16" name="slide-title"/>
          <p:cNvSpPr>
            <a:spLocks noGrp="1"/>
          </p:cNvSpPr>
          <p:nvPr/>
        </p:nvSpPr>
        <p:spPr>
          <a:xfrm>
            <a:off x="1352550" y="161925"/>
            <a:ext cx="8334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buNone/>
              <a:defRPr sz="2025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2.1  研究背景：单细胞数据增长，但分析工具仍高度碎片化</a:t>
            </a:r>
          </a:p>
        </p:txBody>
      </p:sp>
      <p:sp>
        <p:nvSpPr>
          <p:cNvPr id="17" name="title-rule"/>
          <p:cNvSpPr>
            <a:spLocks noGrp="1"/>
          </p:cNvSpPr>
          <p:nvPr/>
        </p:nvSpPr>
        <p:spPr>
          <a:xfrm>
            <a:off x="1162050" y="590550"/>
            <a:ext cx="8715375" cy="19050"/>
          </a:xfrm>
          <a:prstGeom prst="rect">
            <a:avLst/>
          </a:prstGeom>
          <a:solidFill>
            <a:srgbClr val="123D8D"/>
          </a:solidFill>
          <a:ln w="0">
            <a:solidFill>
              <a:srgbClr val="123D8D"/>
            </a:solidFill>
            <a:prstDash val="solid"/>
          </a:ln>
        </p:spPr>
      </p:sp>
      <p:pic>
        <p:nvPicPr>
          <p:cNvPr id="56" name="图片 5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0791" y="66675"/>
            <a:ext cx="1608794" cy="514350"/>
          </a:xfrm>
          <a:prstGeom prst="rect">
            <a:avLst/>
          </a:prstGeom>
        </p:spPr>
      </p:pic>
      <p:sp>
        <p:nvSpPr>
          <p:cNvPr id="19" name="page-number"/>
          <p:cNvSpPr>
            <a:spLocks noGrp="1"/>
          </p:cNvSpPr>
          <p:nvPr/>
        </p:nvSpPr>
        <p:spPr>
          <a:xfrm>
            <a:off x="11382375" y="64865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0">
                <a:solidFill>
                  <a:srgbClr val="7A889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7A889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04</a:t>
            </a:r>
          </a:p>
        </p:txBody>
      </p:sp>
      <p:sp>
        <p:nvSpPr>
          <p:cNvPr id="20" name="citation-footer"/>
          <p:cNvSpPr>
            <a:spLocks noGrp="1"/>
          </p:cNvSpPr>
          <p:nvPr/>
        </p:nvSpPr>
        <p:spPr>
          <a:xfrm>
            <a:off x="1162050" y="64579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7A889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>
                <a:solidFill>
                  <a:srgbClr val="7A889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Cui et al. | Nature Methods 21, 1470–1480 (2024)</a:t>
            </a:r>
          </a:p>
        </p:txBody>
      </p:sp>
      <p:sp>
        <p:nvSpPr>
          <p:cNvPr id="21" name="background-card-0"/>
          <p:cNvSpPr>
            <a:spLocks noGrp="1"/>
          </p:cNvSpPr>
          <p:nvPr/>
        </p:nvSpPr>
        <p:spPr>
          <a:xfrm>
            <a:off x="2000250" y="1238250"/>
            <a:ext cx="2571750" cy="3429000"/>
          </a:xfrm>
          <a:prstGeom prst="rect">
            <a:avLst/>
          </a:prstGeom>
          <a:solidFill>
            <a:srgbClr val="EEF7FD"/>
          </a:solidFill>
          <a:ln w="9525">
            <a:solidFill>
              <a:srgbClr val="BCD5E5"/>
            </a:solidFill>
            <a:prstDash val="solid"/>
          </a:ln>
        </p:spPr>
      </p:sp>
      <p:sp>
        <p:nvSpPr>
          <p:cNvPr id="22" name="background-no-0"/>
          <p:cNvSpPr>
            <a:spLocks noGrp="1"/>
          </p:cNvSpPr>
          <p:nvPr/>
        </p:nvSpPr>
        <p:spPr>
          <a:xfrm>
            <a:off x="2838450" y="1466850"/>
            <a:ext cx="9048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3600" b="1">
                <a:solidFill>
                  <a:srgbClr val="123D8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600" b="1">
                <a:solidFill>
                  <a:srgbClr val="123D8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</a:t>
            </a:r>
          </a:p>
        </p:txBody>
      </p:sp>
      <p:sp>
        <p:nvSpPr>
          <p:cNvPr id="23" name="background-title-0"/>
          <p:cNvSpPr>
            <a:spLocks noGrp="1"/>
          </p:cNvSpPr>
          <p:nvPr/>
        </p:nvSpPr>
        <p:spPr>
          <a:xfrm>
            <a:off x="2209800" y="2324100"/>
            <a:ext cx="21526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725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数据规模快速增长</a:t>
            </a:r>
          </a:p>
        </p:txBody>
      </p:sp>
      <p:sp>
        <p:nvSpPr>
          <p:cNvPr id="24" name="background-body-0"/>
          <p:cNvSpPr>
            <a:spLocks noGrp="1"/>
          </p:cNvSpPr>
          <p:nvPr/>
        </p:nvSpPr>
        <p:spPr>
          <a:xfrm>
            <a:off x="2266950" y="3086100"/>
            <a:ext cx="20383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细胞图谱持续积累，样本跨组织、疾病、平台和实验批次。</a:t>
            </a:r>
          </a:p>
        </p:txBody>
      </p:sp>
      <p:sp>
        <p:nvSpPr>
          <p:cNvPr id="25" name="background-card-1"/>
          <p:cNvSpPr>
            <a:spLocks noGrp="1"/>
          </p:cNvSpPr>
          <p:nvPr/>
        </p:nvSpPr>
        <p:spPr>
          <a:xfrm>
            <a:off x="5286375" y="1238250"/>
            <a:ext cx="2571750" cy="3429000"/>
          </a:xfrm>
          <a:prstGeom prst="rect">
            <a:avLst/>
          </a:prstGeom>
          <a:solidFill>
            <a:srgbClr val="DCEEFF"/>
          </a:solidFill>
          <a:ln w="9525">
            <a:solidFill>
              <a:srgbClr val="BCD5E5"/>
            </a:solidFill>
            <a:prstDash val="solid"/>
          </a:ln>
        </p:spPr>
      </p:sp>
      <p:sp>
        <p:nvSpPr>
          <p:cNvPr id="26" name="background-no-1"/>
          <p:cNvSpPr>
            <a:spLocks noGrp="1"/>
          </p:cNvSpPr>
          <p:nvPr/>
        </p:nvSpPr>
        <p:spPr>
          <a:xfrm>
            <a:off x="6124575" y="1466850"/>
            <a:ext cx="9048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3600" b="1">
                <a:solidFill>
                  <a:srgbClr val="123D8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600" b="1">
                <a:solidFill>
                  <a:srgbClr val="123D8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</a:p>
        </p:txBody>
      </p:sp>
      <p:sp>
        <p:nvSpPr>
          <p:cNvPr id="27" name="background-title-1"/>
          <p:cNvSpPr>
            <a:spLocks noGrp="1"/>
          </p:cNvSpPr>
          <p:nvPr/>
        </p:nvSpPr>
        <p:spPr>
          <a:xfrm>
            <a:off x="5430520" y="2324100"/>
            <a:ext cx="221805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725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任务与模态不断扩展</a:t>
            </a:r>
          </a:p>
        </p:txBody>
      </p:sp>
      <p:sp>
        <p:nvSpPr>
          <p:cNvPr id="28" name="background-body-1"/>
          <p:cNvSpPr>
            <a:spLocks noGrp="1"/>
          </p:cNvSpPr>
          <p:nvPr/>
        </p:nvSpPr>
        <p:spPr>
          <a:xfrm>
            <a:off x="5553075" y="3086100"/>
            <a:ext cx="20383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从细胞注释扩展到批次校正、多组学整合、扰动响应与基因网络。</a:t>
            </a:r>
          </a:p>
        </p:txBody>
      </p:sp>
      <p:sp>
        <p:nvSpPr>
          <p:cNvPr id="29" name="background-card-2"/>
          <p:cNvSpPr>
            <a:spLocks noGrp="1"/>
          </p:cNvSpPr>
          <p:nvPr/>
        </p:nvSpPr>
        <p:spPr>
          <a:xfrm>
            <a:off x="8572500" y="1238250"/>
            <a:ext cx="2571750" cy="3429000"/>
          </a:xfrm>
          <a:prstGeom prst="rect">
            <a:avLst/>
          </a:prstGeom>
          <a:solidFill>
            <a:srgbClr val="EEF7FD"/>
          </a:solidFill>
          <a:ln w="9525">
            <a:solidFill>
              <a:srgbClr val="BCD5E5"/>
            </a:solidFill>
            <a:prstDash val="solid"/>
          </a:ln>
        </p:spPr>
      </p:sp>
      <p:sp>
        <p:nvSpPr>
          <p:cNvPr id="30" name="background-no-2"/>
          <p:cNvSpPr>
            <a:spLocks noGrp="1"/>
          </p:cNvSpPr>
          <p:nvPr/>
        </p:nvSpPr>
        <p:spPr>
          <a:xfrm>
            <a:off x="9410700" y="1466850"/>
            <a:ext cx="9048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3600" b="1">
                <a:solidFill>
                  <a:srgbClr val="123D8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600" b="1">
                <a:solidFill>
                  <a:srgbClr val="123D8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</a:t>
            </a:r>
          </a:p>
        </p:txBody>
      </p:sp>
      <p:sp>
        <p:nvSpPr>
          <p:cNvPr id="31" name="background-title-2"/>
          <p:cNvSpPr>
            <a:spLocks noGrp="1"/>
          </p:cNvSpPr>
          <p:nvPr/>
        </p:nvSpPr>
        <p:spPr>
          <a:xfrm>
            <a:off x="8782050" y="2324100"/>
            <a:ext cx="21526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725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模型难以复用</a:t>
            </a:r>
          </a:p>
        </p:txBody>
      </p:sp>
      <p:sp>
        <p:nvSpPr>
          <p:cNvPr id="32" name="background-body-2"/>
          <p:cNvSpPr>
            <a:spLocks noGrp="1"/>
          </p:cNvSpPr>
          <p:nvPr/>
        </p:nvSpPr>
        <p:spPr>
          <a:xfrm>
            <a:off x="8839200" y="3086100"/>
            <a:ext cx="20383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0000"/>
              </a:lnSpc>
              <a:buNone/>
              <a:def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传统流程通常为单一任务分别训练，跨数据集迁移和小样本应用受限。</a:t>
            </a:r>
          </a:p>
        </p:txBody>
      </p:sp>
      <p:sp>
        <p:nvSpPr>
          <p:cNvPr id="33" name="flow-arrow"/>
          <p:cNvSpPr>
            <a:spLocks noGrp="1"/>
          </p:cNvSpPr>
          <p:nvPr/>
        </p:nvSpPr>
        <p:spPr>
          <a:xfrm>
            <a:off x="4668520" y="2571750"/>
            <a:ext cx="476250" cy="419100"/>
          </a:xfrm>
          <a:prstGeom prst="rightArrow">
            <a:avLst/>
          </a:prstGeom>
          <a:solidFill>
            <a:srgbClr val="7FB3D5"/>
          </a:solidFill>
          <a:ln w="0">
            <a:solidFill>
              <a:srgbClr val="7FB3D5"/>
            </a:solidFill>
            <a:prstDash val="solid"/>
          </a:ln>
        </p:spPr>
      </p:sp>
      <p:sp>
        <p:nvSpPr>
          <p:cNvPr id="34" name="flow-arrow"/>
          <p:cNvSpPr>
            <a:spLocks noGrp="1"/>
          </p:cNvSpPr>
          <p:nvPr/>
        </p:nvSpPr>
        <p:spPr>
          <a:xfrm>
            <a:off x="7954645" y="2571750"/>
            <a:ext cx="476250" cy="419100"/>
          </a:xfrm>
          <a:prstGeom prst="rightArrow">
            <a:avLst/>
          </a:prstGeom>
          <a:solidFill>
            <a:srgbClr val="7FB3D5"/>
          </a:solidFill>
          <a:ln w="0">
            <a:solidFill>
              <a:srgbClr val="7FB3D5"/>
            </a:solidFill>
            <a:prstDash val="solid"/>
          </a:ln>
        </p:spPr>
      </p:sp>
      <p:sp>
        <p:nvSpPr>
          <p:cNvPr id="35" name="background-question"/>
          <p:cNvSpPr>
            <a:spLocks noGrp="1"/>
          </p:cNvSpPr>
          <p:nvPr/>
        </p:nvSpPr>
        <p:spPr>
          <a:xfrm>
            <a:off x="2286000" y="5105400"/>
            <a:ext cx="8143875" cy="685800"/>
          </a:xfrm>
          <a:prstGeom prst="rect">
            <a:avLst/>
          </a:prstGeom>
          <a:solidFill>
            <a:srgbClr val="123D8D"/>
          </a:solidFill>
          <a:ln w="0">
            <a:solidFill>
              <a:srgbClr val="123D8D"/>
            </a:solidFill>
            <a:prstDash val="solid"/>
          </a:ln>
        </p:spPr>
      </p:sp>
      <p:sp>
        <p:nvSpPr>
          <p:cNvPr id="36" name="research-gap"/>
          <p:cNvSpPr>
            <a:spLocks noGrp="1"/>
          </p:cNvSpPr>
          <p:nvPr/>
        </p:nvSpPr>
        <p:spPr>
          <a:xfrm>
            <a:off x="2524125" y="5267325"/>
            <a:ext cx="76676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研究缺口：能否用一个预训练模型适配新数据，并减少重复建模？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left-nav-bg"/>
          <p:cNvSpPr>
            <a:spLocks noGrp="1"/>
          </p:cNvSpPr>
          <p:nvPr/>
        </p:nvSpPr>
        <p:spPr>
          <a:xfrm>
            <a:off x="0" y="0"/>
            <a:ext cx="990600" cy="6858000"/>
          </a:xfrm>
          <a:prstGeom prst="rect">
            <a:avLst/>
          </a:prstGeom>
          <a:solidFill>
            <a:srgbClr val="123D8D"/>
          </a:solidFill>
          <a:ln w="0">
            <a:solidFill>
              <a:srgbClr val="123D8D"/>
            </a:solidFill>
            <a:prstDash val="solid"/>
          </a:ln>
        </p:spPr>
      </p:sp>
      <p:sp>
        <p:nvSpPr>
          <p:cNvPr id="2" name="nav-label"/>
          <p:cNvSpPr>
            <a:spLocks noGrp="1"/>
          </p:cNvSpPr>
          <p:nvPr/>
        </p:nvSpPr>
        <p:spPr>
          <a:xfrm>
            <a:off x="28575" y="2667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课题组文献汇报</a:t>
            </a:r>
          </a:p>
        </p:txBody>
      </p:sp>
      <p:sp>
        <p:nvSpPr>
          <p:cNvPr id="3" name="nav-0"/>
          <p:cNvSpPr>
            <a:spLocks noGrp="1"/>
          </p:cNvSpPr>
          <p:nvPr/>
        </p:nvSpPr>
        <p:spPr>
          <a:xfrm>
            <a:off x="57150" y="2095500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4" name="nav-text-0"/>
          <p:cNvSpPr>
            <a:spLocks noGrp="1"/>
          </p:cNvSpPr>
          <p:nvPr/>
        </p:nvSpPr>
        <p:spPr>
          <a:xfrm>
            <a:off x="85725" y="2181225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基本信息</a:t>
            </a:r>
          </a:p>
        </p:txBody>
      </p:sp>
      <p:sp>
        <p:nvSpPr>
          <p:cNvPr id="5" name="nav-1"/>
          <p:cNvSpPr>
            <a:spLocks noGrp="1"/>
          </p:cNvSpPr>
          <p:nvPr/>
        </p:nvSpPr>
        <p:spPr>
          <a:xfrm>
            <a:off x="57150" y="2562225"/>
            <a:ext cx="876300" cy="409575"/>
          </a:xfrm>
          <a:prstGeom prst="rect">
            <a:avLst/>
          </a:prstGeom>
          <a:solidFill>
            <a:srgbClr val="EEF7F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" name="nav-text-1"/>
          <p:cNvSpPr>
            <a:spLocks noGrp="1"/>
          </p:cNvSpPr>
          <p:nvPr/>
        </p:nvSpPr>
        <p:spPr>
          <a:xfrm>
            <a:off x="85725" y="2647950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123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23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研究背景</a:t>
            </a:r>
          </a:p>
        </p:txBody>
      </p:sp>
      <p:sp>
        <p:nvSpPr>
          <p:cNvPr id="7" name="nav-2"/>
          <p:cNvSpPr>
            <a:spLocks noGrp="1"/>
          </p:cNvSpPr>
          <p:nvPr/>
        </p:nvSpPr>
        <p:spPr>
          <a:xfrm>
            <a:off x="57150" y="3028950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8" name="nav-text-2"/>
          <p:cNvSpPr>
            <a:spLocks noGrp="1"/>
          </p:cNvSpPr>
          <p:nvPr/>
        </p:nvSpPr>
        <p:spPr>
          <a:xfrm>
            <a:off x="85725" y="3114675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研究思路</a:t>
            </a:r>
          </a:p>
        </p:txBody>
      </p:sp>
      <p:sp>
        <p:nvSpPr>
          <p:cNvPr id="9" name="nav-3"/>
          <p:cNvSpPr>
            <a:spLocks noGrp="1"/>
          </p:cNvSpPr>
          <p:nvPr/>
        </p:nvSpPr>
        <p:spPr>
          <a:xfrm>
            <a:off x="57150" y="3495675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10" name="nav-text-3"/>
          <p:cNvSpPr>
            <a:spLocks noGrp="1"/>
          </p:cNvSpPr>
          <p:nvPr/>
        </p:nvSpPr>
        <p:spPr>
          <a:xfrm>
            <a:off x="85725" y="3581400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研究结果</a:t>
            </a:r>
          </a:p>
        </p:txBody>
      </p:sp>
      <p:sp>
        <p:nvSpPr>
          <p:cNvPr id="11" name="nav-4"/>
          <p:cNvSpPr>
            <a:spLocks noGrp="1"/>
          </p:cNvSpPr>
          <p:nvPr/>
        </p:nvSpPr>
        <p:spPr>
          <a:xfrm>
            <a:off x="57150" y="3962400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12" name="nav-text-4"/>
          <p:cNvSpPr>
            <a:spLocks noGrp="1"/>
          </p:cNvSpPr>
          <p:nvPr/>
        </p:nvSpPr>
        <p:spPr>
          <a:xfrm>
            <a:off x="85725" y="4048125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结论与讨论</a:t>
            </a:r>
          </a:p>
        </p:txBody>
      </p:sp>
      <p:sp>
        <p:nvSpPr>
          <p:cNvPr id="13" name="nav-5"/>
          <p:cNvSpPr>
            <a:spLocks noGrp="1"/>
          </p:cNvSpPr>
          <p:nvPr/>
        </p:nvSpPr>
        <p:spPr>
          <a:xfrm>
            <a:off x="57150" y="4429125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14" name="nav-text-5"/>
          <p:cNvSpPr>
            <a:spLocks noGrp="1"/>
          </p:cNvSpPr>
          <p:nvPr/>
        </p:nvSpPr>
        <p:spPr>
          <a:xfrm>
            <a:off x="85725" y="4514850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创新与启发</a:t>
            </a:r>
          </a:p>
        </p:txBody>
      </p:sp>
      <p:sp>
        <p:nvSpPr>
          <p:cNvPr id="15" name="title-square"/>
          <p:cNvSpPr>
            <a:spLocks noGrp="1"/>
          </p:cNvSpPr>
          <p:nvPr/>
        </p:nvSpPr>
        <p:spPr>
          <a:xfrm>
            <a:off x="1162050" y="228600"/>
            <a:ext cx="114300" cy="190500"/>
          </a:xfrm>
          <a:prstGeom prst="rect">
            <a:avLst/>
          </a:prstGeom>
          <a:solidFill>
            <a:srgbClr val="123D8D"/>
          </a:solidFill>
          <a:ln w="0">
            <a:solidFill>
              <a:srgbClr val="123D8D"/>
            </a:solidFill>
            <a:prstDash val="solid"/>
          </a:ln>
        </p:spPr>
      </p:sp>
      <p:sp>
        <p:nvSpPr>
          <p:cNvPr id="16" name="slide-title"/>
          <p:cNvSpPr>
            <a:spLocks noGrp="1"/>
          </p:cNvSpPr>
          <p:nvPr/>
        </p:nvSpPr>
        <p:spPr>
          <a:xfrm>
            <a:off x="1352550" y="161925"/>
            <a:ext cx="8334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buNone/>
              <a:defRPr sz="2025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2.2  核心问题：细胞能否像语言一样被生成式模型学习？</a:t>
            </a:r>
          </a:p>
        </p:txBody>
      </p:sp>
      <p:sp>
        <p:nvSpPr>
          <p:cNvPr id="17" name="title-rule"/>
          <p:cNvSpPr>
            <a:spLocks noGrp="1"/>
          </p:cNvSpPr>
          <p:nvPr/>
        </p:nvSpPr>
        <p:spPr>
          <a:xfrm>
            <a:off x="1162050" y="590550"/>
            <a:ext cx="8715375" cy="19050"/>
          </a:xfrm>
          <a:prstGeom prst="rect">
            <a:avLst/>
          </a:prstGeom>
          <a:solidFill>
            <a:srgbClr val="123D8D"/>
          </a:solidFill>
          <a:ln w="0">
            <a:solidFill>
              <a:srgbClr val="123D8D"/>
            </a:solidFill>
            <a:prstDash val="solid"/>
          </a:ln>
        </p:spPr>
      </p:sp>
      <p:pic>
        <p:nvPicPr>
          <p:cNvPr id="49" name="图片 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0791" y="66675"/>
            <a:ext cx="1608794" cy="514350"/>
          </a:xfrm>
          <a:prstGeom prst="rect">
            <a:avLst/>
          </a:prstGeom>
        </p:spPr>
      </p:pic>
      <p:sp>
        <p:nvSpPr>
          <p:cNvPr id="19" name="page-number"/>
          <p:cNvSpPr>
            <a:spLocks noGrp="1"/>
          </p:cNvSpPr>
          <p:nvPr/>
        </p:nvSpPr>
        <p:spPr>
          <a:xfrm>
            <a:off x="11382375" y="64865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0">
                <a:solidFill>
                  <a:srgbClr val="7A889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7A889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05</a:t>
            </a:r>
          </a:p>
        </p:txBody>
      </p:sp>
      <p:sp>
        <p:nvSpPr>
          <p:cNvPr id="20" name="citation-footer"/>
          <p:cNvSpPr>
            <a:spLocks noGrp="1"/>
          </p:cNvSpPr>
          <p:nvPr/>
        </p:nvSpPr>
        <p:spPr>
          <a:xfrm>
            <a:off x="1162050" y="64579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7A889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>
                <a:solidFill>
                  <a:srgbClr val="7A889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Cui et al. | Nature Methods 21, 1470–1480 (2024)</a:t>
            </a:r>
          </a:p>
        </p:txBody>
      </p:sp>
      <p:sp>
        <p:nvSpPr>
          <p:cNvPr id="21" name="analogy-left"/>
          <p:cNvSpPr>
            <a:spLocks noGrp="1"/>
          </p:cNvSpPr>
          <p:nvPr/>
        </p:nvSpPr>
        <p:spPr>
          <a:xfrm>
            <a:off x="1933575" y="1143000"/>
            <a:ext cx="4095750" cy="4095750"/>
          </a:xfrm>
          <a:prstGeom prst="rect">
            <a:avLst/>
          </a:prstGeom>
          <a:solidFill>
            <a:srgbClr val="EEF7FD"/>
          </a:solidFill>
          <a:ln w="9525">
            <a:solidFill>
              <a:srgbClr val="BCD5E5"/>
            </a:solidFill>
            <a:prstDash val="solid"/>
          </a:ln>
        </p:spPr>
      </p:sp>
      <p:sp>
        <p:nvSpPr>
          <p:cNvPr id="22" name="language-title"/>
          <p:cNvSpPr>
            <a:spLocks noGrp="1"/>
          </p:cNvSpPr>
          <p:nvPr/>
        </p:nvSpPr>
        <p:spPr>
          <a:xfrm>
            <a:off x="3000375" y="1409700"/>
            <a:ext cx="195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950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自然语言</a:t>
            </a:r>
          </a:p>
        </p:txBody>
      </p:sp>
      <p:sp>
        <p:nvSpPr>
          <p:cNvPr id="23" name="language-analogy"/>
          <p:cNvSpPr>
            <a:spLocks noGrp="1"/>
          </p:cNvSpPr>
          <p:nvPr/>
        </p:nvSpPr>
        <p:spPr>
          <a:xfrm>
            <a:off x="2428875" y="2228850"/>
            <a:ext cx="31432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30000"/>
              </a:lnSpc>
              <a:buNone/>
              <a:defRPr sz="187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文本  =  单词序列</a:t>
            </a:r>
          </a:p>
          <a:p>
            <a:pPr algn="l">
              <a:lnSpc>
                <a:spcPct val="130000"/>
              </a:lnSpc>
              <a:buNone/>
              <a:defRPr sz="187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语义  =  上下文关系</a:t>
            </a:r>
          </a:p>
          <a:p>
            <a:pPr algn="l">
              <a:lnSpc>
                <a:spcPct val="130000"/>
              </a:lnSpc>
              <a:buNone/>
              <a:defRPr sz="187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  =  生成 / 分类 / 推理</a:t>
            </a:r>
          </a:p>
        </p:txBody>
      </p:sp>
      <p:sp>
        <p:nvSpPr>
          <p:cNvPr id="24" name="analogy-right"/>
          <p:cNvSpPr>
            <a:spLocks noGrp="1"/>
          </p:cNvSpPr>
          <p:nvPr/>
        </p:nvSpPr>
        <p:spPr>
          <a:xfrm>
            <a:off x="6429375" y="1143000"/>
            <a:ext cx="4953000" cy="4095750"/>
          </a:xfrm>
          <a:prstGeom prst="rect">
            <a:avLst/>
          </a:prstGeom>
          <a:solidFill>
            <a:srgbClr val="DCEEFF"/>
          </a:solidFill>
          <a:ln w="9525">
            <a:solidFill>
              <a:srgbClr val="BCD5E5"/>
            </a:solidFill>
            <a:prstDash val="solid"/>
          </a:ln>
        </p:spPr>
      </p:sp>
      <p:sp>
        <p:nvSpPr>
          <p:cNvPr id="25" name="cell-title"/>
          <p:cNvSpPr>
            <a:spLocks noGrp="1"/>
          </p:cNvSpPr>
          <p:nvPr/>
        </p:nvSpPr>
        <p:spPr>
          <a:xfrm>
            <a:off x="7858125" y="1409700"/>
            <a:ext cx="209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950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单细胞表达谱</a:t>
            </a:r>
          </a:p>
        </p:txBody>
      </p:sp>
      <p:sp>
        <p:nvSpPr>
          <p:cNvPr id="26" name="cell-analogy"/>
          <p:cNvSpPr>
            <a:spLocks noGrp="1"/>
          </p:cNvSpPr>
          <p:nvPr/>
        </p:nvSpPr>
        <p:spPr>
          <a:xfrm>
            <a:off x="6833870" y="2143125"/>
            <a:ext cx="4330065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30000"/>
              </a:lnSpc>
              <a:buNone/>
              <a:defRPr sz="18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细胞  =  基因及其表达值</a:t>
            </a:r>
          </a:p>
          <a:p>
            <a:pPr algn="l">
              <a:lnSpc>
                <a:spcPct val="130000"/>
              </a:lnSpc>
              <a:buNone/>
              <a:defRPr sz="18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  =  基因—基因 / 细胞—状态关系</a:t>
            </a:r>
          </a:p>
          <a:p>
            <a:pPr algn="l">
              <a:lnSpc>
                <a:spcPct val="130000"/>
              </a:lnSpc>
              <a:buNone/>
              <a:defRPr sz="18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  =  注释 / 整合 / 扰动 / 网络</a:t>
            </a:r>
          </a:p>
        </p:txBody>
      </p:sp>
      <p:sp>
        <p:nvSpPr>
          <p:cNvPr id="27" name="flow-arrow"/>
          <p:cNvSpPr>
            <a:spLocks noGrp="1"/>
          </p:cNvSpPr>
          <p:nvPr/>
        </p:nvSpPr>
        <p:spPr>
          <a:xfrm>
            <a:off x="5905500" y="2762250"/>
            <a:ext cx="619125" cy="495300"/>
          </a:xfrm>
          <a:prstGeom prst="rightArrow">
            <a:avLst/>
          </a:prstGeom>
          <a:solidFill>
            <a:srgbClr val="C7333E"/>
          </a:solidFill>
          <a:ln w="0">
            <a:solidFill>
              <a:srgbClr val="C7333E"/>
            </a:solidFill>
            <a:prstDash val="solid"/>
          </a:ln>
        </p:spPr>
      </p:sp>
      <p:sp>
        <p:nvSpPr>
          <p:cNvPr id="28" name="challenge-label"/>
          <p:cNvSpPr>
            <a:spLocks noGrp="1"/>
          </p:cNvSpPr>
          <p:nvPr/>
        </p:nvSpPr>
        <p:spPr>
          <a:xfrm>
            <a:off x="1952625" y="5524500"/>
            <a:ext cx="114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1">
                <a:solidFill>
                  <a:srgbClr val="C733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C733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关键挑战</a:t>
            </a:r>
          </a:p>
        </p:txBody>
      </p:sp>
      <p:sp>
        <p:nvSpPr>
          <p:cNvPr id="29" name="challenges"/>
          <p:cNvSpPr>
            <a:spLocks noGrp="1"/>
          </p:cNvSpPr>
          <p:nvPr/>
        </p:nvSpPr>
        <p:spPr>
          <a:xfrm>
            <a:off x="3190875" y="5486400"/>
            <a:ext cx="7905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表达矩阵稀疏且非天然序列 · 批次/模态/条件异质 · 生物学解释不能只停留在预测精度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left-nav-bg"/>
          <p:cNvSpPr>
            <a:spLocks noGrp="1"/>
          </p:cNvSpPr>
          <p:nvPr/>
        </p:nvSpPr>
        <p:spPr>
          <a:xfrm>
            <a:off x="0" y="0"/>
            <a:ext cx="990600" cy="6858000"/>
          </a:xfrm>
          <a:prstGeom prst="rect">
            <a:avLst/>
          </a:prstGeom>
          <a:solidFill>
            <a:srgbClr val="123D8D"/>
          </a:solidFill>
          <a:ln w="0">
            <a:solidFill>
              <a:srgbClr val="123D8D"/>
            </a:solidFill>
            <a:prstDash val="solid"/>
          </a:ln>
        </p:spPr>
      </p:sp>
      <p:sp>
        <p:nvSpPr>
          <p:cNvPr id="2" name="nav-label"/>
          <p:cNvSpPr>
            <a:spLocks noGrp="1"/>
          </p:cNvSpPr>
          <p:nvPr/>
        </p:nvSpPr>
        <p:spPr>
          <a:xfrm>
            <a:off x="28575" y="2667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课题组文献汇报</a:t>
            </a:r>
          </a:p>
        </p:txBody>
      </p:sp>
      <p:sp>
        <p:nvSpPr>
          <p:cNvPr id="3" name="nav-0"/>
          <p:cNvSpPr>
            <a:spLocks noGrp="1"/>
          </p:cNvSpPr>
          <p:nvPr/>
        </p:nvSpPr>
        <p:spPr>
          <a:xfrm>
            <a:off x="57150" y="2095500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4" name="nav-text-0"/>
          <p:cNvSpPr>
            <a:spLocks noGrp="1"/>
          </p:cNvSpPr>
          <p:nvPr/>
        </p:nvSpPr>
        <p:spPr>
          <a:xfrm>
            <a:off x="85725" y="2181225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基本信息</a:t>
            </a:r>
          </a:p>
        </p:txBody>
      </p:sp>
      <p:sp>
        <p:nvSpPr>
          <p:cNvPr id="5" name="nav-1"/>
          <p:cNvSpPr>
            <a:spLocks noGrp="1"/>
          </p:cNvSpPr>
          <p:nvPr/>
        </p:nvSpPr>
        <p:spPr>
          <a:xfrm>
            <a:off x="57150" y="2562225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6" name="nav-text-1"/>
          <p:cNvSpPr>
            <a:spLocks noGrp="1"/>
          </p:cNvSpPr>
          <p:nvPr/>
        </p:nvSpPr>
        <p:spPr>
          <a:xfrm>
            <a:off x="85725" y="2647950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研究背景</a:t>
            </a:r>
          </a:p>
        </p:txBody>
      </p:sp>
      <p:sp>
        <p:nvSpPr>
          <p:cNvPr id="7" name="nav-2"/>
          <p:cNvSpPr>
            <a:spLocks noGrp="1"/>
          </p:cNvSpPr>
          <p:nvPr/>
        </p:nvSpPr>
        <p:spPr>
          <a:xfrm>
            <a:off x="57150" y="3028950"/>
            <a:ext cx="876300" cy="409575"/>
          </a:xfrm>
          <a:prstGeom prst="rect">
            <a:avLst/>
          </a:prstGeom>
          <a:solidFill>
            <a:srgbClr val="EEF7F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" name="nav-text-2"/>
          <p:cNvSpPr>
            <a:spLocks noGrp="1"/>
          </p:cNvSpPr>
          <p:nvPr/>
        </p:nvSpPr>
        <p:spPr>
          <a:xfrm>
            <a:off x="85725" y="3114675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123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23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研究思路</a:t>
            </a:r>
          </a:p>
        </p:txBody>
      </p:sp>
      <p:sp>
        <p:nvSpPr>
          <p:cNvPr id="9" name="nav-3"/>
          <p:cNvSpPr>
            <a:spLocks noGrp="1"/>
          </p:cNvSpPr>
          <p:nvPr/>
        </p:nvSpPr>
        <p:spPr>
          <a:xfrm>
            <a:off x="57150" y="3495675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10" name="nav-text-3"/>
          <p:cNvSpPr>
            <a:spLocks noGrp="1"/>
          </p:cNvSpPr>
          <p:nvPr/>
        </p:nvSpPr>
        <p:spPr>
          <a:xfrm>
            <a:off x="85725" y="3581400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研究结果</a:t>
            </a:r>
          </a:p>
        </p:txBody>
      </p:sp>
      <p:sp>
        <p:nvSpPr>
          <p:cNvPr id="11" name="nav-4"/>
          <p:cNvSpPr>
            <a:spLocks noGrp="1"/>
          </p:cNvSpPr>
          <p:nvPr/>
        </p:nvSpPr>
        <p:spPr>
          <a:xfrm>
            <a:off x="57150" y="3962400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12" name="nav-text-4"/>
          <p:cNvSpPr>
            <a:spLocks noGrp="1"/>
          </p:cNvSpPr>
          <p:nvPr/>
        </p:nvSpPr>
        <p:spPr>
          <a:xfrm>
            <a:off x="85725" y="4048125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结论与讨论</a:t>
            </a:r>
          </a:p>
        </p:txBody>
      </p:sp>
      <p:sp>
        <p:nvSpPr>
          <p:cNvPr id="13" name="nav-5"/>
          <p:cNvSpPr>
            <a:spLocks noGrp="1"/>
          </p:cNvSpPr>
          <p:nvPr/>
        </p:nvSpPr>
        <p:spPr>
          <a:xfrm>
            <a:off x="57150" y="4429125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14" name="nav-text-5"/>
          <p:cNvSpPr>
            <a:spLocks noGrp="1"/>
          </p:cNvSpPr>
          <p:nvPr/>
        </p:nvSpPr>
        <p:spPr>
          <a:xfrm>
            <a:off x="85725" y="4514850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创新与启发</a:t>
            </a:r>
          </a:p>
        </p:txBody>
      </p:sp>
      <p:sp>
        <p:nvSpPr>
          <p:cNvPr id="15" name="title-square"/>
          <p:cNvSpPr>
            <a:spLocks noGrp="1"/>
          </p:cNvSpPr>
          <p:nvPr/>
        </p:nvSpPr>
        <p:spPr>
          <a:xfrm>
            <a:off x="1162050" y="228600"/>
            <a:ext cx="114300" cy="190500"/>
          </a:xfrm>
          <a:prstGeom prst="rect">
            <a:avLst/>
          </a:prstGeom>
          <a:solidFill>
            <a:srgbClr val="123D8D"/>
          </a:solidFill>
          <a:ln w="0">
            <a:solidFill>
              <a:srgbClr val="123D8D"/>
            </a:solidFill>
            <a:prstDash val="solid"/>
          </a:ln>
        </p:spPr>
      </p:sp>
      <p:sp>
        <p:nvSpPr>
          <p:cNvPr id="16" name="slide-title"/>
          <p:cNvSpPr>
            <a:spLocks noGrp="1"/>
          </p:cNvSpPr>
          <p:nvPr/>
        </p:nvSpPr>
        <p:spPr>
          <a:xfrm>
            <a:off x="1352550" y="161925"/>
            <a:ext cx="8334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buNone/>
              <a:defRPr sz="2025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 研究思路：预训练获得通用表示，再迁移到多类下游任务</a:t>
            </a:r>
          </a:p>
        </p:txBody>
      </p:sp>
      <p:sp>
        <p:nvSpPr>
          <p:cNvPr id="17" name="title-rule"/>
          <p:cNvSpPr>
            <a:spLocks noGrp="1"/>
          </p:cNvSpPr>
          <p:nvPr/>
        </p:nvSpPr>
        <p:spPr>
          <a:xfrm>
            <a:off x="1162050" y="590550"/>
            <a:ext cx="8715375" cy="19050"/>
          </a:xfrm>
          <a:prstGeom prst="rect">
            <a:avLst/>
          </a:prstGeom>
          <a:solidFill>
            <a:srgbClr val="123D8D"/>
          </a:solidFill>
          <a:ln w="0">
            <a:solidFill>
              <a:srgbClr val="123D8D"/>
            </a:solidFill>
            <a:prstDash val="solid"/>
          </a:ln>
        </p:spPr>
      </p:sp>
      <p:pic>
        <p:nvPicPr>
          <p:cNvPr id="76" name="图片 7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0791" y="66675"/>
            <a:ext cx="1608794" cy="514350"/>
          </a:xfrm>
          <a:prstGeom prst="rect">
            <a:avLst/>
          </a:prstGeom>
        </p:spPr>
      </p:pic>
      <p:sp>
        <p:nvSpPr>
          <p:cNvPr id="19" name="page-number"/>
          <p:cNvSpPr>
            <a:spLocks noGrp="1"/>
          </p:cNvSpPr>
          <p:nvPr/>
        </p:nvSpPr>
        <p:spPr>
          <a:xfrm>
            <a:off x="11382375" y="64865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0">
                <a:solidFill>
                  <a:srgbClr val="7A889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7A889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06</a:t>
            </a:r>
          </a:p>
        </p:txBody>
      </p:sp>
      <p:sp>
        <p:nvSpPr>
          <p:cNvPr id="20" name="citation-footer"/>
          <p:cNvSpPr>
            <a:spLocks noGrp="1"/>
          </p:cNvSpPr>
          <p:nvPr/>
        </p:nvSpPr>
        <p:spPr>
          <a:xfrm>
            <a:off x="1162050" y="64579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7A889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>
                <a:solidFill>
                  <a:srgbClr val="7A889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Cui et al. | Nature Methods 21, 1470–1480 (2024)</a:t>
            </a:r>
          </a:p>
        </p:txBody>
      </p:sp>
      <p:sp>
        <p:nvSpPr>
          <p:cNvPr id="21" name="flow-arrow"/>
          <p:cNvSpPr>
            <a:spLocks noGrp="1"/>
          </p:cNvSpPr>
          <p:nvPr/>
        </p:nvSpPr>
        <p:spPr>
          <a:xfrm>
            <a:off x="3214370" y="2266950"/>
            <a:ext cx="361950" cy="361950"/>
          </a:xfrm>
          <a:prstGeom prst="rightArrow">
            <a:avLst/>
          </a:prstGeom>
          <a:solidFill>
            <a:srgbClr val="6FA9CF"/>
          </a:solidFill>
          <a:ln w="0">
            <a:solidFill>
              <a:srgbClr val="6FA9CF"/>
            </a:solidFill>
            <a:prstDash val="solid"/>
          </a:ln>
        </p:spPr>
      </p:sp>
      <p:sp>
        <p:nvSpPr>
          <p:cNvPr id="22" name="flow-arrow"/>
          <p:cNvSpPr>
            <a:spLocks noGrp="1"/>
          </p:cNvSpPr>
          <p:nvPr/>
        </p:nvSpPr>
        <p:spPr>
          <a:xfrm>
            <a:off x="5452745" y="2266950"/>
            <a:ext cx="361950" cy="361950"/>
          </a:xfrm>
          <a:prstGeom prst="rightArrow">
            <a:avLst/>
          </a:prstGeom>
          <a:solidFill>
            <a:srgbClr val="6FA9CF"/>
          </a:solidFill>
          <a:ln w="0">
            <a:solidFill>
              <a:srgbClr val="6FA9CF"/>
            </a:solidFill>
            <a:prstDash val="solid"/>
          </a:ln>
        </p:spPr>
      </p:sp>
      <p:sp>
        <p:nvSpPr>
          <p:cNvPr id="23" name="flow-arrow"/>
          <p:cNvSpPr>
            <a:spLocks noGrp="1"/>
          </p:cNvSpPr>
          <p:nvPr/>
        </p:nvSpPr>
        <p:spPr>
          <a:xfrm>
            <a:off x="7643495" y="2266950"/>
            <a:ext cx="361950" cy="361950"/>
          </a:xfrm>
          <a:prstGeom prst="rightArrow">
            <a:avLst/>
          </a:prstGeom>
          <a:solidFill>
            <a:srgbClr val="6FA9CF"/>
          </a:solidFill>
          <a:ln w="0">
            <a:solidFill>
              <a:srgbClr val="6FA9CF"/>
            </a:solidFill>
            <a:prstDash val="solid"/>
          </a:ln>
        </p:spPr>
      </p:sp>
      <p:sp>
        <p:nvSpPr>
          <p:cNvPr id="24" name="flow-arrow"/>
          <p:cNvSpPr>
            <a:spLocks noGrp="1"/>
          </p:cNvSpPr>
          <p:nvPr/>
        </p:nvSpPr>
        <p:spPr>
          <a:xfrm>
            <a:off x="9881870" y="2266950"/>
            <a:ext cx="361950" cy="361950"/>
          </a:xfrm>
          <a:prstGeom prst="rightArrow">
            <a:avLst/>
          </a:prstGeom>
          <a:solidFill>
            <a:srgbClr val="6FA9CF"/>
          </a:solidFill>
          <a:ln w="0">
            <a:solidFill>
              <a:srgbClr val="6FA9CF"/>
            </a:solidFill>
            <a:prstDash val="solid"/>
          </a:ln>
        </p:spPr>
      </p:sp>
      <p:sp>
        <p:nvSpPr>
          <p:cNvPr id="25" name="route-node-0"/>
          <p:cNvSpPr>
            <a:spLocks noGrp="1"/>
          </p:cNvSpPr>
          <p:nvPr/>
        </p:nvSpPr>
        <p:spPr>
          <a:xfrm>
            <a:off x="1571625" y="1619250"/>
            <a:ext cx="1619250" cy="1714500"/>
          </a:xfrm>
          <a:prstGeom prst="rect">
            <a:avLst/>
          </a:prstGeom>
          <a:solidFill>
            <a:srgbClr val="DCEEFF"/>
          </a:solidFill>
          <a:ln w="14288">
            <a:solidFill>
              <a:srgbClr val="AFCFE2"/>
            </a:solidFill>
            <a:prstDash val="solid"/>
          </a:ln>
        </p:spPr>
      </p:sp>
      <p:sp>
        <p:nvSpPr>
          <p:cNvPr id="26" name="route-no-0"/>
          <p:cNvSpPr>
            <a:spLocks noGrp="1"/>
          </p:cNvSpPr>
          <p:nvPr/>
        </p:nvSpPr>
        <p:spPr>
          <a:xfrm>
            <a:off x="2085975" y="1790700"/>
            <a:ext cx="590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100" b="1">
                <a:solidFill>
                  <a:srgbClr val="123D8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>
                <a:solidFill>
                  <a:srgbClr val="123D8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</a:t>
            </a:r>
          </a:p>
        </p:txBody>
      </p:sp>
      <p:sp>
        <p:nvSpPr>
          <p:cNvPr id="27" name="route-title-0"/>
          <p:cNvSpPr>
            <a:spLocks noGrp="1"/>
          </p:cNvSpPr>
          <p:nvPr/>
        </p:nvSpPr>
        <p:spPr>
          <a:xfrm>
            <a:off x="1685925" y="2324100"/>
            <a:ext cx="1390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650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细胞图谱</a:t>
            </a:r>
          </a:p>
        </p:txBody>
      </p:sp>
      <p:sp>
        <p:nvSpPr>
          <p:cNvPr id="28" name="route-desc-0"/>
          <p:cNvSpPr>
            <a:spLocks noGrp="1"/>
          </p:cNvSpPr>
          <p:nvPr/>
        </p:nvSpPr>
        <p:spPr>
          <a:xfrm>
            <a:off x="1724025" y="2819400"/>
            <a:ext cx="13144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1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33M 正常人类细胞</a:t>
            </a:r>
          </a:p>
        </p:txBody>
      </p:sp>
      <p:sp>
        <p:nvSpPr>
          <p:cNvPr id="29" name="route-node-1"/>
          <p:cNvSpPr>
            <a:spLocks noGrp="1"/>
          </p:cNvSpPr>
          <p:nvPr/>
        </p:nvSpPr>
        <p:spPr>
          <a:xfrm>
            <a:off x="3619500" y="1619250"/>
            <a:ext cx="1809750" cy="1714500"/>
          </a:xfrm>
          <a:prstGeom prst="rect">
            <a:avLst/>
          </a:prstGeom>
          <a:solidFill>
            <a:srgbClr val="DCEEFF"/>
          </a:solidFill>
          <a:ln w="14288">
            <a:solidFill>
              <a:srgbClr val="AFCFE2"/>
            </a:solidFill>
            <a:prstDash val="solid"/>
          </a:ln>
        </p:spPr>
      </p:sp>
      <p:sp>
        <p:nvSpPr>
          <p:cNvPr id="30" name="route-no-1"/>
          <p:cNvSpPr>
            <a:spLocks noGrp="1"/>
          </p:cNvSpPr>
          <p:nvPr/>
        </p:nvSpPr>
        <p:spPr>
          <a:xfrm>
            <a:off x="4133850" y="1790700"/>
            <a:ext cx="781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100" b="1">
                <a:solidFill>
                  <a:srgbClr val="123D8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>
                <a:solidFill>
                  <a:srgbClr val="123D8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</a:p>
        </p:txBody>
      </p:sp>
      <p:sp>
        <p:nvSpPr>
          <p:cNvPr id="31" name="route-title-1"/>
          <p:cNvSpPr>
            <a:spLocks noGrp="1"/>
          </p:cNvSpPr>
          <p:nvPr/>
        </p:nvSpPr>
        <p:spPr>
          <a:xfrm>
            <a:off x="3733800" y="2324100"/>
            <a:ext cx="1581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650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生成式预训练</a:t>
            </a:r>
          </a:p>
        </p:txBody>
      </p:sp>
      <p:sp>
        <p:nvSpPr>
          <p:cNvPr id="32" name="route-desc-1"/>
          <p:cNvSpPr>
            <a:spLocks noGrp="1"/>
          </p:cNvSpPr>
          <p:nvPr/>
        </p:nvSpPr>
        <p:spPr>
          <a:xfrm>
            <a:off x="3771900" y="2819400"/>
            <a:ext cx="1504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1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基因/表达/条件嵌入</a:t>
            </a:r>
          </a:p>
        </p:txBody>
      </p:sp>
      <p:sp>
        <p:nvSpPr>
          <p:cNvPr id="33" name="route-node-2"/>
          <p:cNvSpPr>
            <a:spLocks noGrp="1"/>
          </p:cNvSpPr>
          <p:nvPr/>
        </p:nvSpPr>
        <p:spPr>
          <a:xfrm>
            <a:off x="5857875" y="1619250"/>
            <a:ext cx="1762125" cy="1714500"/>
          </a:xfrm>
          <a:prstGeom prst="rect">
            <a:avLst/>
          </a:prstGeom>
          <a:solidFill>
            <a:srgbClr val="123D8D"/>
          </a:solidFill>
          <a:ln w="14288">
            <a:solidFill>
              <a:srgbClr val="123D8D"/>
            </a:solidFill>
            <a:prstDash val="solid"/>
          </a:ln>
        </p:spPr>
      </p:sp>
      <p:sp>
        <p:nvSpPr>
          <p:cNvPr id="34" name="route-no-2"/>
          <p:cNvSpPr>
            <a:spLocks noGrp="1"/>
          </p:cNvSpPr>
          <p:nvPr/>
        </p:nvSpPr>
        <p:spPr>
          <a:xfrm>
            <a:off x="6372225" y="1790700"/>
            <a:ext cx="7334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</a:t>
            </a:r>
          </a:p>
        </p:txBody>
      </p:sp>
      <p:sp>
        <p:nvSpPr>
          <p:cNvPr id="35" name="route-title-2"/>
          <p:cNvSpPr>
            <a:spLocks noGrp="1"/>
          </p:cNvSpPr>
          <p:nvPr/>
        </p:nvSpPr>
        <p:spPr>
          <a:xfrm>
            <a:off x="5972175" y="2324100"/>
            <a:ext cx="15335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scGPT 表示</a:t>
            </a:r>
          </a:p>
        </p:txBody>
      </p:sp>
      <p:sp>
        <p:nvSpPr>
          <p:cNvPr id="36" name="route-desc-2"/>
          <p:cNvSpPr>
            <a:spLocks noGrp="1"/>
          </p:cNvSpPr>
          <p:nvPr/>
        </p:nvSpPr>
        <p:spPr>
          <a:xfrm>
            <a:off x="6010275" y="2819400"/>
            <a:ext cx="14573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1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细胞嵌入 + 基因嵌入</a:t>
            </a:r>
          </a:p>
        </p:txBody>
      </p:sp>
      <p:sp>
        <p:nvSpPr>
          <p:cNvPr id="37" name="route-node-3"/>
          <p:cNvSpPr>
            <a:spLocks noGrp="1"/>
          </p:cNvSpPr>
          <p:nvPr/>
        </p:nvSpPr>
        <p:spPr>
          <a:xfrm>
            <a:off x="8048625" y="1619250"/>
            <a:ext cx="1809750" cy="1714500"/>
          </a:xfrm>
          <a:prstGeom prst="rect">
            <a:avLst/>
          </a:prstGeom>
          <a:solidFill>
            <a:srgbClr val="DCEEFF"/>
          </a:solidFill>
          <a:ln w="14288">
            <a:solidFill>
              <a:srgbClr val="AFCFE2"/>
            </a:solidFill>
            <a:prstDash val="solid"/>
          </a:ln>
        </p:spPr>
      </p:sp>
      <p:sp>
        <p:nvSpPr>
          <p:cNvPr id="38" name="route-no-3"/>
          <p:cNvSpPr>
            <a:spLocks noGrp="1"/>
          </p:cNvSpPr>
          <p:nvPr/>
        </p:nvSpPr>
        <p:spPr>
          <a:xfrm>
            <a:off x="8562975" y="1790700"/>
            <a:ext cx="781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100" b="1">
                <a:solidFill>
                  <a:srgbClr val="123D8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>
                <a:solidFill>
                  <a:srgbClr val="123D8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04</a:t>
            </a:r>
          </a:p>
        </p:txBody>
      </p:sp>
      <p:sp>
        <p:nvSpPr>
          <p:cNvPr id="39" name="route-title-3"/>
          <p:cNvSpPr>
            <a:spLocks noGrp="1"/>
          </p:cNvSpPr>
          <p:nvPr/>
        </p:nvSpPr>
        <p:spPr>
          <a:xfrm>
            <a:off x="8162925" y="2324100"/>
            <a:ext cx="1581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650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任务适配</a:t>
            </a:r>
          </a:p>
        </p:txBody>
      </p:sp>
      <p:sp>
        <p:nvSpPr>
          <p:cNvPr id="40" name="route-desc-3"/>
          <p:cNvSpPr>
            <a:spLocks noGrp="1"/>
          </p:cNvSpPr>
          <p:nvPr/>
        </p:nvSpPr>
        <p:spPr>
          <a:xfrm>
            <a:off x="8201025" y="2819400"/>
            <a:ext cx="1504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1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微调或零样本使用</a:t>
            </a:r>
          </a:p>
        </p:txBody>
      </p:sp>
      <p:sp>
        <p:nvSpPr>
          <p:cNvPr id="41" name="route-node-4"/>
          <p:cNvSpPr>
            <a:spLocks noGrp="1"/>
          </p:cNvSpPr>
          <p:nvPr/>
        </p:nvSpPr>
        <p:spPr>
          <a:xfrm>
            <a:off x="10287000" y="1619250"/>
            <a:ext cx="1571625" cy="1714500"/>
          </a:xfrm>
          <a:prstGeom prst="rect">
            <a:avLst/>
          </a:prstGeom>
          <a:solidFill>
            <a:srgbClr val="DCEEFF"/>
          </a:solidFill>
          <a:ln w="14288">
            <a:solidFill>
              <a:srgbClr val="AFCFE2"/>
            </a:solidFill>
            <a:prstDash val="solid"/>
          </a:ln>
        </p:spPr>
      </p:sp>
      <p:sp>
        <p:nvSpPr>
          <p:cNvPr id="42" name="route-no-4"/>
          <p:cNvSpPr>
            <a:spLocks noGrp="1"/>
          </p:cNvSpPr>
          <p:nvPr/>
        </p:nvSpPr>
        <p:spPr>
          <a:xfrm>
            <a:off x="10801350" y="1790700"/>
            <a:ext cx="5429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100" b="1">
                <a:solidFill>
                  <a:srgbClr val="123D8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>
                <a:solidFill>
                  <a:srgbClr val="123D8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05</a:t>
            </a:r>
          </a:p>
        </p:txBody>
      </p:sp>
      <p:sp>
        <p:nvSpPr>
          <p:cNvPr id="43" name="route-title-4"/>
          <p:cNvSpPr>
            <a:spLocks noGrp="1"/>
          </p:cNvSpPr>
          <p:nvPr/>
        </p:nvSpPr>
        <p:spPr>
          <a:xfrm>
            <a:off x="10401300" y="2324100"/>
            <a:ext cx="13430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650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生物结论</a:t>
            </a:r>
          </a:p>
        </p:txBody>
      </p:sp>
      <p:sp>
        <p:nvSpPr>
          <p:cNvPr id="44" name="route-desc-4"/>
          <p:cNvSpPr>
            <a:spLocks noGrp="1"/>
          </p:cNvSpPr>
          <p:nvPr/>
        </p:nvSpPr>
        <p:spPr>
          <a:xfrm>
            <a:off x="10439400" y="2819400"/>
            <a:ext cx="12668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1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预测 + 网络解释</a:t>
            </a:r>
          </a:p>
        </p:txBody>
      </p:sp>
      <p:sp>
        <p:nvSpPr>
          <p:cNvPr id="45" name="task-0"/>
          <p:cNvSpPr>
            <a:spLocks noGrp="1"/>
          </p:cNvSpPr>
          <p:nvPr/>
        </p:nvSpPr>
        <p:spPr>
          <a:xfrm>
            <a:off x="1809750" y="4267200"/>
            <a:ext cx="1524000" cy="590550"/>
          </a:xfrm>
          <a:prstGeom prst="rect">
            <a:avLst/>
          </a:prstGeom>
          <a:solidFill>
            <a:srgbClr val="EEF7FD"/>
          </a:solidFill>
          <a:ln w="9525">
            <a:solidFill>
              <a:srgbClr val="BCD5E5"/>
            </a:solidFill>
            <a:prstDash val="solid"/>
          </a:ln>
        </p:spPr>
      </p:sp>
      <p:sp>
        <p:nvSpPr>
          <p:cNvPr id="46" name="task-text-0"/>
          <p:cNvSpPr>
            <a:spLocks noGrp="1"/>
          </p:cNvSpPr>
          <p:nvPr/>
        </p:nvSpPr>
        <p:spPr>
          <a:xfrm>
            <a:off x="1885950" y="4391025"/>
            <a:ext cx="1371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23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23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细胞注释</a:t>
            </a:r>
          </a:p>
        </p:txBody>
      </p:sp>
      <p:sp>
        <p:nvSpPr>
          <p:cNvPr id="47" name="task-1"/>
          <p:cNvSpPr>
            <a:spLocks noGrp="1"/>
          </p:cNvSpPr>
          <p:nvPr/>
        </p:nvSpPr>
        <p:spPr>
          <a:xfrm>
            <a:off x="3762375" y="4267200"/>
            <a:ext cx="1524000" cy="590550"/>
          </a:xfrm>
          <a:prstGeom prst="rect">
            <a:avLst/>
          </a:prstGeom>
          <a:solidFill>
            <a:srgbClr val="FBE9EB"/>
          </a:solidFill>
          <a:ln w="9525">
            <a:solidFill>
              <a:srgbClr val="E6AAB0"/>
            </a:solidFill>
            <a:prstDash val="solid"/>
          </a:ln>
        </p:spPr>
      </p:sp>
      <p:sp>
        <p:nvSpPr>
          <p:cNvPr id="48" name="task-text-1"/>
          <p:cNvSpPr>
            <a:spLocks noGrp="1"/>
          </p:cNvSpPr>
          <p:nvPr/>
        </p:nvSpPr>
        <p:spPr>
          <a:xfrm>
            <a:off x="3838575" y="4391025"/>
            <a:ext cx="1371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C733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C733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扰动预测</a:t>
            </a:r>
          </a:p>
        </p:txBody>
      </p:sp>
      <p:sp>
        <p:nvSpPr>
          <p:cNvPr id="49" name="task-2"/>
          <p:cNvSpPr>
            <a:spLocks noGrp="1"/>
          </p:cNvSpPr>
          <p:nvPr/>
        </p:nvSpPr>
        <p:spPr>
          <a:xfrm>
            <a:off x="5715000" y="4267200"/>
            <a:ext cx="1524000" cy="590550"/>
          </a:xfrm>
          <a:prstGeom prst="rect">
            <a:avLst/>
          </a:prstGeom>
          <a:solidFill>
            <a:srgbClr val="EEF7FD"/>
          </a:solidFill>
          <a:ln w="9525">
            <a:solidFill>
              <a:srgbClr val="BCD5E5"/>
            </a:solidFill>
            <a:prstDash val="solid"/>
          </a:ln>
        </p:spPr>
      </p:sp>
      <p:sp>
        <p:nvSpPr>
          <p:cNvPr id="50" name="task-text-2"/>
          <p:cNvSpPr>
            <a:spLocks noGrp="1"/>
          </p:cNvSpPr>
          <p:nvPr/>
        </p:nvSpPr>
        <p:spPr>
          <a:xfrm>
            <a:off x="5791200" y="4391025"/>
            <a:ext cx="1371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23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23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批次校正</a:t>
            </a:r>
          </a:p>
        </p:txBody>
      </p:sp>
      <p:sp>
        <p:nvSpPr>
          <p:cNvPr id="51" name="task-3"/>
          <p:cNvSpPr>
            <a:spLocks noGrp="1"/>
          </p:cNvSpPr>
          <p:nvPr/>
        </p:nvSpPr>
        <p:spPr>
          <a:xfrm>
            <a:off x="7667625" y="4267200"/>
            <a:ext cx="1524000" cy="590550"/>
          </a:xfrm>
          <a:prstGeom prst="rect">
            <a:avLst/>
          </a:prstGeom>
          <a:solidFill>
            <a:srgbClr val="EEF7FD"/>
          </a:solidFill>
          <a:ln w="9525">
            <a:solidFill>
              <a:srgbClr val="BCD5E5"/>
            </a:solidFill>
            <a:prstDash val="solid"/>
          </a:ln>
        </p:spPr>
      </p:sp>
      <p:sp>
        <p:nvSpPr>
          <p:cNvPr id="52" name="task-text-3"/>
          <p:cNvSpPr>
            <a:spLocks noGrp="1"/>
          </p:cNvSpPr>
          <p:nvPr/>
        </p:nvSpPr>
        <p:spPr>
          <a:xfrm>
            <a:off x="7743825" y="4391025"/>
            <a:ext cx="1371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23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23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多组学整合</a:t>
            </a:r>
          </a:p>
        </p:txBody>
      </p:sp>
      <p:sp>
        <p:nvSpPr>
          <p:cNvPr id="53" name="task-4"/>
          <p:cNvSpPr>
            <a:spLocks noGrp="1"/>
          </p:cNvSpPr>
          <p:nvPr/>
        </p:nvSpPr>
        <p:spPr>
          <a:xfrm>
            <a:off x="9620250" y="4267200"/>
            <a:ext cx="1524000" cy="590550"/>
          </a:xfrm>
          <a:prstGeom prst="rect">
            <a:avLst/>
          </a:prstGeom>
          <a:solidFill>
            <a:srgbClr val="EEF7FD"/>
          </a:solidFill>
          <a:ln w="9525">
            <a:solidFill>
              <a:srgbClr val="BCD5E5"/>
            </a:solidFill>
            <a:prstDash val="solid"/>
          </a:ln>
        </p:spPr>
      </p:sp>
      <p:sp>
        <p:nvSpPr>
          <p:cNvPr id="54" name="task-text-4"/>
          <p:cNvSpPr>
            <a:spLocks noGrp="1"/>
          </p:cNvSpPr>
          <p:nvPr/>
        </p:nvSpPr>
        <p:spPr>
          <a:xfrm>
            <a:off x="9696450" y="4391025"/>
            <a:ext cx="1371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23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23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基因网络推断</a:t>
            </a:r>
          </a:p>
        </p:txBody>
      </p:sp>
      <p:sp>
        <p:nvSpPr>
          <p:cNvPr id="55" name="route-principle"/>
          <p:cNvSpPr>
            <a:spLocks noGrp="1"/>
          </p:cNvSpPr>
          <p:nvPr/>
        </p:nvSpPr>
        <p:spPr>
          <a:xfrm>
            <a:off x="2476500" y="5334000"/>
            <a:ext cx="7762875" cy="552450"/>
          </a:xfrm>
          <a:prstGeom prst="rect">
            <a:avLst/>
          </a:prstGeom>
          <a:solidFill>
            <a:srgbClr val="123D8D"/>
          </a:solidFill>
          <a:ln w="0">
            <a:solidFill>
              <a:srgbClr val="123D8D"/>
            </a:solidFill>
            <a:prstDash val="solid"/>
          </a:ln>
        </p:spPr>
      </p:sp>
      <p:sp>
        <p:nvSpPr>
          <p:cNvPr id="56" name="unified-interface"/>
          <p:cNvSpPr>
            <a:spLocks noGrp="1"/>
          </p:cNvSpPr>
          <p:nvPr/>
        </p:nvSpPr>
        <p:spPr>
          <a:xfrm>
            <a:off x="2667000" y="5467350"/>
            <a:ext cx="7381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统一接口：条件 token 把批次、模态与扰动信息纳入同一表达空间。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left-nav-bg"/>
          <p:cNvSpPr>
            <a:spLocks noGrp="1"/>
          </p:cNvSpPr>
          <p:nvPr/>
        </p:nvSpPr>
        <p:spPr>
          <a:xfrm>
            <a:off x="0" y="0"/>
            <a:ext cx="990600" cy="6858000"/>
          </a:xfrm>
          <a:prstGeom prst="rect">
            <a:avLst/>
          </a:prstGeom>
          <a:solidFill>
            <a:srgbClr val="123D8D"/>
          </a:solidFill>
          <a:ln w="0">
            <a:solidFill>
              <a:srgbClr val="123D8D"/>
            </a:solidFill>
            <a:prstDash val="solid"/>
          </a:ln>
        </p:spPr>
      </p:sp>
      <p:sp>
        <p:nvSpPr>
          <p:cNvPr id="2" name="nav-label"/>
          <p:cNvSpPr>
            <a:spLocks noGrp="1"/>
          </p:cNvSpPr>
          <p:nvPr/>
        </p:nvSpPr>
        <p:spPr>
          <a:xfrm>
            <a:off x="28575" y="2667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课题组文献汇报</a:t>
            </a:r>
            <a:endParaRPr sz="825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nav-0"/>
          <p:cNvSpPr>
            <a:spLocks noGrp="1"/>
          </p:cNvSpPr>
          <p:nvPr/>
        </p:nvSpPr>
        <p:spPr>
          <a:xfrm>
            <a:off x="57150" y="2095500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4" name="nav-text-0"/>
          <p:cNvSpPr>
            <a:spLocks noGrp="1"/>
          </p:cNvSpPr>
          <p:nvPr/>
        </p:nvSpPr>
        <p:spPr>
          <a:xfrm>
            <a:off x="85725" y="2181225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基本信息</a:t>
            </a:r>
          </a:p>
        </p:txBody>
      </p:sp>
      <p:sp>
        <p:nvSpPr>
          <p:cNvPr id="5" name="nav-1"/>
          <p:cNvSpPr>
            <a:spLocks noGrp="1"/>
          </p:cNvSpPr>
          <p:nvPr/>
        </p:nvSpPr>
        <p:spPr>
          <a:xfrm>
            <a:off x="57150" y="2562225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6" name="nav-text-1"/>
          <p:cNvSpPr>
            <a:spLocks noGrp="1"/>
          </p:cNvSpPr>
          <p:nvPr/>
        </p:nvSpPr>
        <p:spPr>
          <a:xfrm>
            <a:off x="85725" y="2647950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研究背景</a:t>
            </a:r>
          </a:p>
        </p:txBody>
      </p:sp>
      <p:sp>
        <p:nvSpPr>
          <p:cNvPr id="7" name="nav-2"/>
          <p:cNvSpPr>
            <a:spLocks noGrp="1"/>
          </p:cNvSpPr>
          <p:nvPr/>
        </p:nvSpPr>
        <p:spPr>
          <a:xfrm>
            <a:off x="57150" y="3028950"/>
            <a:ext cx="876300" cy="409575"/>
          </a:xfrm>
          <a:prstGeom prst="rect">
            <a:avLst/>
          </a:prstGeom>
          <a:solidFill>
            <a:srgbClr val="EEF7F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" name="nav-text-2"/>
          <p:cNvSpPr>
            <a:spLocks noGrp="1"/>
          </p:cNvSpPr>
          <p:nvPr/>
        </p:nvSpPr>
        <p:spPr>
          <a:xfrm>
            <a:off x="85725" y="3114675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123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23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研究思路</a:t>
            </a:r>
          </a:p>
        </p:txBody>
      </p:sp>
      <p:sp>
        <p:nvSpPr>
          <p:cNvPr id="9" name="nav-3"/>
          <p:cNvSpPr>
            <a:spLocks noGrp="1"/>
          </p:cNvSpPr>
          <p:nvPr/>
        </p:nvSpPr>
        <p:spPr>
          <a:xfrm>
            <a:off x="57150" y="3495675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10" name="nav-text-3"/>
          <p:cNvSpPr>
            <a:spLocks noGrp="1"/>
          </p:cNvSpPr>
          <p:nvPr/>
        </p:nvSpPr>
        <p:spPr>
          <a:xfrm>
            <a:off x="85725" y="3581400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研究结果</a:t>
            </a:r>
          </a:p>
        </p:txBody>
      </p:sp>
      <p:sp>
        <p:nvSpPr>
          <p:cNvPr id="11" name="nav-4"/>
          <p:cNvSpPr>
            <a:spLocks noGrp="1"/>
          </p:cNvSpPr>
          <p:nvPr/>
        </p:nvSpPr>
        <p:spPr>
          <a:xfrm>
            <a:off x="57150" y="3962400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12" name="nav-text-4"/>
          <p:cNvSpPr>
            <a:spLocks noGrp="1"/>
          </p:cNvSpPr>
          <p:nvPr/>
        </p:nvSpPr>
        <p:spPr>
          <a:xfrm>
            <a:off x="85725" y="4048125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结论与讨论</a:t>
            </a:r>
          </a:p>
        </p:txBody>
      </p:sp>
      <p:sp>
        <p:nvSpPr>
          <p:cNvPr id="13" name="nav-5"/>
          <p:cNvSpPr>
            <a:spLocks noGrp="1"/>
          </p:cNvSpPr>
          <p:nvPr/>
        </p:nvSpPr>
        <p:spPr>
          <a:xfrm>
            <a:off x="57150" y="4429125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14" name="nav-text-5"/>
          <p:cNvSpPr>
            <a:spLocks noGrp="1"/>
          </p:cNvSpPr>
          <p:nvPr/>
        </p:nvSpPr>
        <p:spPr>
          <a:xfrm>
            <a:off x="85725" y="4514850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创新与启发</a:t>
            </a:r>
          </a:p>
        </p:txBody>
      </p:sp>
      <p:sp>
        <p:nvSpPr>
          <p:cNvPr id="15" name="title-square"/>
          <p:cNvSpPr>
            <a:spLocks noGrp="1"/>
          </p:cNvSpPr>
          <p:nvPr/>
        </p:nvSpPr>
        <p:spPr>
          <a:xfrm>
            <a:off x="1162050" y="228600"/>
            <a:ext cx="114300" cy="190500"/>
          </a:xfrm>
          <a:prstGeom prst="rect">
            <a:avLst/>
          </a:prstGeom>
          <a:solidFill>
            <a:srgbClr val="123D8D"/>
          </a:solidFill>
          <a:ln w="0">
            <a:solidFill>
              <a:srgbClr val="123D8D"/>
            </a:solidFill>
            <a:prstDash val="solid"/>
          </a:ln>
        </p:spPr>
      </p:sp>
      <p:sp>
        <p:nvSpPr>
          <p:cNvPr id="16" name="slide-title"/>
          <p:cNvSpPr>
            <a:spLocks noGrp="1"/>
          </p:cNvSpPr>
          <p:nvPr/>
        </p:nvSpPr>
        <p:spPr>
          <a:xfrm>
            <a:off x="1352550" y="161925"/>
            <a:ext cx="8334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buNone/>
              <a:defRPr sz="2025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3.1  模型结构：三类嵌入与生成式注意力掩码构成统一接口</a:t>
            </a:r>
          </a:p>
        </p:txBody>
      </p:sp>
      <p:sp>
        <p:nvSpPr>
          <p:cNvPr id="17" name="title-rule"/>
          <p:cNvSpPr>
            <a:spLocks noGrp="1"/>
          </p:cNvSpPr>
          <p:nvPr/>
        </p:nvSpPr>
        <p:spPr>
          <a:xfrm>
            <a:off x="1162050" y="590550"/>
            <a:ext cx="8715375" cy="19050"/>
          </a:xfrm>
          <a:prstGeom prst="rect">
            <a:avLst/>
          </a:prstGeom>
          <a:solidFill>
            <a:srgbClr val="123D8D"/>
          </a:solidFill>
          <a:ln w="0">
            <a:solidFill>
              <a:srgbClr val="123D8D"/>
            </a:solidFill>
            <a:prstDash val="solid"/>
          </a:ln>
        </p:spPr>
      </p:sp>
      <p:pic>
        <p:nvPicPr>
          <p:cNvPr id="50" name="图片 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0791" y="66675"/>
            <a:ext cx="1608794" cy="514350"/>
          </a:xfrm>
          <a:prstGeom prst="rect">
            <a:avLst/>
          </a:prstGeom>
        </p:spPr>
      </p:pic>
      <p:sp>
        <p:nvSpPr>
          <p:cNvPr id="19" name="page-number"/>
          <p:cNvSpPr>
            <a:spLocks noGrp="1"/>
          </p:cNvSpPr>
          <p:nvPr/>
        </p:nvSpPr>
        <p:spPr>
          <a:xfrm>
            <a:off x="11382375" y="64865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0">
                <a:solidFill>
                  <a:srgbClr val="7A889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7A889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07</a:t>
            </a:r>
          </a:p>
        </p:txBody>
      </p:sp>
      <p:sp>
        <p:nvSpPr>
          <p:cNvPr id="20" name="citation-footer"/>
          <p:cNvSpPr>
            <a:spLocks noGrp="1"/>
          </p:cNvSpPr>
          <p:nvPr/>
        </p:nvSpPr>
        <p:spPr>
          <a:xfrm>
            <a:off x="1162050" y="64579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7A889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>
                <a:solidFill>
                  <a:srgbClr val="7A889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Cui et al. | Nature Methods 21, 1470–1480 (2024)</a:t>
            </a:r>
          </a:p>
        </p:txBody>
      </p:sp>
      <p:sp>
        <p:nvSpPr>
          <p:cNvPr id="21" name="fig1-frame"/>
          <p:cNvSpPr>
            <a:spLocks noGrp="1"/>
          </p:cNvSpPr>
          <p:nvPr/>
        </p:nvSpPr>
        <p:spPr>
          <a:xfrm>
            <a:off x="1476375" y="904875"/>
            <a:ext cx="7429500" cy="4191000"/>
          </a:xfrm>
          <a:prstGeom prst="rect">
            <a:avLst/>
          </a:prstGeom>
          <a:solidFill>
            <a:srgbClr val="FFFFFF"/>
          </a:solidFill>
          <a:ln w="9525">
            <a:solidFill>
              <a:srgbClr val="A7B9C8"/>
            </a:solidFill>
            <a:prstDash val="solid"/>
          </a:ln>
        </p:spPr>
      </p:sp>
      <p:pic>
        <p:nvPicPr>
          <p:cNvPr id="54" name="图片 5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4953" y="952500"/>
            <a:ext cx="4992344" cy="4095750"/>
          </a:xfrm>
          <a:prstGeom prst="rect">
            <a:avLst/>
          </a:prstGeom>
        </p:spPr>
      </p:pic>
      <p:sp>
        <p:nvSpPr>
          <p:cNvPr id="23" name="callout-box"/>
          <p:cNvSpPr>
            <a:spLocks noGrp="1"/>
          </p:cNvSpPr>
          <p:nvPr/>
        </p:nvSpPr>
        <p:spPr>
          <a:xfrm>
            <a:off x="9191625" y="1066800"/>
            <a:ext cx="2714625" cy="3872230"/>
          </a:xfrm>
          <a:prstGeom prst="rect">
            <a:avLst/>
          </a:prstGeom>
          <a:solidFill>
            <a:srgbClr val="DCEEFF"/>
          </a:solidFill>
          <a:ln w="9525">
            <a:solidFill>
              <a:srgbClr val="B9D6EA"/>
            </a:solidFill>
            <a:prstDash val="solid"/>
          </a:ln>
        </p:spPr>
      </p:sp>
      <p:sp>
        <p:nvSpPr>
          <p:cNvPr id="24" name="callout-title"/>
          <p:cNvSpPr>
            <a:spLocks noGrp="1"/>
          </p:cNvSpPr>
          <p:nvPr/>
        </p:nvSpPr>
        <p:spPr>
          <a:xfrm>
            <a:off x="9305925" y="1162050"/>
            <a:ext cx="24860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1">
                <a:solidFill>
                  <a:srgbClr val="123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23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模型拆解</a:t>
            </a:r>
          </a:p>
        </p:txBody>
      </p:sp>
      <p:sp>
        <p:nvSpPr>
          <p:cNvPr id="25" name="callout-body"/>
          <p:cNvSpPr>
            <a:spLocks noGrp="1"/>
          </p:cNvSpPr>
          <p:nvPr/>
        </p:nvSpPr>
        <p:spPr>
          <a:xfrm>
            <a:off x="9324975" y="1543050"/>
            <a:ext cx="2447925" cy="2266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indent="0" algn="l">
              <a:lnSpc>
                <a:spcPct val="150000"/>
              </a:lnSpc>
              <a:spcAft>
                <a:spcPts val="0"/>
              </a:spcAft>
              <a:buChar char="•"/>
              <a:defRPr sz="124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</a:t>
            </a:r>
            <a:r>
              <a:rPr sz="124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：gene token 编码基因，expression embedding 编码表达量，condition token 编码批次、模态与扰动。</a:t>
            </a:r>
          </a:p>
          <a:p>
            <a:pPr indent="0" algn="l">
              <a:lnSpc>
                <a:spcPct val="150000"/>
              </a:lnSpc>
              <a:spcAft>
                <a:spcPts val="0"/>
              </a:spcAft>
              <a:buChar char="•"/>
              <a:defRPr sz="124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骨干</a:t>
            </a:r>
            <a:r>
              <a:rPr sz="124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：masked-attention transformer 通过动态掩码学习基因间依赖。</a:t>
            </a:r>
          </a:p>
          <a:p>
            <a:pPr indent="0" algn="l">
              <a:lnSpc>
                <a:spcPct val="150000"/>
              </a:lnSpc>
              <a:spcAft>
                <a:spcPts val="0"/>
              </a:spcAft>
              <a:buChar char="•"/>
              <a:defRPr sz="124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迁移</a:t>
            </a:r>
            <a:r>
              <a:rPr sz="124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：预训练参数可微调，也可直接提取细胞或基因表示。</a:t>
            </a:r>
          </a:p>
        </p:txBody>
      </p:sp>
      <p:sp>
        <p:nvSpPr>
          <p:cNvPr id="26" name="callout-conclusion"/>
          <p:cNvSpPr>
            <a:spLocks noGrp="1"/>
          </p:cNvSpPr>
          <p:nvPr/>
        </p:nvSpPr>
        <p:spPr>
          <a:xfrm>
            <a:off x="9324975" y="4354830"/>
            <a:ext cx="24479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65" b="1">
                <a:solidFill>
                  <a:srgbClr val="C733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1">
                <a:solidFill>
                  <a:srgbClr val="C733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核心创新：用统一条件编码连接异质任务。</a:t>
            </a:r>
          </a:p>
        </p:txBody>
      </p:sp>
      <p:sp>
        <p:nvSpPr>
          <p:cNvPr id="27" name="figure-label"/>
          <p:cNvSpPr>
            <a:spLocks noGrp="1"/>
          </p:cNvSpPr>
          <p:nvPr/>
        </p:nvSpPr>
        <p:spPr>
          <a:xfrm>
            <a:off x="1571625" y="5181600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0">
                <a:solidFill>
                  <a:srgbClr val="5F6B7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F6B7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Fig. 1a–c</a:t>
            </a:r>
          </a:p>
        </p:txBody>
      </p:sp>
      <p:sp>
        <p:nvSpPr>
          <p:cNvPr id="28" name="architecture-note"/>
          <p:cNvSpPr>
            <a:spLocks noGrp="1"/>
          </p:cNvSpPr>
          <p:nvPr/>
        </p:nvSpPr>
        <p:spPr>
          <a:xfrm>
            <a:off x="1905000" y="5524500"/>
            <a:ext cx="9429750" cy="428625"/>
          </a:xfrm>
          <a:prstGeom prst="rect">
            <a:avLst/>
          </a:prstGeom>
          <a:solidFill>
            <a:srgbClr val="EEF7FD"/>
          </a:solidFill>
          <a:ln w="9525">
            <a:solidFill>
              <a:srgbClr val="BCD5E5"/>
            </a:solidFill>
            <a:prstDash val="solid"/>
          </a:ln>
        </p:spPr>
      </p:sp>
      <p:sp>
        <p:nvSpPr>
          <p:cNvPr id="29" name="architecture-takeaway"/>
          <p:cNvSpPr>
            <a:spLocks noGrp="1"/>
          </p:cNvSpPr>
          <p:nvPr/>
        </p:nvSpPr>
        <p:spPr>
          <a:xfrm>
            <a:off x="2095500" y="5600700"/>
            <a:ext cx="9048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00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预训练阶段学习“通用细胞语言”；微调阶段加入任务监督，使同一骨干服务不同分析目标。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left-nav-bg"/>
          <p:cNvSpPr>
            <a:spLocks noGrp="1"/>
          </p:cNvSpPr>
          <p:nvPr/>
        </p:nvSpPr>
        <p:spPr>
          <a:xfrm>
            <a:off x="0" y="0"/>
            <a:ext cx="990600" cy="6858000"/>
          </a:xfrm>
          <a:prstGeom prst="rect">
            <a:avLst/>
          </a:prstGeom>
          <a:solidFill>
            <a:srgbClr val="123D8D"/>
          </a:solidFill>
          <a:ln w="0">
            <a:solidFill>
              <a:srgbClr val="123D8D"/>
            </a:solidFill>
            <a:prstDash val="solid"/>
          </a:ln>
        </p:spPr>
      </p:sp>
      <p:sp>
        <p:nvSpPr>
          <p:cNvPr id="2" name="nav-label"/>
          <p:cNvSpPr>
            <a:spLocks noGrp="1"/>
          </p:cNvSpPr>
          <p:nvPr/>
        </p:nvSpPr>
        <p:spPr>
          <a:xfrm>
            <a:off x="28575" y="2667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课题组文献汇报</a:t>
            </a:r>
          </a:p>
        </p:txBody>
      </p:sp>
      <p:sp>
        <p:nvSpPr>
          <p:cNvPr id="3" name="nav-0"/>
          <p:cNvSpPr>
            <a:spLocks noGrp="1"/>
          </p:cNvSpPr>
          <p:nvPr/>
        </p:nvSpPr>
        <p:spPr>
          <a:xfrm>
            <a:off x="57150" y="2095500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4" name="nav-text-0"/>
          <p:cNvSpPr>
            <a:spLocks noGrp="1"/>
          </p:cNvSpPr>
          <p:nvPr/>
        </p:nvSpPr>
        <p:spPr>
          <a:xfrm>
            <a:off x="85725" y="2181225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基本信息</a:t>
            </a:r>
          </a:p>
        </p:txBody>
      </p:sp>
      <p:sp>
        <p:nvSpPr>
          <p:cNvPr id="5" name="nav-1"/>
          <p:cNvSpPr>
            <a:spLocks noGrp="1"/>
          </p:cNvSpPr>
          <p:nvPr/>
        </p:nvSpPr>
        <p:spPr>
          <a:xfrm>
            <a:off x="57150" y="2562225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6" name="nav-text-1"/>
          <p:cNvSpPr>
            <a:spLocks noGrp="1"/>
          </p:cNvSpPr>
          <p:nvPr/>
        </p:nvSpPr>
        <p:spPr>
          <a:xfrm>
            <a:off x="85725" y="2647950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研究背景</a:t>
            </a:r>
          </a:p>
        </p:txBody>
      </p:sp>
      <p:sp>
        <p:nvSpPr>
          <p:cNvPr id="7" name="nav-2"/>
          <p:cNvSpPr>
            <a:spLocks noGrp="1"/>
          </p:cNvSpPr>
          <p:nvPr/>
        </p:nvSpPr>
        <p:spPr>
          <a:xfrm>
            <a:off x="57150" y="3028950"/>
            <a:ext cx="876300" cy="409575"/>
          </a:xfrm>
          <a:prstGeom prst="rect">
            <a:avLst/>
          </a:prstGeom>
          <a:solidFill>
            <a:srgbClr val="EEF7F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" name="nav-text-2"/>
          <p:cNvSpPr>
            <a:spLocks noGrp="1"/>
          </p:cNvSpPr>
          <p:nvPr/>
        </p:nvSpPr>
        <p:spPr>
          <a:xfrm>
            <a:off x="85725" y="3114675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123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23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研究思路</a:t>
            </a:r>
          </a:p>
        </p:txBody>
      </p:sp>
      <p:sp>
        <p:nvSpPr>
          <p:cNvPr id="9" name="nav-3"/>
          <p:cNvSpPr>
            <a:spLocks noGrp="1"/>
          </p:cNvSpPr>
          <p:nvPr/>
        </p:nvSpPr>
        <p:spPr>
          <a:xfrm>
            <a:off x="57150" y="3495675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10" name="nav-text-3"/>
          <p:cNvSpPr>
            <a:spLocks noGrp="1"/>
          </p:cNvSpPr>
          <p:nvPr/>
        </p:nvSpPr>
        <p:spPr>
          <a:xfrm>
            <a:off x="85725" y="3581400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研究结果</a:t>
            </a:r>
          </a:p>
        </p:txBody>
      </p:sp>
      <p:sp>
        <p:nvSpPr>
          <p:cNvPr id="11" name="nav-4"/>
          <p:cNvSpPr>
            <a:spLocks noGrp="1"/>
          </p:cNvSpPr>
          <p:nvPr/>
        </p:nvSpPr>
        <p:spPr>
          <a:xfrm>
            <a:off x="57150" y="3962400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12" name="nav-text-4"/>
          <p:cNvSpPr>
            <a:spLocks noGrp="1"/>
          </p:cNvSpPr>
          <p:nvPr/>
        </p:nvSpPr>
        <p:spPr>
          <a:xfrm>
            <a:off x="85725" y="4048125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结论与讨论</a:t>
            </a:r>
          </a:p>
        </p:txBody>
      </p:sp>
      <p:sp>
        <p:nvSpPr>
          <p:cNvPr id="13" name="nav-5"/>
          <p:cNvSpPr>
            <a:spLocks noGrp="1"/>
          </p:cNvSpPr>
          <p:nvPr/>
        </p:nvSpPr>
        <p:spPr>
          <a:xfrm>
            <a:off x="57150" y="4429125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14" name="nav-text-5"/>
          <p:cNvSpPr>
            <a:spLocks noGrp="1"/>
          </p:cNvSpPr>
          <p:nvPr/>
        </p:nvSpPr>
        <p:spPr>
          <a:xfrm>
            <a:off x="85725" y="4514850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创新与启发</a:t>
            </a:r>
          </a:p>
        </p:txBody>
      </p:sp>
      <p:sp>
        <p:nvSpPr>
          <p:cNvPr id="15" name="title-square"/>
          <p:cNvSpPr>
            <a:spLocks noGrp="1"/>
          </p:cNvSpPr>
          <p:nvPr/>
        </p:nvSpPr>
        <p:spPr>
          <a:xfrm>
            <a:off x="1162050" y="228600"/>
            <a:ext cx="114300" cy="190500"/>
          </a:xfrm>
          <a:prstGeom prst="rect">
            <a:avLst/>
          </a:prstGeom>
          <a:solidFill>
            <a:srgbClr val="123D8D"/>
          </a:solidFill>
          <a:ln w="0">
            <a:solidFill>
              <a:srgbClr val="123D8D"/>
            </a:solidFill>
            <a:prstDash val="solid"/>
          </a:ln>
        </p:spPr>
      </p:sp>
      <p:sp>
        <p:nvSpPr>
          <p:cNvPr id="16" name="slide-title"/>
          <p:cNvSpPr>
            <a:spLocks noGrp="1"/>
          </p:cNvSpPr>
          <p:nvPr/>
        </p:nvSpPr>
        <p:spPr>
          <a:xfrm>
            <a:off x="1352550" y="161925"/>
            <a:ext cx="8334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buNone/>
              <a:defRPr sz="2025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3.2  预训练数据：3300万细胞覆盖多组织，并形成可分离的细胞空间</a:t>
            </a:r>
          </a:p>
        </p:txBody>
      </p:sp>
      <p:sp>
        <p:nvSpPr>
          <p:cNvPr id="17" name="title-rule"/>
          <p:cNvSpPr>
            <a:spLocks noGrp="1"/>
          </p:cNvSpPr>
          <p:nvPr/>
        </p:nvSpPr>
        <p:spPr>
          <a:xfrm>
            <a:off x="1162050" y="590550"/>
            <a:ext cx="8715375" cy="19050"/>
          </a:xfrm>
          <a:prstGeom prst="rect">
            <a:avLst/>
          </a:prstGeom>
          <a:solidFill>
            <a:srgbClr val="123D8D"/>
          </a:solidFill>
          <a:ln w="0">
            <a:solidFill>
              <a:srgbClr val="123D8D"/>
            </a:solidFill>
            <a:prstDash val="solid"/>
          </a:ln>
        </p:spPr>
      </p:sp>
      <p:pic>
        <p:nvPicPr>
          <p:cNvPr id="50" name="图片 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0791" y="66675"/>
            <a:ext cx="1608794" cy="514350"/>
          </a:xfrm>
          <a:prstGeom prst="rect">
            <a:avLst/>
          </a:prstGeom>
        </p:spPr>
      </p:pic>
      <p:sp>
        <p:nvSpPr>
          <p:cNvPr id="19" name="page-number"/>
          <p:cNvSpPr>
            <a:spLocks noGrp="1"/>
          </p:cNvSpPr>
          <p:nvPr/>
        </p:nvSpPr>
        <p:spPr>
          <a:xfrm>
            <a:off x="11382375" y="64865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0">
                <a:solidFill>
                  <a:srgbClr val="7A889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7A889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08</a:t>
            </a:r>
          </a:p>
        </p:txBody>
      </p:sp>
      <p:sp>
        <p:nvSpPr>
          <p:cNvPr id="20" name="citation-footer"/>
          <p:cNvSpPr>
            <a:spLocks noGrp="1"/>
          </p:cNvSpPr>
          <p:nvPr/>
        </p:nvSpPr>
        <p:spPr>
          <a:xfrm>
            <a:off x="1162050" y="64579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7A889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>
                <a:solidFill>
                  <a:srgbClr val="7A889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Cui et al. | Nature Methods 21, 1470–1480 (2024)</a:t>
            </a:r>
          </a:p>
        </p:txBody>
      </p:sp>
      <p:sp>
        <p:nvSpPr>
          <p:cNvPr id="21" name="fig1-frame"/>
          <p:cNvSpPr>
            <a:spLocks noGrp="1"/>
          </p:cNvSpPr>
          <p:nvPr/>
        </p:nvSpPr>
        <p:spPr>
          <a:xfrm>
            <a:off x="1476375" y="923925"/>
            <a:ext cx="7953375" cy="4524375"/>
          </a:xfrm>
          <a:prstGeom prst="rect">
            <a:avLst/>
          </a:prstGeom>
          <a:solidFill>
            <a:srgbClr val="FFFFFF"/>
          </a:solidFill>
          <a:ln w="9525">
            <a:solidFill>
              <a:srgbClr val="A7B9C8"/>
            </a:solidFill>
            <a:prstDash val="solid"/>
          </a:ln>
        </p:spPr>
      </p:sp>
      <p:pic>
        <p:nvPicPr>
          <p:cNvPr id="54" name="图片 5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3714" y="971550"/>
            <a:ext cx="5398697" cy="4429125"/>
          </a:xfrm>
          <a:prstGeom prst="rect">
            <a:avLst/>
          </a:prstGeom>
        </p:spPr>
      </p:pic>
      <p:sp>
        <p:nvSpPr>
          <p:cNvPr id="23" name="callout-box"/>
          <p:cNvSpPr>
            <a:spLocks noGrp="1"/>
          </p:cNvSpPr>
          <p:nvPr/>
        </p:nvSpPr>
        <p:spPr>
          <a:xfrm>
            <a:off x="9686925" y="1219200"/>
            <a:ext cx="2238375" cy="3000375"/>
          </a:xfrm>
          <a:prstGeom prst="rect">
            <a:avLst/>
          </a:prstGeom>
          <a:solidFill>
            <a:srgbClr val="DCEEFF"/>
          </a:solidFill>
          <a:ln w="9525">
            <a:solidFill>
              <a:srgbClr val="B9D6EA"/>
            </a:solidFill>
            <a:prstDash val="solid"/>
          </a:ln>
        </p:spPr>
      </p:sp>
      <p:sp>
        <p:nvSpPr>
          <p:cNvPr id="24" name="callout-title"/>
          <p:cNvSpPr>
            <a:spLocks noGrp="1"/>
          </p:cNvSpPr>
          <p:nvPr/>
        </p:nvSpPr>
        <p:spPr>
          <a:xfrm>
            <a:off x="9801225" y="1314450"/>
            <a:ext cx="20097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1">
                <a:solidFill>
                  <a:srgbClr val="123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23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规模与覆盖</a:t>
            </a:r>
          </a:p>
        </p:txBody>
      </p:sp>
      <p:sp>
        <p:nvSpPr>
          <p:cNvPr id="25" name="callout-body"/>
          <p:cNvSpPr>
            <a:spLocks noGrp="1"/>
          </p:cNvSpPr>
          <p:nvPr/>
        </p:nvSpPr>
        <p:spPr>
          <a:xfrm>
            <a:off x="9820275" y="1695450"/>
            <a:ext cx="1971675" cy="1933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indent="0" algn="l">
              <a:lnSpc>
                <a:spcPct val="150000"/>
              </a:lnSpc>
              <a:spcAft>
                <a:spcPts val="0"/>
              </a:spcAft>
              <a:buChar char="•"/>
              <a:defRPr sz="124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3300 万正常人类细胞用于 whole-human 预训练。</a:t>
            </a:r>
          </a:p>
          <a:p>
            <a:pPr indent="0" algn="l">
              <a:lnSpc>
                <a:spcPct val="150000"/>
              </a:lnSpc>
              <a:spcAft>
                <a:spcPts val="0"/>
              </a:spcAft>
              <a:buChar char="•"/>
              <a:defRPr sz="124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另训练脑、血液、心脏、肺、肾等组织模型。</a:t>
            </a:r>
          </a:p>
          <a:p>
            <a:pPr indent="0" algn="l">
              <a:lnSpc>
                <a:spcPct val="150000"/>
              </a:lnSpc>
              <a:spcAft>
                <a:spcPts val="0"/>
              </a:spcAft>
              <a:buChar char="•"/>
              <a:defRPr sz="124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UMAP 呈现组织与细胞类型结构。</a:t>
            </a:r>
          </a:p>
        </p:txBody>
      </p:sp>
      <p:sp>
        <p:nvSpPr>
          <p:cNvPr id="26" name="callout-conclusion"/>
          <p:cNvSpPr>
            <a:spLocks noGrp="1"/>
          </p:cNvSpPr>
          <p:nvPr/>
        </p:nvSpPr>
        <p:spPr>
          <a:xfrm>
            <a:off x="9820275" y="3599815"/>
            <a:ext cx="19716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65" b="1">
                <a:solidFill>
                  <a:srgbClr val="C733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1">
                <a:solidFill>
                  <a:srgbClr val="C733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规模支持迁移，也会继承图谱采样偏倚。</a:t>
            </a:r>
          </a:p>
        </p:txBody>
      </p:sp>
      <p:sp>
        <p:nvSpPr>
          <p:cNvPr id="27" name="figure-label"/>
          <p:cNvSpPr>
            <a:spLocks noGrp="1"/>
          </p:cNvSpPr>
          <p:nvPr/>
        </p:nvSpPr>
        <p:spPr>
          <a:xfrm>
            <a:off x="1571625" y="5543550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0">
                <a:solidFill>
                  <a:srgbClr val="5F6B7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F6B7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Fig. 1d–e</a:t>
            </a:r>
          </a:p>
        </p:txBody>
      </p:sp>
      <p:sp>
        <p:nvSpPr>
          <p:cNvPr id="28" name="pretrain-message"/>
          <p:cNvSpPr>
            <a:spLocks noGrp="1"/>
          </p:cNvSpPr>
          <p:nvPr/>
        </p:nvSpPr>
        <p:spPr>
          <a:xfrm>
            <a:off x="2809875" y="5715000"/>
            <a:ext cx="7239000" cy="419100"/>
          </a:xfrm>
          <a:prstGeom prst="rect">
            <a:avLst/>
          </a:prstGeom>
          <a:solidFill>
            <a:srgbClr val="123D8D"/>
          </a:solidFill>
          <a:ln w="0">
            <a:solidFill>
              <a:srgbClr val="123D8D"/>
            </a:solidFill>
            <a:prstDash val="solid"/>
          </a:ln>
        </p:spPr>
      </p:sp>
      <p:sp>
        <p:nvSpPr>
          <p:cNvPr id="29" name="pretrain-takeaway"/>
          <p:cNvSpPr>
            <a:spLocks noGrp="1"/>
          </p:cNvSpPr>
          <p:nvPr/>
        </p:nvSpPr>
        <p:spPr>
          <a:xfrm>
            <a:off x="3000375" y="5791200"/>
            <a:ext cx="685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模型先学习细胞表达的共现结构，再把表示迁移到具体任务。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left-nav-bg"/>
          <p:cNvSpPr>
            <a:spLocks noGrp="1"/>
          </p:cNvSpPr>
          <p:nvPr/>
        </p:nvSpPr>
        <p:spPr>
          <a:xfrm>
            <a:off x="0" y="0"/>
            <a:ext cx="990600" cy="6858000"/>
          </a:xfrm>
          <a:prstGeom prst="rect">
            <a:avLst/>
          </a:prstGeom>
          <a:solidFill>
            <a:srgbClr val="123D8D"/>
          </a:solidFill>
          <a:ln w="0">
            <a:solidFill>
              <a:srgbClr val="123D8D"/>
            </a:solidFill>
            <a:prstDash val="solid"/>
          </a:ln>
        </p:spPr>
      </p:sp>
      <p:sp>
        <p:nvSpPr>
          <p:cNvPr id="2" name="nav-label"/>
          <p:cNvSpPr>
            <a:spLocks noGrp="1"/>
          </p:cNvSpPr>
          <p:nvPr/>
        </p:nvSpPr>
        <p:spPr>
          <a:xfrm>
            <a:off x="28575" y="2667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课题组文献汇报</a:t>
            </a:r>
          </a:p>
        </p:txBody>
      </p:sp>
      <p:sp>
        <p:nvSpPr>
          <p:cNvPr id="3" name="nav-0"/>
          <p:cNvSpPr>
            <a:spLocks noGrp="1"/>
          </p:cNvSpPr>
          <p:nvPr/>
        </p:nvSpPr>
        <p:spPr>
          <a:xfrm>
            <a:off x="57150" y="2095500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4" name="nav-text-0"/>
          <p:cNvSpPr>
            <a:spLocks noGrp="1"/>
          </p:cNvSpPr>
          <p:nvPr/>
        </p:nvSpPr>
        <p:spPr>
          <a:xfrm>
            <a:off x="85725" y="2181225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基本信息</a:t>
            </a:r>
          </a:p>
        </p:txBody>
      </p:sp>
      <p:sp>
        <p:nvSpPr>
          <p:cNvPr id="5" name="nav-1"/>
          <p:cNvSpPr>
            <a:spLocks noGrp="1"/>
          </p:cNvSpPr>
          <p:nvPr/>
        </p:nvSpPr>
        <p:spPr>
          <a:xfrm>
            <a:off x="57150" y="2562225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6" name="nav-text-1"/>
          <p:cNvSpPr>
            <a:spLocks noGrp="1"/>
          </p:cNvSpPr>
          <p:nvPr/>
        </p:nvSpPr>
        <p:spPr>
          <a:xfrm>
            <a:off x="85725" y="2647950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研究背景</a:t>
            </a:r>
          </a:p>
        </p:txBody>
      </p:sp>
      <p:sp>
        <p:nvSpPr>
          <p:cNvPr id="7" name="nav-2"/>
          <p:cNvSpPr>
            <a:spLocks noGrp="1"/>
          </p:cNvSpPr>
          <p:nvPr/>
        </p:nvSpPr>
        <p:spPr>
          <a:xfrm>
            <a:off x="57150" y="3028950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8" name="nav-text-2"/>
          <p:cNvSpPr>
            <a:spLocks noGrp="1"/>
          </p:cNvSpPr>
          <p:nvPr/>
        </p:nvSpPr>
        <p:spPr>
          <a:xfrm>
            <a:off x="85725" y="3114675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研究思路</a:t>
            </a:r>
          </a:p>
        </p:txBody>
      </p:sp>
      <p:sp>
        <p:nvSpPr>
          <p:cNvPr id="9" name="nav-3"/>
          <p:cNvSpPr>
            <a:spLocks noGrp="1"/>
          </p:cNvSpPr>
          <p:nvPr/>
        </p:nvSpPr>
        <p:spPr>
          <a:xfrm>
            <a:off x="57150" y="3495675"/>
            <a:ext cx="876300" cy="409575"/>
          </a:xfrm>
          <a:prstGeom prst="rect">
            <a:avLst/>
          </a:prstGeom>
          <a:solidFill>
            <a:srgbClr val="EEF7F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nav-text-3"/>
          <p:cNvSpPr>
            <a:spLocks noGrp="1"/>
          </p:cNvSpPr>
          <p:nvPr/>
        </p:nvSpPr>
        <p:spPr>
          <a:xfrm>
            <a:off x="85725" y="3581400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123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23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研究结果</a:t>
            </a:r>
          </a:p>
        </p:txBody>
      </p:sp>
      <p:sp>
        <p:nvSpPr>
          <p:cNvPr id="11" name="nav-4"/>
          <p:cNvSpPr>
            <a:spLocks noGrp="1"/>
          </p:cNvSpPr>
          <p:nvPr/>
        </p:nvSpPr>
        <p:spPr>
          <a:xfrm>
            <a:off x="57150" y="3962400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12" name="nav-text-4"/>
          <p:cNvSpPr>
            <a:spLocks noGrp="1"/>
          </p:cNvSpPr>
          <p:nvPr/>
        </p:nvSpPr>
        <p:spPr>
          <a:xfrm>
            <a:off x="85725" y="4048125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结论与讨论</a:t>
            </a:r>
          </a:p>
        </p:txBody>
      </p:sp>
      <p:sp>
        <p:nvSpPr>
          <p:cNvPr id="13" name="nav-5"/>
          <p:cNvSpPr>
            <a:spLocks noGrp="1"/>
          </p:cNvSpPr>
          <p:nvPr/>
        </p:nvSpPr>
        <p:spPr>
          <a:xfrm>
            <a:off x="57150" y="4429125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14" name="nav-text-5"/>
          <p:cNvSpPr>
            <a:spLocks noGrp="1"/>
          </p:cNvSpPr>
          <p:nvPr/>
        </p:nvSpPr>
        <p:spPr>
          <a:xfrm>
            <a:off x="85725" y="4514850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创新与启发</a:t>
            </a:r>
          </a:p>
        </p:txBody>
      </p:sp>
      <p:sp>
        <p:nvSpPr>
          <p:cNvPr id="15" name="title-square"/>
          <p:cNvSpPr>
            <a:spLocks noGrp="1"/>
          </p:cNvSpPr>
          <p:nvPr/>
        </p:nvSpPr>
        <p:spPr>
          <a:xfrm>
            <a:off x="1162050" y="228600"/>
            <a:ext cx="114300" cy="190500"/>
          </a:xfrm>
          <a:prstGeom prst="rect">
            <a:avLst/>
          </a:prstGeom>
          <a:solidFill>
            <a:srgbClr val="123D8D"/>
          </a:solidFill>
          <a:ln w="0">
            <a:solidFill>
              <a:srgbClr val="123D8D"/>
            </a:solidFill>
            <a:prstDash val="solid"/>
          </a:ln>
        </p:spPr>
      </p:sp>
      <p:sp>
        <p:nvSpPr>
          <p:cNvPr id="16" name="slide-title"/>
          <p:cNvSpPr>
            <a:spLocks noGrp="1"/>
          </p:cNvSpPr>
          <p:nvPr/>
        </p:nvSpPr>
        <p:spPr>
          <a:xfrm>
            <a:off x="1352550" y="161925"/>
            <a:ext cx="8334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buNone/>
              <a:defRPr sz="2025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4.1  研究结果1：微调后的 scGPT 可准确完成胰腺细胞注释</a:t>
            </a:r>
          </a:p>
        </p:txBody>
      </p:sp>
      <p:sp>
        <p:nvSpPr>
          <p:cNvPr id="17" name="title-rule"/>
          <p:cNvSpPr>
            <a:spLocks noGrp="1"/>
          </p:cNvSpPr>
          <p:nvPr/>
        </p:nvSpPr>
        <p:spPr>
          <a:xfrm>
            <a:off x="1162050" y="590550"/>
            <a:ext cx="8715375" cy="19050"/>
          </a:xfrm>
          <a:prstGeom prst="rect">
            <a:avLst/>
          </a:prstGeom>
          <a:solidFill>
            <a:srgbClr val="123D8D"/>
          </a:solidFill>
          <a:ln w="0">
            <a:solidFill>
              <a:srgbClr val="123D8D"/>
            </a:solidFill>
            <a:prstDash val="solid"/>
          </a:ln>
        </p:spPr>
      </p:sp>
      <p:pic>
        <p:nvPicPr>
          <p:cNvPr id="50" name="图片 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0791" y="66675"/>
            <a:ext cx="1608794" cy="514350"/>
          </a:xfrm>
          <a:prstGeom prst="rect">
            <a:avLst/>
          </a:prstGeom>
        </p:spPr>
      </p:pic>
      <p:sp>
        <p:nvSpPr>
          <p:cNvPr id="19" name="page-number"/>
          <p:cNvSpPr>
            <a:spLocks noGrp="1"/>
          </p:cNvSpPr>
          <p:nvPr/>
        </p:nvSpPr>
        <p:spPr>
          <a:xfrm>
            <a:off x="11382375" y="64865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0">
                <a:solidFill>
                  <a:srgbClr val="7A889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7A889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09</a:t>
            </a:r>
          </a:p>
        </p:txBody>
      </p:sp>
      <p:sp>
        <p:nvSpPr>
          <p:cNvPr id="20" name="citation-footer"/>
          <p:cNvSpPr>
            <a:spLocks noGrp="1"/>
          </p:cNvSpPr>
          <p:nvPr/>
        </p:nvSpPr>
        <p:spPr>
          <a:xfrm>
            <a:off x="1162050" y="64579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7A889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>
                <a:solidFill>
                  <a:srgbClr val="7A889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Cui et al. | Nature Methods 21, 1470–1480 (2024)</a:t>
            </a:r>
          </a:p>
        </p:txBody>
      </p:sp>
      <p:sp>
        <p:nvSpPr>
          <p:cNvPr id="21" name="fig2-frame"/>
          <p:cNvSpPr>
            <a:spLocks noGrp="1"/>
          </p:cNvSpPr>
          <p:nvPr/>
        </p:nvSpPr>
        <p:spPr>
          <a:xfrm>
            <a:off x="1476375" y="1048385"/>
            <a:ext cx="7762875" cy="3524250"/>
          </a:xfrm>
          <a:prstGeom prst="rect">
            <a:avLst/>
          </a:prstGeom>
          <a:solidFill>
            <a:srgbClr val="FFFFFF"/>
          </a:solidFill>
          <a:ln w="9525">
            <a:solidFill>
              <a:srgbClr val="A7B9C8"/>
            </a:solidFill>
            <a:prstDash val="solid"/>
          </a:ln>
        </p:spPr>
      </p:sp>
      <p:pic>
        <p:nvPicPr>
          <p:cNvPr id="54" name="图片 5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3528" y="1096010"/>
            <a:ext cx="3868570" cy="3429000"/>
          </a:xfrm>
          <a:prstGeom prst="rect">
            <a:avLst/>
          </a:prstGeom>
        </p:spPr>
      </p:pic>
      <p:sp>
        <p:nvSpPr>
          <p:cNvPr id="23" name="callout-box"/>
          <p:cNvSpPr>
            <a:spLocks noGrp="1"/>
          </p:cNvSpPr>
          <p:nvPr/>
        </p:nvSpPr>
        <p:spPr>
          <a:xfrm>
            <a:off x="9496425" y="1191260"/>
            <a:ext cx="2428875" cy="2952750"/>
          </a:xfrm>
          <a:prstGeom prst="rect">
            <a:avLst/>
          </a:prstGeom>
          <a:solidFill>
            <a:srgbClr val="DCEEFF"/>
          </a:solidFill>
          <a:ln w="9525">
            <a:solidFill>
              <a:srgbClr val="B9D6EA"/>
            </a:solidFill>
            <a:prstDash val="solid"/>
          </a:ln>
        </p:spPr>
      </p:sp>
      <p:sp>
        <p:nvSpPr>
          <p:cNvPr id="24" name="callout-title"/>
          <p:cNvSpPr>
            <a:spLocks noGrp="1"/>
          </p:cNvSpPr>
          <p:nvPr/>
        </p:nvSpPr>
        <p:spPr>
          <a:xfrm>
            <a:off x="9610725" y="1286510"/>
            <a:ext cx="22002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1">
                <a:solidFill>
                  <a:srgbClr val="123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23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读图逻辑</a:t>
            </a:r>
          </a:p>
        </p:txBody>
      </p:sp>
      <p:sp>
        <p:nvSpPr>
          <p:cNvPr id="25" name="callout-body"/>
          <p:cNvSpPr>
            <a:spLocks noGrp="1"/>
          </p:cNvSpPr>
          <p:nvPr/>
        </p:nvSpPr>
        <p:spPr>
          <a:xfrm>
            <a:off x="9629775" y="1667510"/>
            <a:ext cx="2162175" cy="1885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indent="0" algn="l">
              <a:lnSpc>
                <a:spcPct val="150000"/>
              </a:lnSpc>
              <a:spcAft>
                <a:spcPts val="0"/>
              </a:spcAft>
              <a:buChar char="•"/>
              <a:defRPr sz="124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人工注释与 scGPT 预测的主要细胞群位置一致。</a:t>
            </a:r>
          </a:p>
          <a:p>
            <a:pPr indent="0" algn="l">
              <a:lnSpc>
                <a:spcPct val="150000"/>
              </a:lnSpc>
              <a:spcAft>
                <a:spcPts val="0"/>
              </a:spcAft>
              <a:buChar char="•"/>
              <a:defRPr sz="124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混淆矩阵信号集中在对角线。</a:t>
            </a:r>
          </a:p>
          <a:p>
            <a:pPr indent="0" algn="l">
              <a:lnSpc>
                <a:spcPct val="150000"/>
              </a:lnSpc>
              <a:spcAft>
                <a:spcPts val="0"/>
              </a:spcAft>
              <a:buChar char="•"/>
              <a:defRPr sz="124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512 维嵌入中，同类细胞形成一致表示。</a:t>
            </a:r>
          </a:p>
        </p:txBody>
      </p:sp>
      <p:sp>
        <p:nvSpPr>
          <p:cNvPr id="26" name="callout-conclusion"/>
          <p:cNvSpPr>
            <a:spLocks noGrp="1"/>
          </p:cNvSpPr>
          <p:nvPr/>
        </p:nvSpPr>
        <p:spPr>
          <a:xfrm>
            <a:off x="9629775" y="3452495"/>
            <a:ext cx="21621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65" b="1">
                <a:solidFill>
                  <a:srgbClr val="C733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1">
                <a:solidFill>
                  <a:srgbClr val="C733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预训练表示可用少量监督快速适配。</a:t>
            </a:r>
          </a:p>
        </p:txBody>
      </p:sp>
      <p:sp>
        <p:nvSpPr>
          <p:cNvPr id="27" name="figure-label"/>
          <p:cNvSpPr>
            <a:spLocks noGrp="1"/>
          </p:cNvSpPr>
          <p:nvPr/>
        </p:nvSpPr>
        <p:spPr>
          <a:xfrm>
            <a:off x="1571625" y="4686935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0">
                <a:solidFill>
                  <a:srgbClr val="5F6B7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F6B7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Fig. 2a–c</a:t>
            </a:r>
          </a:p>
        </p:txBody>
      </p:sp>
      <p:sp>
        <p:nvSpPr>
          <p:cNvPr id="28" name="result1-summary"/>
          <p:cNvSpPr>
            <a:spLocks noGrp="1"/>
          </p:cNvSpPr>
          <p:nvPr/>
        </p:nvSpPr>
        <p:spPr>
          <a:xfrm>
            <a:off x="1714500" y="5153660"/>
            <a:ext cx="9620250" cy="735330"/>
          </a:xfrm>
          <a:prstGeom prst="rect">
            <a:avLst/>
          </a:prstGeom>
          <a:solidFill>
            <a:srgbClr val="EEF7FD"/>
          </a:solidFill>
          <a:ln w="9525">
            <a:solidFill>
              <a:srgbClr val="BCD5E5"/>
            </a:solidFill>
            <a:prstDash val="solid"/>
          </a:ln>
        </p:spPr>
      </p:sp>
      <p:sp>
        <p:nvSpPr>
          <p:cNvPr id="29" name="result1-conclusion"/>
          <p:cNvSpPr>
            <a:spLocks noGrp="1"/>
          </p:cNvSpPr>
          <p:nvPr/>
        </p:nvSpPr>
        <p:spPr>
          <a:xfrm>
            <a:off x="1991360" y="5300980"/>
            <a:ext cx="914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5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结论：</a:t>
            </a:r>
            <a:r>
              <a:rPr sz="165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scGPT 的价值不只在单一数据集的高精度，更在于预训练后可迁移到新的注释任务。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left-nav-bg"/>
          <p:cNvSpPr>
            <a:spLocks noGrp="1"/>
          </p:cNvSpPr>
          <p:nvPr/>
        </p:nvSpPr>
        <p:spPr>
          <a:xfrm>
            <a:off x="0" y="0"/>
            <a:ext cx="990600" cy="6858000"/>
          </a:xfrm>
          <a:prstGeom prst="rect">
            <a:avLst/>
          </a:prstGeom>
          <a:solidFill>
            <a:srgbClr val="123D8D"/>
          </a:solidFill>
          <a:ln w="0">
            <a:solidFill>
              <a:srgbClr val="123D8D"/>
            </a:solidFill>
            <a:prstDash val="solid"/>
          </a:ln>
        </p:spPr>
      </p:sp>
      <p:sp>
        <p:nvSpPr>
          <p:cNvPr id="2" name="nav-label"/>
          <p:cNvSpPr>
            <a:spLocks noGrp="1"/>
          </p:cNvSpPr>
          <p:nvPr/>
        </p:nvSpPr>
        <p:spPr>
          <a:xfrm>
            <a:off x="28575" y="2667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课题组文献汇报</a:t>
            </a:r>
          </a:p>
        </p:txBody>
      </p:sp>
      <p:sp>
        <p:nvSpPr>
          <p:cNvPr id="3" name="nav-0"/>
          <p:cNvSpPr>
            <a:spLocks noGrp="1"/>
          </p:cNvSpPr>
          <p:nvPr/>
        </p:nvSpPr>
        <p:spPr>
          <a:xfrm>
            <a:off x="57150" y="2095500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4" name="nav-text-0"/>
          <p:cNvSpPr>
            <a:spLocks noGrp="1"/>
          </p:cNvSpPr>
          <p:nvPr/>
        </p:nvSpPr>
        <p:spPr>
          <a:xfrm>
            <a:off x="85725" y="2181225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基本信息</a:t>
            </a:r>
          </a:p>
        </p:txBody>
      </p:sp>
      <p:sp>
        <p:nvSpPr>
          <p:cNvPr id="5" name="nav-1"/>
          <p:cNvSpPr>
            <a:spLocks noGrp="1"/>
          </p:cNvSpPr>
          <p:nvPr/>
        </p:nvSpPr>
        <p:spPr>
          <a:xfrm>
            <a:off x="57150" y="2562225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6" name="nav-text-1"/>
          <p:cNvSpPr>
            <a:spLocks noGrp="1"/>
          </p:cNvSpPr>
          <p:nvPr/>
        </p:nvSpPr>
        <p:spPr>
          <a:xfrm>
            <a:off x="85725" y="2647950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研究背景</a:t>
            </a:r>
          </a:p>
        </p:txBody>
      </p:sp>
      <p:sp>
        <p:nvSpPr>
          <p:cNvPr id="7" name="nav-2"/>
          <p:cNvSpPr>
            <a:spLocks noGrp="1"/>
          </p:cNvSpPr>
          <p:nvPr/>
        </p:nvSpPr>
        <p:spPr>
          <a:xfrm>
            <a:off x="57150" y="3028950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8" name="nav-text-2"/>
          <p:cNvSpPr>
            <a:spLocks noGrp="1"/>
          </p:cNvSpPr>
          <p:nvPr/>
        </p:nvSpPr>
        <p:spPr>
          <a:xfrm>
            <a:off x="85725" y="3114675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研究思路</a:t>
            </a:r>
          </a:p>
        </p:txBody>
      </p:sp>
      <p:sp>
        <p:nvSpPr>
          <p:cNvPr id="9" name="nav-3"/>
          <p:cNvSpPr>
            <a:spLocks noGrp="1"/>
          </p:cNvSpPr>
          <p:nvPr/>
        </p:nvSpPr>
        <p:spPr>
          <a:xfrm>
            <a:off x="57150" y="3495675"/>
            <a:ext cx="876300" cy="409575"/>
          </a:xfrm>
          <a:prstGeom prst="rect">
            <a:avLst/>
          </a:prstGeom>
          <a:solidFill>
            <a:srgbClr val="EEF7F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nav-text-3"/>
          <p:cNvSpPr>
            <a:spLocks noGrp="1"/>
          </p:cNvSpPr>
          <p:nvPr/>
        </p:nvSpPr>
        <p:spPr>
          <a:xfrm>
            <a:off x="85725" y="3581400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123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23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研究结果</a:t>
            </a:r>
          </a:p>
        </p:txBody>
      </p:sp>
      <p:sp>
        <p:nvSpPr>
          <p:cNvPr id="11" name="nav-4"/>
          <p:cNvSpPr>
            <a:spLocks noGrp="1"/>
          </p:cNvSpPr>
          <p:nvPr/>
        </p:nvSpPr>
        <p:spPr>
          <a:xfrm>
            <a:off x="57150" y="3962400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12" name="nav-text-4"/>
          <p:cNvSpPr>
            <a:spLocks noGrp="1"/>
          </p:cNvSpPr>
          <p:nvPr/>
        </p:nvSpPr>
        <p:spPr>
          <a:xfrm>
            <a:off x="85725" y="4048125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结论与讨论</a:t>
            </a:r>
          </a:p>
        </p:txBody>
      </p:sp>
      <p:sp>
        <p:nvSpPr>
          <p:cNvPr id="13" name="nav-5"/>
          <p:cNvSpPr>
            <a:spLocks noGrp="1"/>
          </p:cNvSpPr>
          <p:nvPr/>
        </p:nvSpPr>
        <p:spPr>
          <a:xfrm>
            <a:off x="57150" y="4429125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14" name="nav-text-5"/>
          <p:cNvSpPr>
            <a:spLocks noGrp="1"/>
          </p:cNvSpPr>
          <p:nvPr/>
        </p:nvSpPr>
        <p:spPr>
          <a:xfrm>
            <a:off x="85725" y="4514850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创新与启发</a:t>
            </a:r>
          </a:p>
        </p:txBody>
      </p:sp>
      <p:sp>
        <p:nvSpPr>
          <p:cNvPr id="15" name="title-square"/>
          <p:cNvSpPr>
            <a:spLocks noGrp="1"/>
          </p:cNvSpPr>
          <p:nvPr/>
        </p:nvSpPr>
        <p:spPr>
          <a:xfrm>
            <a:off x="1162050" y="228600"/>
            <a:ext cx="114300" cy="190500"/>
          </a:xfrm>
          <a:prstGeom prst="rect">
            <a:avLst/>
          </a:prstGeom>
          <a:solidFill>
            <a:srgbClr val="123D8D"/>
          </a:solidFill>
          <a:ln w="0">
            <a:solidFill>
              <a:srgbClr val="123D8D"/>
            </a:solidFill>
            <a:prstDash val="solid"/>
          </a:ln>
        </p:spPr>
      </p:sp>
      <p:sp>
        <p:nvSpPr>
          <p:cNvPr id="16" name="slide-title"/>
          <p:cNvSpPr>
            <a:spLocks noGrp="1"/>
          </p:cNvSpPr>
          <p:nvPr/>
        </p:nvSpPr>
        <p:spPr>
          <a:xfrm>
            <a:off x="1352550" y="161925"/>
            <a:ext cx="8334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buNone/>
              <a:defRPr sz="2025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4.1  研究结果1：scGPT 在跨癌种、跨疾病数据上保持稳定注释性能</a:t>
            </a:r>
          </a:p>
        </p:txBody>
      </p:sp>
      <p:sp>
        <p:nvSpPr>
          <p:cNvPr id="17" name="title-rule"/>
          <p:cNvSpPr>
            <a:spLocks noGrp="1"/>
          </p:cNvSpPr>
          <p:nvPr/>
        </p:nvSpPr>
        <p:spPr>
          <a:xfrm>
            <a:off x="1162050" y="590550"/>
            <a:ext cx="8715375" cy="19050"/>
          </a:xfrm>
          <a:prstGeom prst="rect">
            <a:avLst/>
          </a:prstGeom>
          <a:solidFill>
            <a:srgbClr val="123D8D"/>
          </a:solidFill>
          <a:ln w="0">
            <a:solidFill>
              <a:srgbClr val="123D8D"/>
            </a:solidFill>
            <a:prstDash val="solid"/>
          </a:ln>
        </p:spPr>
      </p:sp>
      <p:pic>
        <p:nvPicPr>
          <p:cNvPr id="49" name="图片 4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0791" y="66675"/>
            <a:ext cx="1608794" cy="514350"/>
          </a:xfrm>
          <a:prstGeom prst="rect">
            <a:avLst/>
          </a:prstGeom>
        </p:spPr>
      </p:pic>
      <p:sp>
        <p:nvSpPr>
          <p:cNvPr id="19" name="page-number"/>
          <p:cNvSpPr>
            <a:spLocks noGrp="1"/>
          </p:cNvSpPr>
          <p:nvPr/>
        </p:nvSpPr>
        <p:spPr>
          <a:xfrm>
            <a:off x="11382375" y="64865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0">
                <a:solidFill>
                  <a:srgbClr val="7A889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7A889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10</a:t>
            </a:r>
          </a:p>
        </p:txBody>
      </p:sp>
      <p:sp>
        <p:nvSpPr>
          <p:cNvPr id="20" name="citation-footer"/>
          <p:cNvSpPr>
            <a:spLocks noGrp="1"/>
          </p:cNvSpPr>
          <p:nvPr/>
        </p:nvSpPr>
        <p:spPr>
          <a:xfrm>
            <a:off x="1162050" y="64579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7A889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>
                <a:solidFill>
                  <a:srgbClr val="7A889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Cui et al. | Nature Methods 21, 1470–1480 (2024)</a:t>
            </a:r>
          </a:p>
        </p:txBody>
      </p:sp>
      <p:sp>
        <p:nvSpPr>
          <p:cNvPr id="21" name="fig2-frame"/>
          <p:cNvSpPr>
            <a:spLocks noGrp="1"/>
          </p:cNvSpPr>
          <p:nvPr/>
        </p:nvSpPr>
        <p:spPr>
          <a:xfrm>
            <a:off x="1476375" y="847725"/>
            <a:ext cx="7905750" cy="4857750"/>
          </a:xfrm>
          <a:prstGeom prst="rect">
            <a:avLst/>
          </a:prstGeom>
          <a:solidFill>
            <a:srgbClr val="FFFFFF"/>
          </a:solidFill>
          <a:ln w="9525">
            <a:solidFill>
              <a:srgbClr val="A7B9C8"/>
            </a:solidFill>
            <a:prstDash val="solid"/>
          </a:ln>
        </p:spPr>
      </p:sp>
      <p:pic>
        <p:nvPicPr>
          <p:cNvPr id="53" name="图片 4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2743" y="895350"/>
            <a:ext cx="5373013" cy="4762500"/>
          </a:xfrm>
          <a:prstGeom prst="rect">
            <a:avLst/>
          </a:prstGeom>
        </p:spPr>
      </p:pic>
      <p:sp>
        <p:nvSpPr>
          <p:cNvPr id="23" name="callout-box"/>
          <p:cNvSpPr>
            <a:spLocks noGrp="1"/>
          </p:cNvSpPr>
          <p:nvPr/>
        </p:nvSpPr>
        <p:spPr>
          <a:xfrm>
            <a:off x="9620250" y="1190625"/>
            <a:ext cx="2305050" cy="3238500"/>
          </a:xfrm>
          <a:prstGeom prst="rect">
            <a:avLst/>
          </a:prstGeom>
          <a:solidFill>
            <a:srgbClr val="DCEEFF"/>
          </a:solidFill>
          <a:ln w="9525">
            <a:solidFill>
              <a:srgbClr val="B9D6EA"/>
            </a:solidFill>
            <a:prstDash val="solid"/>
          </a:ln>
        </p:spPr>
      </p:sp>
      <p:sp>
        <p:nvSpPr>
          <p:cNvPr id="24" name="callout-title"/>
          <p:cNvSpPr>
            <a:spLocks noGrp="1"/>
          </p:cNvSpPr>
          <p:nvPr/>
        </p:nvSpPr>
        <p:spPr>
          <a:xfrm>
            <a:off x="9734550" y="1285875"/>
            <a:ext cx="2076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1">
                <a:solidFill>
                  <a:srgbClr val="123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23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跨域验证</a:t>
            </a:r>
          </a:p>
        </p:txBody>
      </p:sp>
      <p:sp>
        <p:nvSpPr>
          <p:cNvPr id="25" name="callout-body"/>
          <p:cNvSpPr>
            <a:spLocks noGrp="1"/>
          </p:cNvSpPr>
          <p:nvPr/>
        </p:nvSpPr>
        <p:spPr>
          <a:xfrm>
            <a:off x="9753600" y="1666875"/>
            <a:ext cx="2038350" cy="2171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indent="0" algn="l">
              <a:lnSpc>
                <a:spcPct val="150000"/>
              </a:lnSpc>
              <a:spcAft>
                <a:spcPts val="0"/>
              </a:spcAft>
              <a:buChar char="•"/>
              <a:defRPr sz="124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参考集与查询集来自不同癌种，用于测试跨域迁移。</a:t>
            </a:r>
          </a:p>
          <a:p>
            <a:pPr indent="0" algn="l">
              <a:lnSpc>
                <a:spcPct val="150000"/>
              </a:lnSpc>
              <a:spcAft>
                <a:spcPts val="0"/>
              </a:spcAft>
              <a:buChar char="•"/>
              <a:defRPr sz="124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三套数据比较 Accuracy、Precision、Recall 和 Macro-F1。</a:t>
            </a:r>
          </a:p>
          <a:p>
            <a:pPr indent="0" algn="l">
              <a:lnSpc>
                <a:spcPct val="150000"/>
              </a:lnSpc>
              <a:spcAft>
                <a:spcPts val="0"/>
              </a:spcAft>
              <a:buChar char="•"/>
              <a:defRPr sz="124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scGPT 整体不低于 TOSICA 与 scBERT。</a:t>
            </a:r>
          </a:p>
        </p:txBody>
      </p:sp>
      <p:sp>
        <p:nvSpPr>
          <p:cNvPr id="26" name="callout-conclusion"/>
          <p:cNvSpPr>
            <a:spLocks noGrp="1"/>
          </p:cNvSpPr>
          <p:nvPr/>
        </p:nvSpPr>
        <p:spPr>
          <a:xfrm>
            <a:off x="9753600" y="3952875"/>
            <a:ext cx="2038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65" b="1">
                <a:solidFill>
                  <a:srgbClr val="C733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1">
                <a:solidFill>
                  <a:srgbClr val="C733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跨域性能改善，但仍依赖任务微调。</a:t>
            </a:r>
          </a:p>
        </p:txBody>
      </p:sp>
      <p:sp>
        <p:nvSpPr>
          <p:cNvPr id="27" name="figure-label"/>
          <p:cNvSpPr>
            <a:spLocks noGrp="1"/>
          </p:cNvSpPr>
          <p:nvPr/>
        </p:nvSpPr>
        <p:spPr>
          <a:xfrm>
            <a:off x="1571625" y="5772150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0">
                <a:solidFill>
                  <a:srgbClr val="5F6B7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F6B7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Fig. 2d–j</a:t>
            </a:r>
          </a:p>
        </p:txBody>
      </p:sp>
      <p:sp>
        <p:nvSpPr>
          <p:cNvPr id="28" name="evaluation-focus"/>
          <p:cNvSpPr>
            <a:spLocks noGrp="1"/>
          </p:cNvSpPr>
          <p:nvPr/>
        </p:nvSpPr>
        <p:spPr>
          <a:xfrm>
            <a:off x="9525000" y="4762500"/>
            <a:ext cx="2381250" cy="857250"/>
          </a:xfrm>
          <a:prstGeom prst="rect">
            <a:avLst/>
          </a:prstGeom>
          <a:solidFill>
            <a:srgbClr val="FBE9EB"/>
          </a:solidFill>
          <a:ln w="9525">
            <a:solidFill>
              <a:srgbClr val="E6AAB0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C733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C733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评价重点：跨数据集指标能否持续改善，而不是 UMAP 是否“漂亮”。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left-nav-bg"/>
          <p:cNvSpPr>
            <a:spLocks noGrp="1"/>
          </p:cNvSpPr>
          <p:nvPr/>
        </p:nvSpPr>
        <p:spPr>
          <a:xfrm>
            <a:off x="0" y="0"/>
            <a:ext cx="990600" cy="6858000"/>
          </a:xfrm>
          <a:prstGeom prst="rect">
            <a:avLst/>
          </a:prstGeom>
          <a:solidFill>
            <a:srgbClr val="123D8D"/>
          </a:solidFill>
          <a:ln w="0">
            <a:solidFill>
              <a:srgbClr val="123D8D"/>
            </a:solidFill>
            <a:prstDash val="solid"/>
          </a:ln>
        </p:spPr>
      </p:sp>
      <p:sp>
        <p:nvSpPr>
          <p:cNvPr id="2" name="nav-label"/>
          <p:cNvSpPr>
            <a:spLocks noGrp="1"/>
          </p:cNvSpPr>
          <p:nvPr/>
        </p:nvSpPr>
        <p:spPr>
          <a:xfrm>
            <a:off x="28575" y="2667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课题组文献汇报</a:t>
            </a:r>
          </a:p>
        </p:txBody>
      </p:sp>
      <p:sp>
        <p:nvSpPr>
          <p:cNvPr id="3" name="nav-0"/>
          <p:cNvSpPr>
            <a:spLocks noGrp="1"/>
          </p:cNvSpPr>
          <p:nvPr/>
        </p:nvSpPr>
        <p:spPr>
          <a:xfrm>
            <a:off x="57150" y="2095500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4" name="nav-text-0"/>
          <p:cNvSpPr>
            <a:spLocks noGrp="1"/>
          </p:cNvSpPr>
          <p:nvPr/>
        </p:nvSpPr>
        <p:spPr>
          <a:xfrm>
            <a:off x="85725" y="2181225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基本信息</a:t>
            </a:r>
          </a:p>
        </p:txBody>
      </p:sp>
      <p:sp>
        <p:nvSpPr>
          <p:cNvPr id="5" name="nav-1"/>
          <p:cNvSpPr>
            <a:spLocks noGrp="1"/>
          </p:cNvSpPr>
          <p:nvPr/>
        </p:nvSpPr>
        <p:spPr>
          <a:xfrm>
            <a:off x="57150" y="2562225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6" name="nav-text-1"/>
          <p:cNvSpPr>
            <a:spLocks noGrp="1"/>
          </p:cNvSpPr>
          <p:nvPr/>
        </p:nvSpPr>
        <p:spPr>
          <a:xfrm>
            <a:off x="85725" y="2647950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研究背景</a:t>
            </a:r>
          </a:p>
        </p:txBody>
      </p:sp>
      <p:sp>
        <p:nvSpPr>
          <p:cNvPr id="7" name="nav-2"/>
          <p:cNvSpPr>
            <a:spLocks noGrp="1"/>
          </p:cNvSpPr>
          <p:nvPr/>
        </p:nvSpPr>
        <p:spPr>
          <a:xfrm>
            <a:off x="57150" y="3028950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8" name="nav-text-2"/>
          <p:cNvSpPr>
            <a:spLocks noGrp="1"/>
          </p:cNvSpPr>
          <p:nvPr/>
        </p:nvSpPr>
        <p:spPr>
          <a:xfrm>
            <a:off x="85725" y="3114675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研究思路</a:t>
            </a:r>
          </a:p>
        </p:txBody>
      </p:sp>
      <p:sp>
        <p:nvSpPr>
          <p:cNvPr id="9" name="nav-3"/>
          <p:cNvSpPr>
            <a:spLocks noGrp="1"/>
          </p:cNvSpPr>
          <p:nvPr/>
        </p:nvSpPr>
        <p:spPr>
          <a:xfrm>
            <a:off x="57150" y="3495675"/>
            <a:ext cx="876300" cy="409575"/>
          </a:xfrm>
          <a:prstGeom prst="rect">
            <a:avLst/>
          </a:prstGeom>
          <a:solidFill>
            <a:srgbClr val="EEF7F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nav-text-3"/>
          <p:cNvSpPr>
            <a:spLocks noGrp="1"/>
          </p:cNvSpPr>
          <p:nvPr/>
        </p:nvSpPr>
        <p:spPr>
          <a:xfrm>
            <a:off x="85725" y="3581400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123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23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研究结果</a:t>
            </a:r>
          </a:p>
        </p:txBody>
      </p:sp>
      <p:sp>
        <p:nvSpPr>
          <p:cNvPr id="11" name="nav-4"/>
          <p:cNvSpPr>
            <a:spLocks noGrp="1"/>
          </p:cNvSpPr>
          <p:nvPr/>
        </p:nvSpPr>
        <p:spPr>
          <a:xfrm>
            <a:off x="57150" y="3962400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12" name="nav-text-4"/>
          <p:cNvSpPr>
            <a:spLocks noGrp="1"/>
          </p:cNvSpPr>
          <p:nvPr/>
        </p:nvSpPr>
        <p:spPr>
          <a:xfrm>
            <a:off x="85725" y="4048125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结论与讨论</a:t>
            </a:r>
          </a:p>
        </p:txBody>
      </p:sp>
      <p:sp>
        <p:nvSpPr>
          <p:cNvPr id="13" name="nav-5"/>
          <p:cNvSpPr>
            <a:spLocks noGrp="1"/>
          </p:cNvSpPr>
          <p:nvPr/>
        </p:nvSpPr>
        <p:spPr>
          <a:xfrm>
            <a:off x="57150" y="4429125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14" name="nav-text-5"/>
          <p:cNvSpPr>
            <a:spLocks noGrp="1"/>
          </p:cNvSpPr>
          <p:nvPr/>
        </p:nvSpPr>
        <p:spPr>
          <a:xfrm>
            <a:off x="85725" y="4514850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创新与启发</a:t>
            </a:r>
          </a:p>
        </p:txBody>
      </p:sp>
      <p:sp>
        <p:nvSpPr>
          <p:cNvPr id="15" name="title-square"/>
          <p:cNvSpPr>
            <a:spLocks noGrp="1"/>
          </p:cNvSpPr>
          <p:nvPr/>
        </p:nvSpPr>
        <p:spPr>
          <a:xfrm>
            <a:off x="1162050" y="228600"/>
            <a:ext cx="114300" cy="190500"/>
          </a:xfrm>
          <a:prstGeom prst="rect">
            <a:avLst/>
          </a:prstGeom>
          <a:solidFill>
            <a:srgbClr val="123D8D"/>
          </a:solidFill>
          <a:ln w="0">
            <a:solidFill>
              <a:srgbClr val="123D8D"/>
            </a:solidFill>
            <a:prstDash val="solid"/>
          </a:ln>
        </p:spPr>
      </p:sp>
      <p:sp>
        <p:nvSpPr>
          <p:cNvPr id="16" name="slide-title"/>
          <p:cNvSpPr>
            <a:spLocks noGrp="1"/>
          </p:cNvSpPr>
          <p:nvPr/>
        </p:nvSpPr>
        <p:spPr>
          <a:xfrm>
            <a:off x="1352550" y="161925"/>
            <a:ext cx="8334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buNone/>
              <a:defRPr sz="2025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4.2  研究结果2：scGPT 更准确地预测基因扰动后的表达变化</a:t>
            </a:r>
          </a:p>
        </p:txBody>
      </p:sp>
      <p:sp>
        <p:nvSpPr>
          <p:cNvPr id="17" name="title-rule"/>
          <p:cNvSpPr>
            <a:spLocks noGrp="1"/>
          </p:cNvSpPr>
          <p:nvPr/>
        </p:nvSpPr>
        <p:spPr>
          <a:xfrm>
            <a:off x="1162050" y="590550"/>
            <a:ext cx="8715375" cy="19050"/>
          </a:xfrm>
          <a:prstGeom prst="rect">
            <a:avLst/>
          </a:prstGeom>
          <a:solidFill>
            <a:srgbClr val="123D8D"/>
          </a:solidFill>
          <a:ln w="0">
            <a:solidFill>
              <a:srgbClr val="123D8D"/>
            </a:solidFill>
            <a:prstDash val="solid"/>
          </a:ln>
        </p:spPr>
      </p:sp>
      <p:pic>
        <p:nvPicPr>
          <p:cNvPr id="50" name="图片 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0791" y="66675"/>
            <a:ext cx="1608794" cy="514350"/>
          </a:xfrm>
          <a:prstGeom prst="rect">
            <a:avLst/>
          </a:prstGeom>
        </p:spPr>
      </p:pic>
      <p:sp>
        <p:nvSpPr>
          <p:cNvPr id="19" name="page-number"/>
          <p:cNvSpPr>
            <a:spLocks noGrp="1"/>
          </p:cNvSpPr>
          <p:nvPr/>
        </p:nvSpPr>
        <p:spPr>
          <a:xfrm>
            <a:off x="11382375" y="64865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0">
                <a:solidFill>
                  <a:srgbClr val="7A889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7A889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11</a:t>
            </a:r>
          </a:p>
        </p:txBody>
      </p:sp>
      <p:sp>
        <p:nvSpPr>
          <p:cNvPr id="20" name="citation-footer"/>
          <p:cNvSpPr>
            <a:spLocks noGrp="1"/>
          </p:cNvSpPr>
          <p:nvPr/>
        </p:nvSpPr>
        <p:spPr>
          <a:xfrm>
            <a:off x="1162050" y="64579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7A889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>
                <a:solidFill>
                  <a:srgbClr val="7A889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Cui et al. | Nature Methods 21, 1470–1480 (2024)</a:t>
            </a:r>
          </a:p>
        </p:txBody>
      </p:sp>
      <p:sp>
        <p:nvSpPr>
          <p:cNvPr id="21" name="fig3-frame"/>
          <p:cNvSpPr>
            <a:spLocks noGrp="1"/>
          </p:cNvSpPr>
          <p:nvPr/>
        </p:nvSpPr>
        <p:spPr>
          <a:xfrm>
            <a:off x="1476375" y="923925"/>
            <a:ext cx="7810500" cy="3524250"/>
          </a:xfrm>
          <a:prstGeom prst="rect">
            <a:avLst/>
          </a:prstGeom>
          <a:solidFill>
            <a:srgbClr val="FFFFFF"/>
          </a:solidFill>
          <a:ln w="9525">
            <a:solidFill>
              <a:srgbClr val="A7B9C8"/>
            </a:solidFill>
            <a:prstDash val="solid"/>
          </a:ln>
        </p:spPr>
      </p:sp>
      <p:pic>
        <p:nvPicPr>
          <p:cNvPr id="54" name="图片 5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9117" y="971550"/>
            <a:ext cx="3185016" cy="3429000"/>
          </a:xfrm>
          <a:prstGeom prst="rect">
            <a:avLst/>
          </a:prstGeom>
        </p:spPr>
      </p:pic>
      <p:sp>
        <p:nvSpPr>
          <p:cNvPr id="23" name="callout-box"/>
          <p:cNvSpPr>
            <a:spLocks noGrp="1"/>
          </p:cNvSpPr>
          <p:nvPr/>
        </p:nvSpPr>
        <p:spPr>
          <a:xfrm>
            <a:off x="9525000" y="1143000"/>
            <a:ext cx="2400300" cy="3305175"/>
          </a:xfrm>
          <a:prstGeom prst="rect">
            <a:avLst/>
          </a:prstGeom>
          <a:solidFill>
            <a:srgbClr val="DCEEFF"/>
          </a:solidFill>
          <a:ln w="9525">
            <a:solidFill>
              <a:srgbClr val="B9D6EA"/>
            </a:solidFill>
            <a:prstDash val="solid"/>
          </a:ln>
        </p:spPr>
      </p:sp>
      <p:sp>
        <p:nvSpPr>
          <p:cNvPr id="24" name="callout-title"/>
          <p:cNvSpPr>
            <a:spLocks noGrp="1"/>
          </p:cNvSpPr>
          <p:nvPr/>
        </p:nvSpPr>
        <p:spPr>
          <a:xfrm>
            <a:off x="9639300" y="1238250"/>
            <a:ext cx="2171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1">
                <a:solidFill>
                  <a:srgbClr val="123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23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三组 Perturb-seq</a:t>
            </a:r>
          </a:p>
        </p:txBody>
      </p:sp>
      <p:sp>
        <p:nvSpPr>
          <p:cNvPr id="25" name="callout-body"/>
          <p:cNvSpPr>
            <a:spLocks noGrp="1"/>
          </p:cNvSpPr>
          <p:nvPr/>
        </p:nvSpPr>
        <p:spPr>
          <a:xfrm>
            <a:off x="9658350" y="1619250"/>
            <a:ext cx="2133600" cy="179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indent="0" algn="l">
              <a:lnSpc>
                <a:spcPct val="150000"/>
              </a:lnSpc>
              <a:spcAft>
                <a:spcPts val="0"/>
              </a:spcAft>
              <a:buChar char="•"/>
              <a:defRPr sz="124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Adamson、Norman、Replogle 覆盖不同扰动设计。</a:t>
            </a:r>
          </a:p>
          <a:p>
            <a:pPr indent="0" algn="l">
              <a:lnSpc>
                <a:spcPct val="150000"/>
              </a:lnSpc>
              <a:spcAft>
                <a:spcPts val="0"/>
              </a:spcAft>
              <a:buChar char="•"/>
              <a:defRPr sz="124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以预测与真实表达变化的 Pearson 相关评价。</a:t>
            </a:r>
          </a:p>
          <a:p>
            <a:pPr indent="0" algn="l">
              <a:lnSpc>
                <a:spcPct val="150000"/>
              </a:lnSpc>
              <a:spcAft>
                <a:spcPts val="0"/>
              </a:spcAft>
              <a:buChar char="•"/>
              <a:defRPr sz="124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论文中 scGPT 高于 GEARS 与线性基线。</a:t>
            </a:r>
          </a:p>
        </p:txBody>
      </p:sp>
      <p:sp>
        <p:nvSpPr>
          <p:cNvPr id="26" name="callout-conclusion"/>
          <p:cNvSpPr>
            <a:spLocks noGrp="1"/>
          </p:cNvSpPr>
          <p:nvPr/>
        </p:nvSpPr>
        <p:spPr>
          <a:xfrm>
            <a:off x="9658350" y="3811270"/>
            <a:ext cx="2133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65" b="1">
                <a:solidFill>
                  <a:srgbClr val="C733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1">
                <a:solidFill>
                  <a:srgbClr val="C733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DAD1、KCTD16 示例中，预测接近真实变化。</a:t>
            </a:r>
          </a:p>
        </p:txBody>
      </p:sp>
      <p:sp>
        <p:nvSpPr>
          <p:cNvPr id="27" name="figure-label"/>
          <p:cNvSpPr>
            <a:spLocks noGrp="1"/>
          </p:cNvSpPr>
          <p:nvPr/>
        </p:nvSpPr>
        <p:spPr>
          <a:xfrm>
            <a:off x="1571625" y="4552950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0">
                <a:solidFill>
                  <a:srgbClr val="5F6B7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F6B7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Fig. 3a–b</a:t>
            </a:r>
          </a:p>
        </p:txBody>
      </p:sp>
      <p:sp>
        <p:nvSpPr>
          <p:cNvPr id="28" name="perturb-summary"/>
          <p:cNvSpPr>
            <a:spLocks noGrp="1"/>
          </p:cNvSpPr>
          <p:nvPr/>
        </p:nvSpPr>
        <p:spPr>
          <a:xfrm>
            <a:off x="1762125" y="5010150"/>
            <a:ext cx="9525000" cy="781050"/>
          </a:xfrm>
          <a:prstGeom prst="rect">
            <a:avLst/>
          </a:prstGeom>
          <a:solidFill>
            <a:srgbClr val="EEF7FD"/>
          </a:solidFill>
          <a:ln w="9525">
            <a:solidFill>
              <a:srgbClr val="BCD5E5"/>
            </a:solidFill>
            <a:prstDash val="solid"/>
          </a:ln>
        </p:spPr>
      </p:sp>
      <p:sp>
        <p:nvSpPr>
          <p:cNvPr id="29" name="perturb-conclusion"/>
          <p:cNvSpPr>
            <a:spLocks noGrp="1"/>
          </p:cNvSpPr>
          <p:nvPr/>
        </p:nvSpPr>
        <p:spPr>
          <a:xfrm>
            <a:off x="2000250" y="5191125"/>
            <a:ext cx="9048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5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作者主张：</a:t>
            </a:r>
            <a:r>
              <a:rPr sz="165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预训练使模型获得可迁移的基因依赖表示，从而改善有限扰动数据下的预测。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left-nav-bg"/>
          <p:cNvSpPr>
            <a:spLocks noGrp="1"/>
          </p:cNvSpPr>
          <p:nvPr/>
        </p:nvSpPr>
        <p:spPr>
          <a:xfrm>
            <a:off x="0" y="0"/>
            <a:ext cx="990600" cy="6858000"/>
          </a:xfrm>
          <a:prstGeom prst="rect">
            <a:avLst/>
          </a:prstGeom>
          <a:solidFill>
            <a:srgbClr val="123D8D"/>
          </a:solidFill>
          <a:ln w="0">
            <a:solidFill>
              <a:srgbClr val="123D8D"/>
            </a:solidFill>
            <a:prstDash val="solid"/>
          </a:ln>
        </p:spPr>
      </p:sp>
      <p:sp>
        <p:nvSpPr>
          <p:cNvPr id="2" name="nav-label"/>
          <p:cNvSpPr>
            <a:spLocks noGrp="1"/>
          </p:cNvSpPr>
          <p:nvPr/>
        </p:nvSpPr>
        <p:spPr>
          <a:xfrm>
            <a:off x="28575" y="2667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课题组文献汇报</a:t>
            </a:r>
          </a:p>
        </p:txBody>
      </p:sp>
      <p:sp>
        <p:nvSpPr>
          <p:cNvPr id="3" name="nav-0"/>
          <p:cNvSpPr>
            <a:spLocks noGrp="1"/>
          </p:cNvSpPr>
          <p:nvPr/>
        </p:nvSpPr>
        <p:spPr>
          <a:xfrm>
            <a:off x="57150" y="2095500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4" name="nav-text-0"/>
          <p:cNvSpPr>
            <a:spLocks noGrp="1"/>
          </p:cNvSpPr>
          <p:nvPr/>
        </p:nvSpPr>
        <p:spPr>
          <a:xfrm>
            <a:off x="85725" y="2181225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基本信息</a:t>
            </a:r>
          </a:p>
        </p:txBody>
      </p:sp>
      <p:sp>
        <p:nvSpPr>
          <p:cNvPr id="5" name="nav-1"/>
          <p:cNvSpPr>
            <a:spLocks noGrp="1"/>
          </p:cNvSpPr>
          <p:nvPr/>
        </p:nvSpPr>
        <p:spPr>
          <a:xfrm>
            <a:off x="57150" y="2562225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6" name="nav-text-1"/>
          <p:cNvSpPr>
            <a:spLocks noGrp="1"/>
          </p:cNvSpPr>
          <p:nvPr/>
        </p:nvSpPr>
        <p:spPr>
          <a:xfrm>
            <a:off x="85725" y="2647950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研究背景</a:t>
            </a:r>
          </a:p>
        </p:txBody>
      </p:sp>
      <p:sp>
        <p:nvSpPr>
          <p:cNvPr id="7" name="nav-2"/>
          <p:cNvSpPr>
            <a:spLocks noGrp="1"/>
          </p:cNvSpPr>
          <p:nvPr/>
        </p:nvSpPr>
        <p:spPr>
          <a:xfrm>
            <a:off x="57150" y="3028950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8" name="nav-text-2"/>
          <p:cNvSpPr>
            <a:spLocks noGrp="1"/>
          </p:cNvSpPr>
          <p:nvPr/>
        </p:nvSpPr>
        <p:spPr>
          <a:xfrm>
            <a:off x="85725" y="3114675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研究思路</a:t>
            </a:r>
          </a:p>
        </p:txBody>
      </p:sp>
      <p:sp>
        <p:nvSpPr>
          <p:cNvPr id="9" name="nav-3"/>
          <p:cNvSpPr>
            <a:spLocks noGrp="1"/>
          </p:cNvSpPr>
          <p:nvPr/>
        </p:nvSpPr>
        <p:spPr>
          <a:xfrm>
            <a:off x="57150" y="3495675"/>
            <a:ext cx="876300" cy="409575"/>
          </a:xfrm>
          <a:prstGeom prst="rect">
            <a:avLst/>
          </a:prstGeom>
          <a:solidFill>
            <a:srgbClr val="EEF7F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nav-text-3"/>
          <p:cNvSpPr>
            <a:spLocks noGrp="1"/>
          </p:cNvSpPr>
          <p:nvPr/>
        </p:nvSpPr>
        <p:spPr>
          <a:xfrm>
            <a:off x="85725" y="3581400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123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23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研究结果</a:t>
            </a:r>
          </a:p>
        </p:txBody>
      </p:sp>
      <p:sp>
        <p:nvSpPr>
          <p:cNvPr id="11" name="nav-4"/>
          <p:cNvSpPr>
            <a:spLocks noGrp="1"/>
          </p:cNvSpPr>
          <p:nvPr/>
        </p:nvSpPr>
        <p:spPr>
          <a:xfrm>
            <a:off x="57150" y="3962400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12" name="nav-text-4"/>
          <p:cNvSpPr>
            <a:spLocks noGrp="1"/>
          </p:cNvSpPr>
          <p:nvPr/>
        </p:nvSpPr>
        <p:spPr>
          <a:xfrm>
            <a:off x="85725" y="4048125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结论与讨论</a:t>
            </a:r>
          </a:p>
        </p:txBody>
      </p:sp>
      <p:sp>
        <p:nvSpPr>
          <p:cNvPr id="13" name="nav-5"/>
          <p:cNvSpPr>
            <a:spLocks noGrp="1"/>
          </p:cNvSpPr>
          <p:nvPr/>
        </p:nvSpPr>
        <p:spPr>
          <a:xfrm>
            <a:off x="57150" y="4429125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14" name="nav-text-5"/>
          <p:cNvSpPr>
            <a:spLocks noGrp="1"/>
          </p:cNvSpPr>
          <p:nvPr/>
        </p:nvSpPr>
        <p:spPr>
          <a:xfrm>
            <a:off x="85725" y="4514850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创新与启发</a:t>
            </a:r>
          </a:p>
        </p:txBody>
      </p:sp>
      <p:sp>
        <p:nvSpPr>
          <p:cNvPr id="15" name="title-square"/>
          <p:cNvSpPr>
            <a:spLocks noGrp="1"/>
          </p:cNvSpPr>
          <p:nvPr/>
        </p:nvSpPr>
        <p:spPr>
          <a:xfrm>
            <a:off x="1162050" y="228600"/>
            <a:ext cx="114300" cy="190500"/>
          </a:xfrm>
          <a:prstGeom prst="rect">
            <a:avLst/>
          </a:prstGeom>
          <a:solidFill>
            <a:srgbClr val="123D8D"/>
          </a:solidFill>
          <a:ln w="0">
            <a:solidFill>
              <a:srgbClr val="123D8D"/>
            </a:solidFill>
            <a:prstDash val="solid"/>
          </a:ln>
        </p:spPr>
      </p:sp>
      <p:sp>
        <p:nvSpPr>
          <p:cNvPr id="16" name="slide-title"/>
          <p:cNvSpPr>
            <a:spLocks noGrp="1"/>
          </p:cNvSpPr>
          <p:nvPr/>
        </p:nvSpPr>
        <p:spPr>
          <a:xfrm>
            <a:off x="1352550" y="161925"/>
            <a:ext cx="8334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buNone/>
              <a:defRPr sz="2025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4.2  研究结果2：模型还能从表达结果反推未见过的扰动组合</a:t>
            </a:r>
          </a:p>
        </p:txBody>
      </p:sp>
      <p:sp>
        <p:nvSpPr>
          <p:cNvPr id="17" name="title-rule"/>
          <p:cNvSpPr>
            <a:spLocks noGrp="1"/>
          </p:cNvSpPr>
          <p:nvPr/>
        </p:nvSpPr>
        <p:spPr>
          <a:xfrm>
            <a:off x="1162050" y="590550"/>
            <a:ext cx="8715375" cy="19050"/>
          </a:xfrm>
          <a:prstGeom prst="rect">
            <a:avLst/>
          </a:prstGeom>
          <a:solidFill>
            <a:srgbClr val="123D8D"/>
          </a:solidFill>
          <a:ln w="0">
            <a:solidFill>
              <a:srgbClr val="123D8D"/>
            </a:solidFill>
            <a:prstDash val="solid"/>
          </a:ln>
        </p:spPr>
      </p:sp>
      <p:pic>
        <p:nvPicPr>
          <p:cNvPr id="49" name="图片 4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0791" y="66675"/>
            <a:ext cx="1608794" cy="514350"/>
          </a:xfrm>
          <a:prstGeom prst="rect">
            <a:avLst/>
          </a:prstGeom>
        </p:spPr>
      </p:pic>
      <p:sp>
        <p:nvSpPr>
          <p:cNvPr id="19" name="page-number"/>
          <p:cNvSpPr>
            <a:spLocks noGrp="1"/>
          </p:cNvSpPr>
          <p:nvPr/>
        </p:nvSpPr>
        <p:spPr>
          <a:xfrm>
            <a:off x="11382375" y="64865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0">
                <a:solidFill>
                  <a:srgbClr val="7A889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7A889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12</a:t>
            </a:r>
          </a:p>
        </p:txBody>
      </p:sp>
      <p:sp>
        <p:nvSpPr>
          <p:cNvPr id="20" name="citation-footer"/>
          <p:cNvSpPr>
            <a:spLocks noGrp="1"/>
          </p:cNvSpPr>
          <p:nvPr/>
        </p:nvSpPr>
        <p:spPr>
          <a:xfrm>
            <a:off x="1162050" y="64579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7A889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>
                <a:solidFill>
                  <a:srgbClr val="7A889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Cui et al. | Nature Methods 21, 1470–1480 (2024)</a:t>
            </a:r>
          </a:p>
        </p:txBody>
      </p:sp>
      <p:sp>
        <p:nvSpPr>
          <p:cNvPr id="21" name="fig3-frame"/>
          <p:cNvSpPr>
            <a:spLocks noGrp="1"/>
          </p:cNvSpPr>
          <p:nvPr/>
        </p:nvSpPr>
        <p:spPr>
          <a:xfrm>
            <a:off x="1476375" y="847725"/>
            <a:ext cx="7858125" cy="4953000"/>
          </a:xfrm>
          <a:prstGeom prst="rect">
            <a:avLst/>
          </a:prstGeom>
          <a:solidFill>
            <a:srgbClr val="FFFFFF"/>
          </a:solidFill>
          <a:ln w="9525">
            <a:solidFill>
              <a:srgbClr val="A7B9C8"/>
            </a:solidFill>
            <a:prstDash val="solid"/>
          </a:ln>
        </p:spPr>
      </p:sp>
      <p:pic>
        <p:nvPicPr>
          <p:cNvPr id="53" name="图片 4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9384" y="895350"/>
            <a:ext cx="4512106" cy="4857750"/>
          </a:xfrm>
          <a:prstGeom prst="rect">
            <a:avLst/>
          </a:prstGeom>
        </p:spPr>
      </p:pic>
      <p:sp>
        <p:nvSpPr>
          <p:cNvPr id="23" name="callout-box"/>
          <p:cNvSpPr>
            <a:spLocks noGrp="1"/>
          </p:cNvSpPr>
          <p:nvPr/>
        </p:nvSpPr>
        <p:spPr>
          <a:xfrm>
            <a:off x="9572625" y="1066800"/>
            <a:ext cx="2352675" cy="3286125"/>
          </a:xfrm>
          <a:prstGeom prst="rect">
            <a:avLst/>
          </a:prstGeom>
          <a:solidFill>
            <a:srgbClr val="DCEEFF"/>
          </a:solidFill>
          <a:ln w="9525">
            <a:solidFill>
              <a:srgbClr val="B9D6EA"/>
            </a:solidFill>
            <a:prstDash val="solid"/>
          </a:ln>
        </p:spPr>
      </p:sp>
      <p:sp>
        <p:nvSpPr>
          <p:cNvPr id="24" name="callout-title"/>
          <p:cNvSpPr>
            <a:spLocks noGrp="1"/>
          </p:cNvSpPr>
          <p:nvPr/>
        </p:nvSpPr>
        <p:spPr>
          <a:xfrm>
            <a:off x="9686925" y="1162050"/>
            <a:ext cx="21240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1">
                <a:solidFill>
                  <a:srgbClr val="123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23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生成与反推</a:t>
            </a:r>
          </a:p>
        </p:txBody>
      </p:sp>
      <p:sp>
        <p:nvSpPr>
          <p:cNvPr id="25" name="callout-body"/>
          <p:cNvSpPr>
            <a:spLocks noGrp="1"/>
          </p:cNvSpPr>
          <p:nvPr/>
        </p:nvSpPr>
        <p:spPr>
          <a:xfrm>
            <a:off x="9705975" y="1543050"/>
            <a:ext cx="2085975" cy="2219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indent="0" algn="l">
              <a:lnSpc>
                <a:spcPct val="150000"/>
              </a:lnSpc>
              <a:spcAft>
                <a:spcPts val="0"/>
              </a:spcAft>
              <a:buChar char="•"/>
              <a:defRPr sz="124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用已见扰动训练，测试未见组合的表达反应。</a:t>
            </a:r>
          </a:p>
          <a:p>
            <a:pPr indent="0" algn="l">
              <a:lnSpc>
                <a:spcPct val="150000"/>
              </a:lnSpc>
              <a:spcAft>
                <a:spcPts val="0"/>
              </a:spcAft>
              <a:buChar char="•"/>
              <a:defRPr sz="124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预测状态在 UMAP 上形成条件相关结构。</a:t>
            </a:r>
          </a:p>
          <a:p>
            <a:pPr indent="0" algn="l">
              <a:lnSpc>
                <a:spcPct val="150000"/>
              </a:lnSpc>
              <a:spcAft>
                <a:spcPts val="0"/>
              </a:spcAft>
              <a:buChar char="•"/>
              <a:defRPr sz="124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反向任务按表达结果排序候选扰动。</a:t>
            </a:r>
          </a:p>
        </p:txBody>
      </p:sp>
      <p:sp>
        <p:nvSpPr>
          <p:cNvPr id="26" name="callout-conclusion"/>
          <p:cNvSpPr>
            <a:spLocks noGrp="1"/>
          </p:cNvSpPr>
          <p:nvPr/>
        </p:nvSpPr>
        <p:spPr>
          <a:xfrm>
            <a:off x="9705975" y="3661410"/>
            <a:ext cx="20859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65" b="1">
                <a:solidFill>
                  <a:srgbClr val="C733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1">
                <a:solidFill>
                  <a:srgbClr val="C733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同一框架连接“扰动→表达”与“表达→扰动”。</a:t>
            </a:r>
          </a:p>
        </p:txBody>
      </p:sp>
      <p:sp>
        <p:nvSpPr>
          <p:cNvPr id="27" name="figure-label"/>
          <p:cNvSpPr>
            <a:spLocks noGrp="1"/>
          </p:cNvSpPr>
          <p:nvPr/>
        </p:nvSpPr>
        <p:spPr>
          <a:xfrm>
            <a:off x="1571625" y="5829300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0">
                <a:solidFill>
                  <a:srgbClr val="5F6B7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F6B7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Fig. 3c–g</a:t>
            </a:r>
          </a:p>
        </p:txBody>
      </p:sp>
      <p:sp>
        <p:nvSpPr>
          <p:cNvPr id="28" name="perturb-value"/>
          <p:cNvSpPr>
            <a:spLocks noGrp="1"/>
          </p:cNvSpPr>
          <p:nvPr/>
        </p:nvSpPr>
        <p:spPr>
          <a:xfrm>
            <a:off x="9572625" y="4724400"/>
            <a:ext cx="2352675" cy="838200"/>
          </a:xfrm>
          <a:prstGeom prst="rect">
            <a:avLst/>
          </a:prstGeom>
          <a:solidFill>
            <a:srgbClr val="FBE9EB"/>
          </a:solidFill>
          <a:ln w="9525">
            <a:solidFill>
              <a:srgbClr val="E6AAB0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C733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C733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潜在价值：虚拟筛选、组合扰动排序与实验设计。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left-nav-bg"/>
          <p:cNvSpPr>
            <a:spLocks noGrp="1"/>
          </p:cNvSpPr>
          <p:nvPr/>
        </p:nvSpPr>
        <p:spPr>
          <a:xfrm>
            <a:off x="0" y="0"/>
            <a:ext cx="990600" cy="6858000"/>
          </a:xfrm>
          <a:prstGeom prst="rect">
            <a:avLst/>
          </a:prstGeom>
          <a:solidFill>
            <a:srgbClr val="123D8D"/>
          </a:solidFill>
          <a:ln w="0">
            <a:solidFill>
              <a:srgbClr val="123D8D"/>
            </a:solidFill>
            <a:prstDash val="solid"/>
          </a:ln>
        </p:spPr>
      </p:sp>
      <p:sp>
        <p:nvSpPr>
          <p:cNvPr id="2" name="nav-label"/>
          <p:cNvSpPr>
            <a:spLocks noGrp="1"/>
          </p:cNvSpPr>
          <p:nvPr/>
        </p:nvSpPr>
        <p:spPr>
          <a:xfrm>
            <a:off x="28575" y="2667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课题组文献汇报</a:t>
            </a:r>
          </a:p>
        </p:txBody>
      </p:sp>
      <p:sp>
        <p:nvSpPr>
          <p:cNvPr id="3" name="nav-0"/>
          <p:cNvSpPr>
            <a:spLocks noGrp="1"/>
          </p:cNvSpPr>
          <p:nvPr/>
        </p:nvSpPr>
        <p:spPr>
          <a:xfrm>
            <a:off x="57150" y="2095500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4" name="nav-text-0"/>
          <p:cNvSpPr>
            <a:spLocks noGrp="1"/>
          </p:cNvSpPr>
          <p:nvPr/>
        </p:nvSpPr>
        <p:spPr>
          <a:xfrm>
            <a:off x="85725" y="2181225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基本信息</a:t>
            </a:r>
          </a:p>
        </p:txBody>
      </p:sp>
      <p:sp>
        <p:nvSpPr>
          <p:cNvPr id="5" name="nav-1"/>
          <p:cNvSpPr>
            <a:spLocks noGrp="1"/>
          </p:cNvSpPr>
          <p:nvPr/>
        </p:nvSpPr>
        <p:spPr>
          <a:xfrm>
            <a:off x="57150" y="2562225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6" name="nav-text-1"/>
          <p:cNvSpPr>
            <a:spLocks noGrp="1"/>
          </p:cNvSpPr>
          <p:nvPr/>
        </p:nvSpPr>
        <p:spPr>
          <a:xfrm>
            <a:off x="85725" y="2647950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研究背景</a:t>
            </a:r>
          </a:p>
        </p:txBody>
      </p:sp>
      <p:sp>
        <p:nvSpPr>
          <p:cNvPr id="7" name="nav-2"/>
          <p:cNvSpPr>
            <a:spLocks noGrp="1"/>
          </p:cNvSpPr>
          <p:nvPr/>
        </p:nvSpPr>
        <p:spPr>
          <a:xfrm>
            <a:off x="57150" y="3028950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8" name="nav-text-2"/>
          <p:cNvSpPr>
            <a:spLocks noGrp="1"/>
          </p:cNvSpPr>
          <p:nvPr/>
        </p:nvSpPr>
        <p:spPr>
          <a:xfrm>
            <a:off x="85725" y="3114675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研究思路</a:t>
            </a:r>
          </a:p>
        </p:txBody>
      </p:sp>
      <p:sp>
        <p:nvSpPr>
          <p:cNvPr id="9" name="nav-3"/>
          <p:cNvSpPr>
            <a:spLocks noGrp="1"/>
          </p:cNvSpPr>
          <p:nvPr/>
        </p:nvSpPr>
        <p:spPr>
          <a:xfrm>
            <a:off x="57150" y="3495675"/>
            <a:ext cx="876300" cy="409575"/>
          </a:xfrm>
          <a:prstGeom prst="rect">
            <a:avLst/>
          </a:prstGeom>
          <a:solidFill>
            <a:srgbClr val="EEF7F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nav-text-3"/>
          <p:cNvSpPr>
            <a:spLocks noGrp="1"/>
          </p:cNvSpPr>
          <p:nvPr/>
        </p:nvSpPr>
        <p:spPr>
          <a:xfrm>
            <a:off x="85725" y="3581400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123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23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研究结果</a:t>
            </a:r>
          </a:p>
        </p:txBody>
      </p:sp>
      <p:sp>
        <p:nvSpPr>
          <p:cNvPr id="11" name="nav-4"/>
          <p:cNvSpPr>
            <a:spLocks noGrp="1"/>
          </p:cNvSpPr>
          <p:nvPr/>
        </p:nvSpPr>
        <p:spPr>
          <a:xfrm>
            <a:off x="57150" y="3962400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12" name="nav-text-4"/>
          <p:cNvSpPr>
            <a:spLocks noGrp="1"/>
          </p:cNvSpPr>
          <p:nvPr/>
        </p:nvSpPr>
        <p:spPr>
          <a:xfrm>
            <a:off x="85725" y="4048125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结论与讨论</a:t>
            </a:r>
          </a:p>
        </p:txBody>
      </p:sp>
      <p:sp>
        <p:nvSpPr>
          <p:cNvPr id="13" name="nav-5"/>
          <p:cNvSpPr>
            <a:spLocks noGrp="1"/>
          </p:cNvSpPr>
          <p:nvPr/>
        </p:nvSpPr>
        <p:spPr>
          <a:xfrm>
            <a:off x="57150" y="4429125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14" name="nav-text-5"/>
          <p:cNvSpPr>
            <a:spLocks noGrp="1"/>
          </p:cNvSpPr>
          <p:nvPr/>
        </p:nvSpPr>
        <p:spPr>
          <a:xfrm>
            <a:off x="85725" y="4514850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创新与启发</a:t>
            </a:r>
          </a:p>
        </p:txBody>
      </p:sp>
      <p:sp>
        <p:nvSpPr>
          <p:cNvPr id="15" name="title-square"/>
          <p:cNvSpPr>
            <a:spLocks noGrp="1"/>
          </p:cNvSpPr>
          <p:nvPr/>
        </p:nvSpPr>
        <p:spPr>
          <a:xfrm>
            <a:off x="1162050" y="228600"/>
            <a:ext cx="114300" cy="190500"/>
          </a:xfrm>
          <a:prstGeom prst="rect">
            <a:avLst/>
          </a:prstGeom>
          <a:solidFill>
            <a:srgbClr val="123D8D"/>
          </a:solidFill>
          <a:ln w="0">
            <a:solidFill>
              <a:srgbClr val="123D8D"/>
            </a:solidFill>
            <a:prstDash val="solid"/>
          </a:ln>
        </p:spPr>
      </p:sp>
      <p:sp>
        <p:nvSpPr>
          <p:cNvPr id="16" name="slide-title"/>
          <p:cNvSpPr>
            <a:spLocks noGrp="1"/>
          </p:cNvSpPr>
          <p:nvPr/>
        </p:nvSpPr>
        <p:spPr>
          <a:xfrm>
            <a:off x="1352550" y="161925"/>
            <a:ext cx="8334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buNone/>
              <a:defRPr sz="2025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4.3  研究结果3：PBMC 10k 中，scGPT 最好地保留细胞类型结构</a:t>
            </a:r>
          </a:p>
        </p:txBody>
      </p:sp>
      <p:sp>
        <p:nvSpPr>
          <p:cNvPr id="17" name="title-rule"/>
          <p:cNvSpPr>
            <a:spLocks noGrp="1"/>
          </p:cNvSpPr>
          <p:nvPr/>
        </p:nvSpPr>
        <p:spPr>
          <a:xfrm>
            <a:off x="1162050" y="590550"/>
            <a:ext cx="8715375" cy="19050"/>
          </a:xfrm>
          <a:prstGeom prst="rect">
            <a:avLst/>
          </a:prstGeom>
          <a:solidFill>
            <a:srgbClr val="123D8D"/>
          </a:solidFill>
          <a:ln w="0">
            <a:solidFill>
              <a:srgbClr val="123D8D"/>
            </a:solidFill>
            <a:prstDash val="solid"/>
          </a:ln>
        </p:spPr>
      </p:sp>
      <p:pic>
        <p:nvPicPr>
          <p:cNvPr id="54" name="图片 5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0791" y="66675"/>
            <a:ext cx="1608794" cy="514350"/>
          </a:xfrm>
          <a:prstGeom prst="rect">
            <a:avLst/>
          </a:prstGeom>
        </p:spPr>
      </p:pic>
      <p:sp>
        <p:nvSpPr>
          <p:cNvPr id="19" name="page-number"/>
          <p:cNvSpPr>
            <a:spLocks noGrp="1"/>
          </p:cNvSpPr>
          <p:nvPr/>
        </p:nvSpPr>
        <p:spPr>
          <a:xfrm>
            <a:off x="11382375" y="64865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0">
                <a:solidFill>
                  <a:srgbClr val="7A889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7A889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13</a:t>
            </a:r>
          </a:p>
        </p:txBody>
      </p:sp>
      <p:sp>
        <p:nvSpPr>
          <p:cNvPr id="20" name="citation-footer"/>
          <p:cNvSpPr>
            <a:spLocks noGrp="1"/>
          </p:cNvSpPr>
          <p:nvPr/>
        </p:nvSpPr>
        <p:spPr>
          <a:xfrm>
            <a:off x="1162050" y="64579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7A889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>
                <a:solidFill>
                  <a:srgbClr val="7A889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Cui et al. | Nature Methods 21, 1470–1480 (2024)</a:t>
            </a:r>
          </a:p>
        </p:txBody>
      </p:sp>
      <p:sp>
        <p:nvSpPr>
          <p:cNvPr id="21" name="fig4-frame"/>
          <p:cNvSpPr>
            <a:spLocks noGrp="1"/>
          </p:cNvSpPr>
          <p:nvPr/>
        </p:nvSpPr>
        <p:spPr>
          <a:xfrm>
            <a:off x="1333500" y="952500"/>
            <a:ext cx="8286750" cy="2571750"/>
          </a:xfrm>
          <a:prstGeom prst="rect">
            <a:avLst/>
          </a:prstGeom>
          <a:solidFill>
            <a:srgbClr val="FFFFFF"/>
          </a:solidFill>
          <a:ln w="9525">
            <a:solidFill>
              <a:srgbClr val="A7B9C8"/>
            </a:solidFill>
            <a:prstDash val="solid"/>
          </a:ln>
        </p:spPr>
      </p:sp>
      <p:pic>
        <p:nvPicPr>
          <p:cNvPr id="58" name="图片 5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8750" y="1141392"/>
            <a:ext cx="8096250" cy="2003466"/>
          </a:xfrm>
          <a:prstGeom prst="rect">
            <a:avLst/>
          </a:prstGeom>
        </p:spPr>
      </p:pic>
      <p:sp>
        <p:nvSpPr>
          <p:cNvPr id="23" name="callout-box"/>
          <p:cNvSpPr>
            <a:spLocks noGrp="1"/>
          </p:cNvSpPr>
          <p:nvPr/>
        </p:nvSpPr>
        <p:spPr>
          <a:xfrm>
            <a:off x="9763125" y="952500"/>
            <a:ext cx="2190750" cy="2571750"/>
          </a:xfrm>
          <a:prstGeom prst="rect">
            <a:avLst/>
          </a:prstGeom>
          <a:solidFill>
            <a:srgbClr val="DCEEFF"/>
          </a:solidFill>
          <a:ln w="9525">
            <a:solidFill>
              <a:srgbClr val="B9D6EA"/>
            </a:solidFill>
            <a:prstDash val="solid"/>
          </a:ln>
        </p:spPr>
      </p:sp>
      <p:sp>
        <p:nvSpPr>
          <p:cNvPr id="24" name="callout-title"/>
          <p:cNvSpPr>
            <a:spLocks noGrp="1"/>
          </p:cNvSpPr>
          <p:nvPr/>
        </p:nvSpPr>
        <p:spPr>
          <a:xfrm>
            <a:off x="9906000" y="1066800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0D3B78"/>
                </a:solidFill>
              </a:defRPr>
            </a:pPr>
            <a:r>
              <a:rPr sz="1575" b="1">
                <a:solidFill>
                  <a:srgbClr val="0D3B78"/>
                </a:solidFill>
              </a:rPr>
              <a:t>PBMC 10k</a:t>
            </a:r>
          </a:p>
        </p:txBody>
      </p:sp>
      <p:sp>
        <p:nvSpPr>
          <p:cNvPr id="25" name="callout-body"/>
          <p:cNvSpPr>
            <a:spLocks noGrp="1"/>
          </p:cNvSpPr>
          <p:nvPr/>
        </p:nvSpPr>
        <p:spPr>
          <a:xfrm>
            <a:off x="9925050" y="1447800"/>
            <a:ext cx="1866900" cy="1295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1240">
                <a:solidFill>
                  <a:srgbClr val="21313E"/>
                </a:solidFill>
              </a:defRPr>
            </a:pPr>
            <a:r>
              <a:rPr sz="1240" b="1">
                <a:solidFill>
                  <a:srgbClr val="21313E"/>
                </a:solidFill>
              </a:rPr>
              <a:t>AvgBIO（↑）</a:t>
            </a:r>
          </a:p>
          <a:p>
            <a:pPr algn="l">
              <a:lnSpc>
                <a:spcPct val="105000"/>
              </a:lnSpc>
              <a:buNone/>
              <a:defRPr sz="1240">
                <a:solidFill>
                  <a:srgbClr val="21313E"/>
                </a:solidFill>
              </a:defRPr>
            </a:pPr>
            <a:r>
              <a:rPr sz="1240">
                <a:solidFill>
                  <a:srgbClr val="21313E"/>
                </a:solidFill>
              </a:rPr>
              <a:t>scGPT：0.821</a:t>
            </a:r>
          </a:p>
          <a:p>
            <a:pPr algn="l">
              <a:lnSpc>
                <a:spcPct val="105000"/>
              </a:lnSpc>
              <a:buNone/>
              <a:defRPr sz="1240">
                <a:solidFill>
                  <a:srgbClr val="21313E"/>
                </a:solidFill>
              </a:defRPr>
            </a:pPr>
            <a:r>
              <a:rPr sz="1240">
                <a:solidFill>
                  <a:srgbClr val="21313E"/>
                </a:solidFill>
              </a:rPr>
              <a:t>Seurat v3：0.724</a:t>
            </a:r>
          </a:p>
          <a:p>
            <a:pPr algn="l">
              <a:lnSpc>
                <a:spcPct val="105000"/>
              </a:lnSpc>
              <a:buNone/>
              <a:defRPr sz="1240">
                <a:solidFill>
                  <a:srgbClr val="21313E"/>
                </a:solidFill>
              </a:defRPr>
            </a:pPr>
            <a:r>
              <a:rPr sz="1240">
                <a:solidFill>
                  <a:srgbClr val="21313E"/>
                </a:solidFill>
              </a:rPr>
              <a:t>scVI：0.753</a:t>
            </a:r>
          </a:p>
          <a:p>
            <a:pPr algn="l">
              <a:lnSpc>
                <a:spcPct val="105000"/>
              </a:lnSpc>
              <a:buNone/>
              <a:defRPr sz="1240">
                <a:solidFill>
                  <a:srgbClr val="21313E"/>
                </a:solidFill>
              </a:defRPr>
            </a:pPr>
            <a:r>
              <a:rPr sz="1240">
                <a:solidFill>
                  <a:srgbClr val="21313E"/>
                </a:solidFill>
              </a:rPr>
              <a:t>Harmony：0.784</a:t>
            </a:r>
          </a:p>
        </p:txBody>
      </p:sp>
      <p:sp>
        <p:nvSpPr>
          <p:cNvPr id="26" name="callout-conclusion"/>
          <p:cNvSpPr>
            <a:spLocks noGrp="1"/>
          </p:cNvSpPr>
          <p:nvPr/>
        </p:nvSpPr>
        <p:spPr>
          <a:xfrm>
            <a:off x="9925050" y="2800350"/>
            <a:ext cx="18669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65" b="1">
                <a:solidFill>
                  <a:srgbClr val="CC3340"/>
                </a:solidFill>
              </a:defRPr>
            </a:pPr>
            <a:r>
              <a:rPr sz="1165" b="1">
                <a:solidFill>
                  <a:srgbClr val="CC3340"/>
                </a:solidFill>
              </a:rPr>
              <a:t>scGPT 的 AvgBIO 最高，说明细胞类型结构保留最好。</a:t>
            </a:r>
          </a:p>
        </p:txBody>
      </p:sp>
      <p:sp>
        <p:nvSpPr>
          <p:cNvPr id="27" name="figure-label"/>
          <p:cNvSpPr>
            <a:spLocks noGrp="1"/>
          </p:cNvSpPr>
          <p:nvPr/>
        </p:nvSpPr>
        <p:spPr>
          <a:xfrm>
            <a:off x="1476375" y="3524250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0">
                <a:solidFill>
                  <a:srgbClr val="5F6B7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F6B7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Fig. 4a｜PBMC 10k，按细胞类型着色</a:t>
            </a:r>
          </a:p>
        </p:txBody>
      </p:sp>
      <p:sp>
        <p:nvSpPr>
          <p:cNvPr id="28" name="batch-explain"/>
          <p:cNvSpPr>
            <a:spLocks noGrp="1"/>
          </p:cNvSpPr>
          <p:nvPr/>
        </p:nvSpPr>
        <p:spPr>
          <a:xfrm>
            <a:off x="1476375" y="4095750"/>
            <a:ext cx="10096500" cy="2000250"/>
          </a:xfrm>
          <a:prstGeom prst="rect">
            <a:avLst/>
          </a:prstGeom>
          <a:solidFill>
            <a:srgbClr val="EEF7FD"/>
          </a:solidFill>
          <a:ln w="9525">
            <a:solidFill>
              <a:srgbClr val="BCD5E5"/>
            </a:solidFill>
            <a:prstDash val="solid"/>
          </a:ln>
        </p:spPr>
      </p:sp>
      <p:sp>
        <p:nvSpPr>
          <p:cNvPr id="29" name="batch-dilemma"/>
          <p:cNvSpPr>
            <a:spLocks noGrp="1"/>
          </p:cNvSpPr>
          <p:nvPr/>
        </p:nvSpPr>
        <p:spPr>
          <a:xfrm>
            <a:off x="1762125" y="4333875"/>
            <a:ext cx="238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725" b="1">
                <a:solidFill>
                  <a:srgbClr val="123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23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整合质量看两个目标</a:t>
            </a:r>
          </a:p>
        </p:txBody>
      </p:sp>
      <p:sp>
        <p:nvSpPr>
          <p:cNvPr id="30" name="batch-mix"/>
          <p:cNvSpPr>
            <a:spLocks noGrp="1"/>
          </p:cNvSpPr>
          <p:nvPr/>
        </p:nvSpPr>
        <p:spPr>
          <a:xfrm>
            <a:off x="4238625" y="4267200"/>
            <a:ext cx="27146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650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批次效应降低
AvgBATCH / ASWbatch / GraphConn</a:t>
            </a:r>
          </a:p>
        </p:txBody>
      </p:sp>
      <p:sp>
        <p:nvSpPr>
          <p:cNvPr id="31" name="bio-preserve"/>
          <p:cNvSpPr>
            <a:spLocks noGrp="1"/>
          </p:cNvSpPr>
          <p:nvPr/>
        </p:nvSpPr>
        <p:spPr>
          <a:xfrm>
            <a:off x="7905750" y="4267200"/>
            <a:ext cx="2952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650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生物结构保留
AvgBIO / NMI / ARI / ASWcell</a:t>
            </a:r>
          </a:p>
        </p:txBody>
      </p:sp>
      <p:sp>
        <p:nvSpPr>
          <p:cNvPr id="32" name="flow-arrow"/>
          <p:cNvSpPr>
            <a:spLocks noGrp="1"/>
          </p:cNvSpPr>
          <p:nvPr/>
        </p:nvSpPr>
        <p:spPr>
          <a:xfrm>
            <a:off x="7191375" y="4343400"/>
            <a:ext cx="457200" cy="457200"/>
          </a:xfrm>
          <a:prstGeom prst="rightArrow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1E4B93"/>
                </a:solidFill>
              </a:defRPr>
            </a:pPr>
            <a:r>
              <a:rPr sz="2100" b="1">
                <a:solidFill>
                  <a:srgbClr val="1E4B93"/>
                </a:solidFill>
              </a:rPr>
              <a:t>＋</a:t>
            </a:r>
          </a:p>
        </p:txBody>
      </p:sp>
      <p:sp>
        <p:nvSpPr>
          <p:cNvPr id="33" name="batch-takeaway"/>
          <p:cNvSpPr>
            <a:spLocks noGrp="1"/>
          </p:cNvSpPr>
          <p:nvPr/>
        </p:nvSpPr>
        <p:spPr>
          <a:xfrm>
            <a:off x="2333625" y="5476875"/>
            <a:ext cx="838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75" b="1">
                <a:solidFill>
                  <a:srgbClr val="C733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C733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批次/模态嵌入 + 域对抗训练 + DSBN，共同学习批次不变的细胞表示。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left-nav-bg"/>
          <p:cNvSpPr>
            <a:spLocks noGrp="1"/>
          </p:cNvSpPr>
          <p:nvPr/>
        </p:nvSpPr>
        <p:spPr>
          <a:xfrm>
            <a:off x="0" y="0"/>
            <a:ext cx="990600" cy="6858000"/>
          </a:xfrm>
          <a:prstGeom prst="rect">
            <a:avLst/>
          </a:prstGeom>
          <a:solidFill>
            <a:srgbClr val="123D8D"/>
          </a:solidFill>
          <a:ln w="0">
            <a:solidFill>
              <a:srgbClr val="123D8D"/>
            </a:solidFill>
            <a:prstDash val="solid"/>
          </a:ln>
        </p:spPr>
      </p:sp>
      <p:sp>
        <p:nvSpPr>
          <p:cNvPr id="2" name="nav-label"/>
          <p:cNvSpPr>
            <a:spLocks noGrp="1"/>
          </p:cNvSpPr>
          <p:nvPr/>
        </p:nvSpPr>
        <p:spPr>
          <a:xfrm>
            <a:off x="28575" y="2667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课题组文献汇报</a:t>
            </a:r>
          </a:p>
        </p:txBody>
      </p:sp>
      <p:sp>
        <p:nvSpPr>
          <p:cNvPr id="3" name="nav-0"/>
          <p:cNvSpPr>
            <a:spLocks noGrp="1"/>
          </p:cNvSpPr>
          <p:nvPr/>
        </p:nvSpPr>
        <p:spPr>
          <a:xfrm>
            <a:off x="57150" y="2095500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4" name="nav-text-0"/>
          <p:cNvSpPr>
            <a:spLocks noGrp="1"/>
          </p:cNvSpPr>
          <p:nvPr/>
        </p:nvSpPr>
        <p:spPr>
          <a:xfrm>
            <a:off x="85725" y="2181225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基本信息</a:t>
            </a:r>
          </a:p>
        </p:txBody>
      </p:sp>
      <p:sp>
        <p:nvSpPr>
          <p:cNvPr id="5" name="nav-1"/>
          <p:cNvSpPr>
            <a:spLocks noGrp="1"/>
          </p:cNvSpPr>
          <p:nvPr/>
        </p:nvSpPr>
        <p:spPr>
          <a:xfrm>
            <a:off x="57150" y="2562225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6" name="nav-text-1"/>
          <p:cNvSpPr>
            <a:spLocks noGrp="1"/>
          </p:cNvSpPr>
          <p:nvPr/>
        </p:nvSpPr>
        <p:spPr>
          <a:xfrm>
            <a:off x="85725" y="2647950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研究背景</a:t>
            </a:r>
          </a:p>
        </p:txBody>
      </p:sp>
      <p:sp>
        <p:nvSpPr>
          <p:cNvPr id="7" name="nav-2"/>
          <p:cNvSpPr>
            <a:spLocks noGrp="1"/>
          </p:cNvSpPr>
          <p:nvPr/>
        </p:nvSpPr>
        <p:spPr>
          <a:xfrm>
            <a:off x="57150" y="3028950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8" name="nav-text-2"/>
          <p:cNvSpPr>
            <a:spLocks noGrp="1"/>
          </p:cNvSpPr>
          <p:nvPr/>
        </p:nvSpPr>
        <p:spPr>
          <a:xfrm>
            <a:off x="85725" y="3114675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研究思路</a:t>
            </a:r>
          </a:p>
        </p:txBody>
      </p:sp>
      <p:sp>
        <p:nvSpPr>
          <p:cNvPr id="9" name="nav-3"/>
          <p:cNvSpPr>
            <a:spLocks noGrp="1"/>
          </p:cNvSpPr>
          <p:nvPr/>
        </p:nvSpPr>
        <p:spPr>
          <a:xfrm>
            <a:off x="57150" y="3495675"/>
            <a:ext cx="876300" cy="409575"/>
          </a:xfrm>
          <a:prstGeom prst="rect">
            <a:avLst/>
          </a:prstGeom>
          <a:solidFill>
            <a:srgbClr val="EEF7F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nav-text-3"/>
          <p:cNvSpPr>
            <a:spLocks noGrp="1"/>
          </p:cNvSpPr>
          <p:nvPr/>
        </p:nvSpPr>
        <p:spPr>
          <a:xfrm>
            <a:off x="85725" y="3581400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123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23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研究结果</a:t>
            </a:r>
          </a:p>
        </p:txBody>
      </p:sp>
      <p:sp>
        <p:nvSpPr>
          <p:cNvPr id="11" name="nav-4"/>
          <p:cNvSpPr>
            <a:spLocks noGrp="1"/>
          </p:cNvSpPr>
          <p:nvPr/>
        </p:nvSpPr>
        <p:spPr>
          <a:xfrm>
            <a:off x="57150" y="3962400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12" name="nav-text-4"/>
          <p:cNvSpPr>
            <a:spLocks noGrp="1"/>
          </p:cNvSpPr>
          <p:nvPr/>
        </p:nvSpPr>
        <p:spPr>
          <a:xfrm>
            <a:off x="85725" y="4048125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结论与讨论</a:t>
            </a:r>
          </a:p>
        </p:txBody>
      </p:sp>
      <p:sp>
        <p:nvSpPr>
          <p:cNvPr id="13" name="nav-5"/>
          <p:cNvSpPr>
            <a:spLocks noGrp="1"/>
          </p:cNvSpPr>
          <p:nvPr/>
        </p:nvSpPr>
        <p:spPr>
          <a:xfrm>
            <a:off x="57150" y="4429125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14" name="nav-text-5"/>
          <p:cNvSpPr>
            <a:spLocks noGrp="1"/>
          </p:cNvSpPr>
          <p:nvPr/>
        </p:nvSpPr>
        <p:spPr>
          <a:xfrm>
            <a:off x="85725" y="4514850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创新与启发</a:t>
            </a:r>
          </a:p>
        </p:txBody>
      </p:sp>
      <p:sp>
        <p:nvSpPr>
          <p:cNvPr id="15" name="title-square"/>
          <p:cNvSpPr>
            <a:spLocks noGrp="1"/>
          </p:cNvSpPr>
          <p:nvPr/>
        </p:nvSpPr>
        <p:spPr>
          <a:xfrm>
            <a:off x="1162050" y="228600"/>
            <a:ext cx="114300" cy="190500"/>
          </a:xfrm>
          <a:prstGeom prst="rect">
            <a:avLst/>
          </a:prstGeom>
          <a:solidFill>
            <a:srgbClr val="123D8D"/>
          </a:solidFill>
          <a:ln w="0">
            <a:solidFill>
              <a:srgbClr val="123D8D"/>
            </a:solidFill>
            <a:prstDash val="solid"/>
          </a:ln>
        </p:spPr>
      </p:sp>
      <p:sp>
        <p:nvSpPr>
          <p:cNvPr id="16" name="slide-title"/>
          <p:cNvSpPr>
            <a:spLocks noGrp="1"/>
          </p:cNvSpPr>
          <p:nvPr/>
        </p:nvSpPr>
        <p:spPr>
          <a:xfrm>
            <a:off x="1352550" y="161925"/>
            <a:ext cx="8334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buNone/>
              <a:defRPr sz="2025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4.3  研究结果3：统一条件编码支持 RNA、ATAC 与蛋白多组学</a:t>
            </a:r>
          </a:p>
        </p:txBody>
      </p:sp>
      <p:sp>
        <p:nvSpPr>
          <p:cNvPr id="17" name="title-rule"/>
          <p:cNvSpPr>
            <a:spLocks noGrp="1"/>
          </p:cNvSpPr>
          <p:nvPr/>
        </p:nvSpPr>
        <p:spPr>
          <a:xfrm>
            <a:off x="1162050" y="590550"/>
            <a:ext cx="8715375" cy="19050"/>
          </a:xfrm>
          <a:prstGeom prst="rect">
            <a:avLst/>
          </a:prstGeom>
          <a:solidFill>
            <a:srgbClr val="123D8D"/>
          </a:solidFill>
          <a:ln w="0">
            <a:solidFill>
              <a:srgbClr val="123D8D"/>
            </a:solidFill>
            <a:prstDash val="solid"/>
          </a:ln>
        </p:spPr>
      </p:sp>
      <p:pic>
        <p:nvPicPr>
          <p:cNvPr id="49" name="图片 4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0791" y="66675"/>
            <a:ext cx="1608794" cy="514350"/>
          </a:xfrm>
          <a:prstGeom prst="rect">
            <a:avLst/>
          </a:prstGeom>
        </p:spPr>
      </p:pic>
      <p:sp>
        <p:nvSpPr>
          <p:cNvPr id="19" name="page-number"/>
          <p:cNvSpPr>
            <a:spLocks noGrp="1"/>
          </p:cNvSpPr>
          <p:nvPr/>
        </p:nvSpPr>
        <p:spPr>
          <a:xfrm>
            <a:off x="11382375" y="64865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0">
                <a:solidFill>
                  <a:srgbClr val="7A889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7A889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14</a:t>
            </a:r>
          </a:p>
        </p:txBody>
      </p:sp>
      <p:sp>
        <p:nvSpPr>
          <p:cNvPr id="20" name="citation-footer"/>
          <p:cNvSpPr>
            <a:spLocks noGrp="1"/>
          </p:cNvSpPr>
          <p:nvPr/>
        </p:nvSpPr>
        <p:spPr>
          <a:xfrm>
            <a:off x="1162050" y="64579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7A889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>
                <a:solidFill>
                  <a:srgbClr val="7A889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Cui et al. | Nature Methods 21, 1470–1480 (2024)</a:t>
            </a:r>
          </a:p>
        </p:txBody>
      </p:sp>
      <p:sp>
        <p:nvSpPr>
          <p:cNvPr id="21" name="fig4-frame"/>
          <p:cNvSpPr>
            <a:spLocks noGrp="1"/>
          </p:cNvSpPr>
          <p:nvPr/>
        </p:nvSpPr>
        <p:spPr>
          <a:xfrm>
            <a:off x="1476375" y="809625"/>
            <a:ext cx="7905750" cy="5095875"/>
          </a:xfrm>
          <a:prstGeom prst="rect">
            <a:avLst/>
          </a:prstGeom>
          <a:solidFill>
            <a:srgbClr val="FFFFFF"/>
          </a:solidFill>
          <a:ln w="9525">
            <a:solidFill>
              <a:srgbClr val="A7B9C8"/>
            </a:solidFill>
            <a:prstDash val="solid"/>
          </a:ln>
        </p:spPr>
      </p:sp>
      <p:sp>
        <p:nvSpPr>
          <p:cNvPr id="23" name="callout-box"/>
          <p:cNvSpPr>
            <a:spLocks noGrp="1"/>
          </p:cNvSpPr>
          <p:nvPr/>
        </p:nvSpPr>
        <p:spPr>
          <a:xfrm>
            <a:off x="9572625" y="1047750"/>
            <a:ext cx="2352675" cy="3286125"/>
          </a:xfrm>
          <a:prstGeom prst="rect">
            <a:avLst/>
          </a:prstGeom>
          <a:solidFill>
            <a:srgbClr val="DCEEFF"/>
          </a:solidFill>
          <a:ln w="9525">
            <a:solidFill>
              <a:srgbClr val="B9D6EA"/>
            </a:solidFill>
            <a:prstDash val="solid"/>
          </a:ln>
        </p:spPr>
      </p:sp>
      <p:sp>
        <p:nvSpPr>
          <p:cNvPr id="24" name="callout-title"/>
          <p:cNvSpPr>
            <a:spLocks noGrp="1"/>
          </p:cNvSpPr>
          <p:nvPr/>
        </p:nvSpPr>
        <p:spPr>
          <a:xfrm>
            <a:off x="9686925" y="1143000"/>
            <a:ext cx="21240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1">
                <a:solidFill>
                  <a:srgbClr val="123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23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三类整合场景</a:t>
            </a:r>
          </a:p>
        </p:txBody>
      </p:sp>
      <p:sp>
        <p:nvSpPr>
          <p:cNvPr id="25" name="callout-body"/>
          <p:cNvSpPr>
            <a:spLocks noGrp="1"/>
          </p:cNvSpPr>
          <p:nvPr/>
        </p:nvSpPr>
        <p:spPr>
          <a:xfrm>
            <a:off x="9705975" y="1524000"/>
            <a:ext cx="2085975" cy="2219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indent="0" algn="l">
              <a:lnSpc>
                <a:spcPct val="150000"/>
              </a:lnSpc>
              <a:spcAft>
                <a:spcPts val="0"/>
              </a:spcAft>
              <a:buChar char="•"/>
              <a:defRPr sz="124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10x Multiome：RNA + ATAC，AvgBIO 0.758。</a:t>
            </a:r>
          </a:p>
          <a:p>
            <a:pPr indent="0" algn="l">
              <a:lnSpc>
                <a:spcPct val="150000"/>
              </a:lnSpc>
              <a:spcAft>
                <a:spcPts val="0"/>
              </a:spcAft>
              <a:buChar char="•"/>
              <a:defRPr sz="124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BMMC：RNA + protein，AvgBIO 0.697。</a:t>
            </a:r>
          </a:p>
          <a:p>
            <a:pPr indent="0" algn="l">
              <a:lnSpc>
                <a:spcPct val="150000"/>
              </a:lnSpc>
              <a:spcAft>
                <a:spcPts val="0"/>
              </a:spcAft>
              <a:buChar char="•"/>
              <a:defRPr sz="124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ASAP：RNA + ATAC + protein，指标优于 scMoMaT。</a:t>
            </a:r>
          </a:p>
        </p:txBody>
      </p:sp>
      <p:sp>
        <p:nvSpPr>
          <p:cNvPr id="26" name="callout-conclusion"/>
          <p:cNvSpPr>
            <a:spLocks noGrp="1"/>
          </p:cNvSpPr>
          <p:nvPr/>
        </p:nvSpPr>
        <p:spPr>
          <a:xfrm>
            <a:off x="9705975" y="3785870"/>
            <a:ext cx="20859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65" b="1">
                <a:solidFill>
                  <a:srgbClr val="C733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1">
                <a:solidFill>
                  <a:srgbClr val="C733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condition token 让同一骨干区分不同模态。</a:t>
            </a:r>
          </a:p>
        </p:txBody>
      </p:sp>
      <p:sp>
        <p:nvSpPr>
          <p:cNvPr id="27" name="figure-label"/>
          <p:cNvSpPr>
            <a:spLocks noGrp="1"/>
          </p:cNvSpPr>
          <p:nvPr/>
        </p:nvSpPr>
        <p:spPr>
          <a:xfrm>
            <a:off x="1571625" y="5943600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0">
                <a:solidFill>
                  <a:srgbClr val="5F6B7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F6B7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Fig. 4b–d</a:t>
            </a:r>
          </a:p>
        </p:txBody>
      </p:sp>
      <p:sp>
        <p:nvSpPr>
          <p:cNvPr id="28" name="multiomics-value"/>
          <p:cNvSpPr>
            <a:spLocks noGrp="1"/>
          </p:cNvSpPr>
          <p:nvPr/>
        </p:nvSpPr>
        <p:spPr>
          <a:xfrm>
            <a:off x="9572625" y="4762500"/>
            <a:ext cx="2352675" cy="819150"/>
          </a:xfrm>
          <a:prstGeom prst="rect">
            <a:avLst/>
          </a:prstGeom>
          <a:solidFill>
            <a:srgbClr val="FBE9EB"/>
          </a:solidFill>
          <a:ln w="9525">
            <a:solidFill>
              <a:srgbClr val="E6AAB0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C733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C733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工程意义：复用同一骨干，降低不同组学重复建模成本。</a:t>
            </a:r>
          </a:p>
        </p:txBody>
      </p:sp>
      <p:pic>
        <p:nvPicPr>
          <p:cNvPr id="18" name="图片 17" descr="downloa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3045" y="811530"/>
            <a:ext cx="7879080" cy="50723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left-nav-bg"/>
          <p:cNvSpPr>
            <a:spLocks noGrp="1"/>
          </p:cNvSpPr>
          <p:nvPr/>
        </p:nvSpPr>
        <p:spPr>
          <a:xfrm>
            <a:off x="0" y="0"/>
            <a:ext cx="990600" cy="6858000"/>
          </a:xfrm>
          <a:prstGeom prst="rect">
            <a:avLst/>
          </a:prstGeom>
          <a:solidFill>
            <a:srgbClr val="123D8D"/>
          </a:solidFill>
          <a:ln w="0">
            <a:solidFill>
              <a:srgbClr val="123D8D"/>
            </a:solidFill>
            <a:prstDash val="solid"/>
          </a:ln>
        </p:spPr>
      </p:sp>
      <p:sp>
        <p:nvSpPr>
          <p:cNvPr id="2" name="nav-label"/>
          <p:cNvSpPr>
            <a:spLocks noGrp="1"/>
          </p:cNvSpPr>
          <p:nvPr/>
        </p:nvSpPr>
        <p:spPr>
          <a:xfrm>
            <a:off x="28575" y="2667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课题组文献汇报</a:t>
            </a:r>
          </a:p>
        </p:txBody>
      </p:sp>
      <p:sp>
        <p:nvSpPr>
          <p:cNvPr id="3" name="nav-0"/>
          <p:cNvSpPr>
            <a:spLocks noGrp="1"/>
          </p:cNvSpPr>
          <p:nvPr/>
        </p:nvSpPr>
        <p:spPr>
          <a:xfrm>
            <a:off x="57150" y="2095500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4" name="nav-text-0"/>
          <p:cNvSpPr>
            <a:spLocks noGrp="1"/>
          </p:cNvSpPr>
          <p:nvPr/>
        </p:nvSpPr>
        <p:spPr>
          <a:xfrm>
            <a:off x="85725" y="2181225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基本信息</a:t>
            </a:r>
          </a:p>
        </p:txBody>
      </p:sp>
      <p:sp>
        <p:nvSpPr>
          <p:cNvPr id="5" name="nav-1"/>
          <p:cNvSpPr>
            <a:spLocks noGrp="1"/>
          </p:cNvSpPr>
          <p:nvPr/>
        </p:nvSpPr>
        <p:spPr>
          <a:xfrm>
            <a:off x="57150" y="2562225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6" name="nav-text-1"/>
          <p:cNvSpPr>
            <a:spLocks noGrp="1"/>
          </p:cNvSpPr>
          <p:nvPr/>
        </p:nvSpPr>
        <p:spPr>
          <a:xfrm>
            <a:off x="85725" y="2647950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研究背景</a:t>
            </a:r>
          </a:p>
        </p:txBody>
      </p:sp>
      <p:sp>
        <p:nvSpPr>
          <p:cNvPr id="7" name="nav-2"/>
          <p:cNvSpPr>
            <a:spLocks noGrp="1"/>
          </p:cNvSpPr>
          <p:nvPr/>
        </p:nvSpPr>
        <p:spPr>
          <a:xfrm>
            <a:off x="57150" y="3028950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8" name="nav-text-2"/>
          <p:cNvSpPr>
            <a:spLocks noGrp="1"/>
          </p:cNvSpPr>
          <p:nvPr/>
        </p:nvSpPr>
        <p:spPr>
          <a:xfrm>
            <a:off x="85725" y="3114675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研究思路</a:t>
            </a:r>
          </a:p>
        </p:txBody>
      </p:sp>
      <p:sp>
        <p:nvSpPr>
          <p:cNvPr id="9" name="nav-3"/>
          <p:cNvSpPr>
            <a:spLocks noGrp="1"/>
          </p:cNvSpPr>
          <p:nvPr/>
        </p:nvSpPr>
        <p:spPr>
          <a:xfrm>
            <a:off x="57150" y="3495675"/>
            <a:ext cx="876300" cy="409575"/>
          </a:xfrm>
          <a:prstGeom prst="rect">
            <a:avLst/>
          </a:prstGeom>
          <a:solidFill>
            <a:srgbClr val="EEF7F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nav-text-3"/>
          <p:cNvSpPr>
            <a:spLocks noGrp="1"/>
          </p:cNvSpPr>
          <p:nvPr/>
        </p:nvSpPr>
        <p:spPr>
          <a:xfrm>
            <a:off x="85725" y="3581400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123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23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研究结果</a:t>
            </a:r>
          </a:p>
        </p:txBody>
      </p:sp>
      <p:sp>
        <p:nvSpPr>
          <p:cNvPr id="11" name="nav-4"/>
          <p:cNvSpPr>
            <a:spLocks noGrp="1"/>
          </p:cNvSpPr>
          <p:nvPr/>
        </p:nvSpPr>
        <p:spPr>
          <a:xfrm>
            <a:off x="57150" y="3962400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12" name="nav-text-4"/>
          <p:cNvSpPr>
            <a:spLocks noGrp="1"/>
          </p:cNvSpPr>
          <p:nvPr/>
        </p:nvSpPr>
        <p:spPr>
          <a:xfrm>
            <a:off x="85725" y="4048125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结论与讨论</a:t>
            </a:r>
          </a:p>
        </p:txBody>
      </p:sp>
      <p:sp>
        <p:nvSpPr>
          <p:cNvPr id="13" name="nav-5"/>
          <p:cNvSpPr>
            <a:spLocks noGrp="1"/>
          </p:cNvSpPr>
          <p:nvPr/>
        </p:nvSpPr>
        <p:spPr>
          <a:xfrm>
            <a:off x="57150" y="4429125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14" name="nav-text-5"/>
          <p:cNvSpPr>
            <a:spLocks noGrp="1"/>
          </p:cNvSpPr>
          <p:nvPr/>
        </p:nvSpPr>
        <p:spPr>
          <a:xfrm>
            <a:off x="85725" y="4514850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创新与启发</a:t>
            </a:r>
          </a:p>
        </p:txBody>
      </p:sp>
      <p:sp>
        <p:nvSpPr>
          <p:cNvPr id="15" name="title-square"/>
          <p:cNvSpPr>
            <a:spLocks noGrp="1"/>
          </p:cNvSpPr>
          <p:nvPr/>
        </p:nvSpPr>
        <p:spPr>
          <a:xfrm>
            <a:off x="1162050" y="228600"/>
            <a:ext cx="114300" cy="190500"/>
          </a:xfrm>
          <a:prstGeom prst="rect">
            <a:avLst/>
          </a:prstGeom>
          <a:solidFill>
            <a:srgbClr val="123D8D"/>
          </a:solidFill>
          <a:ln w="0">
            <a:solidFill>
              <a:srgbClr val="123D8D"/>
            </a:solidFill>
            <a:prstDash val="solid"/>
          </a:ln>
        </p:spPr>
      </p:sp>
      <p:sp>
        <p:nvSpPr>
          <p:cNvPr id="16" name="slide-title"/>
          <p:cNvSpPr>
            <a:spLocks noGrp="1"/>
          </p:cNvSpPr>
          <p:nvPr/>
        </p:nvSpPr>
        <p:spPr>
          <a:xfrm>
            <a:off x="1352550" y="161925"/>
            <a:ext cx="8334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buNone/>
              <a:defRPr sz="2025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4.4  研究结果4：基因嵌入可恢复免疫相关网络与细胞型特异程序</a:t>
            </a:r>
          </a:p>
        </p:txBody>
      </p:sp>
      <p:sp>
        <p:nvSpPr>
          <p:cNvPr id="17" name="title-rule"/>
          <p:cNvSpPr>
            <a:spLocks noGrp="1"/>
          </p:cNvSpPr>
          <p:nvPr/>
        </p:nvSpPr>
        <p:spPr>
          <a:xfrm>
            <a:off x="1162050" y="590550"/>
            <a:ext cx="8715375" cy="19050"/>
          </a:xfrm>
          <a:prstGeom prst="rect">
            <a:avLst/>
          </a:prstGeom>
          <a:solidFill>
            <a:srgbClr val="123D8D"/>
          </a:solidFill>
          <a:ln w="0">
            <a:solidFill>
              <a:srgbClr val="123D8D"/>
            </a:solidFill>
            <a:prstDash val="solid"/>
          </a:ln>
        </p:spPr>
      </p:sp>
      <p:pic>
        <p:nvPicPr>
          <p:cNvPr id="50" name="图片 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0791" y="66675"/>
            <a:ext cx="1608794" cy="514350"/>
          </a:xfrm>
          <a:prstGeom prst="rect">
            <a:avLst/>
          </a:prstGeom>
        </p:spPr>
      </p:pic>
      <p:sp>
        <p:nvSpPr>
          <p:cNvPr id="19" name="page-number"/>
          <p:cNvSpPr>
            <a:spLocks noGrp="1"/>
          </p:cNvSpPr>
          <p:nvPr/>
        </p:nvSpPr>
        <p:spPr>
          <a:xfrm>
            <a:off x="11382375" y="64865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0">
                <a:solidFill>
                  <a:srgbClr val="7A889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7A889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15</a:t>
            </a:r>
          </a:p>
        </p:txBody>
      </p:sp>
      <p:sp>
        <p:nvSpPr>
          <p:cNvPr id="20" name="citation-footer"/>
          <p:cNvSpPr>
            <a:spLocks noGrp="1"/>
          </p:cNvSpPr>
          <p:nvPr/>
        </p:nvSpPr>
        <p:spPr>
          <a:xfrm>
            <a:off x="1162050" y="64579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7A889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>
                <a:solidFill>
                  <a:srgbClr val="7A889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Cui et al. | Nature Methods 21, 1470–1480 (2024)</a:t>
            </a:r>
          </a:p>
        </p:txBody>
      </p:sp>
      <p:sp>
        <p:nvSpPr>
          <p:cNvPr id="21" name="fig5-frame"/>
          <p:cNvSpPr>
            <a:spLocks noGrp="1"/>
          </p:cNvSpPr>
          <p:nvPr/>
        </p:nvSpPr>
        <p:spPr>
          <a:xfrm>
            <a:off x="1476375" y="923925"/>
            <a:ext cx="7810500" cy="426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7B9C8"/>
            </a:solidFill>
            <a:prstDash val="solid"/>
          </a:ln>
        </p:spPr>
      </p:sp>
      <p:pic>
        <p:nvPicPr>
          <p:cNvPr id="54" name="图片 5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1826" y="971550"/>
            <a:ext cx="7699597" cy="4171950"/>
          </a:xfrm>
          <a:prstGeom prst="rect">
            <a:avLst/>
          </a:prstGeom>
        </p:spPr>
      </p:pic>
      <p:sp>
        <p:nvSpPr>
          <p:cNvPr id="23" name="callout-box"/>
          <p:cNvSpPr>
            <a:spLocks noGrp="1"/>
          </p:cNvSpPr>
          <p:nvPr/>
        </p:nvSpPr>
        <p:spPr>
          <a:xfrm>
            <a:off x="9525000" y="1066800"/>
            <a:ext cx="2400300" cy="3757295"/>
          </a:xfrm>
          <a:prstGeom prst="rect">
            <a:avLst/>
          </a:prstGeom>
          <a:solidFill>
            <a:srgbClr val="DCEEFF"/>
          </a:solidFill>
          <a:ln w="9525">
            <a:solidFill>
              <a:srgbClr val="B9D6EA"/>
            </a:solidFill>
            <a:prstDash val="solid"/>
          </a:ln>
        </p:spPr>
      </p:sp>
      <p:sp>
        <p:nvSpPr>
          <p:cNvPr id="24" name="callout-title"/>
          <p:cNvSpPr>
            <a:spLocks noGrp="1"/>
          </p:cNvSpPr>
          <p:nvPr/>
        </p:nvSpPr>
        <p:spPr>
          <a:xfrm>
            <a:off x="9639300" y="1162050"/>
            <a:ext cx="2171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1">
                <a:solidFill>
                  <a:srgbClr val="123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23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从表示到生物学</a:t>
            </a:r>
          </a:p>
        </p:txBody>
      </p:sp>
      <p:sp>
        <p:nvSpPr>
          <p:cNvPr id="25" name="callout-body"/>
          <p:cNvSpPr>
            <a:spLocks noGrp="1"/>
          </p:cNvSpPr>
          <p:nvPr/>
        </p:nvSpPr>
        <p:spPr>
          <a:xfrm>
            <a:off x="9658350" y="1543050"/>
            <a:ext cx="2133600" cy="2219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indent="0" algn="l" fontAlgn="auto">
              <a:lnSpc>
                <a:spcPct val="150000"/>
              </a:lnSpc>
              <a:spcAft>
                <a:spcPts val="0"/>
              </a:spcAft>
              <a:buChar char="•"/>
              <a:defRPr sz="124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zero-shot 模型形成 HLA 与 CD 基因网络。</a:t>
            </a:r>
          </a:p>
          <a:p>
            <a:pPr indent="0" algn="l" fontAlgn="auto">
              <a:lnSpc>
                <a:spcPct val="150000"/>
              </a:lnSpc>
              <a:spcAft>
                <a:spcPts val="0"/>
              </a:spcAft>
              <a:buChar char="•"/>
              <a:defRPr sz="124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微调后网络结构出现任务相关调整。</a:t>
            </a:r>
          </a:p>
          <a:p>
            <a:pPr indent="0" algn="l" fontAlgn="auto">
              <a:lnSpc>
                <a:spcPct val="150000"/>
              </a:lnSpc>
              <a:spcAft>
                <a:spcPts val="0"/>
              </a:spcAft>
              <a:buChar char="•"/>
              <a:defRPr sz="124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基因程序呈细胞类型特异激活。</a:t>
            </a:r>
          </a:p>
          <a:p>
            <a:pPr indent="0" algn="l" fontAlgn="auto">
              <a:lnSpc>
                <a:spcPct val="150000"/>
              </a:lnSpc>
              <a:spcAft>
                <a:spcPts val="0"/>
              </a:spcAft>
              <a:buChar char="•"/>
              <a:defRPr sz="124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同等分辨率下获得更多 Reactome 富集通路。</a:t>
            </a:r>
          </a:p>
        </p:txBody>
      </p:sp>
      <p:sp>
        <p:nvSpPr>
          <p:cNvPr id="26" name="callout-conclusion"/>
          <p:cNvSpPr>
            <a:spLocks noGrp="1"/>
          </p:cNvSpPr>
          <p:nvPr/>
        </p:nvSpPr>
        <p:spPr>
          <a:xfrm>
            <a:off x="9658350" y="4020185"/>
            <a:ext cx="2133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65" b="1">
                <a:solidFill>
                  <a:srgbClr val="C733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1">
                <a:solidFill>
                  <a:srgbClr val="C733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论文报告 22 条 scGPT 独有富集通路。</a:t>
            </a:r>
          </a:p>
        </p:txBody>
      </p:sp>
      <p:sp>
        <p:nvSpPr>
          <p:cNvPr id="27" name="figure-label"/>
          <p:cNvSpPr>
            <a:spLocks noGrp="1"/>
          </p:cNvSpPr>
          <p:nvPr/>
        </p:nvSpPr>
        <p:spPr>
          <a:xfrm>
            <a:off x="1571625" y="5276850"/>
            <a:ext cx="95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0">
                <a:solidFill>
                  <a:srgbClr val="5F6B7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F6B7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Fig. 5</a:t>
            </a:r>
          </a:p>
        </p:txBody>
      </p:sp>
      <p:sp>
        <p:nvSpPr>
          <p:cNvPr id="28" name="gene-embedding-note"/>
          <p:cNvSpPr>
            <a:spLocks noGrp="1"/>
          </p:cNvSpPr>
          <p:nvPr/>
        </p:nvSpPr>
        <p:spPr>
          <a:xfrm>
            <a:off x="1952625" y="5524500"/>
            <a:ext cx="9239250" cy="438150"/>
          </a:xfrm>
          <a:prstGeom prst="rect">
            <a:avLst/>
          </a:prstGeom>
          <a:solidFill>
            <a:srgbClr val="EEF7FD"/>
          </a:solidFill>
          <a:ln w="9525">
            <a:solidFill>
              <a:srgbClr val="BCD5E5"/>
            </a:solidFill>
            <a:prstDash val="solid"/>
          </a:ln>
        </p:spPr>
      </p:sp>
      <p:sp>
        <p:nvSpPr>
          <p:cNvPr id="29" name="gene-caution"/>
          <p:cNvSpPr>
            <a:spLocks noGrp="1"/>
          </p:cNvSpPr>
          <p:nvPr/>
        </p:nvSpPr>
        <p:spPr>
          <a:xfrm>
            <a:off x="2143125" y="5619750"/>
            <a:ext cx="8858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00" b="1">
                <a:solidFill>
                  <a:srgbClr val="C733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C733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提示：嵌入网络反映统计关系与任务适配，不能直接等同于真实调控因果关系。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left-nav-bg"/>
          <p:cNvSpPr>
            <a:spLocks noGrp="1"/>
          </p:cNvSpPr>
          <p:nvPr/>
        </p:nvSpPr>
        <p:spPr>
          <a:xfrm>
            <a:off x="0" y="0"/>
            <a:ext cx="990600" cy="6858000"/>
          </a:xfrm>
          <a:prstGeom prst="rect">
            <a:avLst/>
          </a:prstGeom>
          <a:solidFill>
            <a:srgbClr val="123D8D"/>
          </a:solidFill>
          <a:ln w="0">
            <a:solidFill>
              <a:srgbClr val="123D8D"/>
            </a:solidFill>
            <a:prstDash val="solid"/>
          </a:ln>
        </p:spPr>
      </p:sp>
      <p:sp>
        <p:nvSpPr>
          <p:cNvPr id="2" name="nav-label"/>
          <p:cNvSpPr>
            <a:spLocks noGrp="1"/>
          </p:cNvSpPr>
          <p:nvPr/>
        </p:nvSpPr>
        <p:spPr>
          <a:xfrm>
            <a:off x="28575" y="2667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课题组文献汇报</a:t>
            </a:r>
          </a:p>
        </p:txBody>
      </p:sp>
      <p:sp>
        <p:nvSpPr>
          <p:cNvPr id="3" name="nav-0"/>
          <p:cNvSpPr>
            <a:spLocks noGrp="1"/>
          </p:cNvSpPr>
          <p:nvPr/>
        </p:nvSpPr>
        <p:spPr>
          <a:xfrm>
            <a:off x="57150" y="2095500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4" name="nav-text-0"/>
          <p:cNvSpPr>
            <a:spLocks noGrp="1"/>
          </p:cNvSpPr>
          <p:nvPr/>
        </p:nvSpPr>
        <p:spPr>
          <a:xfrm>
            <a:off x="85725" y="2181225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基本信息</a:t>
            </a:r>
          </a:p>
        </p:txBody>
      </p:sp>
      <p:sp>
        <p:nvSpPr>
          <p:cNvPr id="5" name="nav-1"/>
          <p:cNvSpPr>
            <a:spLocks noGrp="1"/>
          </p:cNvSpPr>
          <p:nvPr/>
        </p:nvSpPr>
        <p:spPr>
          <a:xfrm>
            <a:off x="57150" y="2562225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6" name="nav-text-1"/>
          <p:cNvSpPr>
            <a:spLocks noGrp="1"/>
          </p:cNvSpPr>
          <p:nvPr/>
        </p:nvSpPr>
        <p:spPr>
          <a:xfrm>
            <a:off x="85725" y="2647950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研究背景</a:t>
            </a:r>
          </a:p>
        </p:txBody>
      </p:sp>
      <p:sp>
        <p:nvSpPr>
          <p:cNvPr id="7" name="nav-2"/>
          <p:cNvSpPr>
            <a:spLocks noGrp="1"/>
          </p:cNvSpPr>
          <p:nvPr/>
        </p:nvSpPr>
        <p:spPr>
          <a:xfrm>
            <a:off x="57150" y="3028950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8" name="nav-text-2"/>
          <p:cNvSpPr>
            <a:spLocks noGrp="1"/>
          </p:cNvSpPr>
          <p:nvPr/>
        </p:nvSpPr>
        <p:spPr>
          <a:xfrm>
            <a:off x="85725" y="3114675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研究思路</a:t>
            </a:r>
          </a:p>
        </p:txBody>
      </p:sp>
      <p:sp>
        <p:nvSpPr>
          <p:cNvPr id="9" name="nav-3"/>
          <p:cNvSpPr>
            <a:spLocks noGrp="1"/>
          </p:cNvSpPr>
          <p:nvPr/>
        </p:nvSpPr>
        <p:spPr>
          <a:xfrm>
            <a:off x="57150" y="3495675"/>
            <a:ext cx="876300" cy="409575"/>
          </a:xfrm>
          <a:prstGeom prst="rect">
            <a:avLst/>
          </a:prstGeom>
          <a:solidFill>
            <a:srgbClr val="EEF7F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nav-text-3"/>
          <p:cNvSpPr>
            <a:spLocks noGrp="1"/>
          </p:cNvSpPr>
          <p:nvPr/>
        </p:nvSpPr>
        <p:spPr>
          <a:xfrm>
            <a:off x="85725" y="3581400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123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23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研究结果</a:t>
            </a:r>
          </a:p>
        </p:txBody>
      </p:sp>
      <p:sp>
        <p:nvSpPr>
          <p:cNvPr id="11" name="nav-4"/>
          <p:cNvSpPr>
            <a:spLocks noGrp="1"/>
          </p:cNvSpPr>
          <p:nvPr/>
        </p:nvSpPr>
        <p:spPr>
          <a:xfrm>
            <a:off x="57150" y="3962400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12" name="nav-text-4"/>
          <p:cNvSpPr>
            <a:spLocks noGrp="1"/>
          </p:cNvSpPr>
          <p:nvPr/>
        </p:nvSpPr>
        <p:spPr>
          <a:xfrm>
            <a:off x="85725" y="4048125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结论与讨论</a:t>
            </a:r>
          </a:p>
        </p:txBody>
      </p:sp>
      <p:sp>
        <p:nvSpPr>
          <p:cNvPr id="13" name="nav-5"/>
          <p:cNvSpPr>
            <a:spLocks noGrp="1"/>
          </p:cNvSpPr>
          <p:nvPr/>
        </p:nvSpPr>
        <p:spPr>
          <a:xfrm>
            <a:off x="57150" y="4429125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14" name="nav-text-5"/>
          <p:cNvSpPr>
            <a:spLocks noGrp="1"/>
          </p:cNvSpPr>
          <p:nvPr/>
        </p:nvSpPr>
        <p:spPr>
          <a:xfrm>
            <a:off x="85725" y="4514850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创新与启发</a:t>
            </a:r>
          </a:p>
        </p:txBody>
      </p:sp>
      <p:sp>
        <p:nvSpPr>
          <p:cNvPr id="15" name="title-square"/>
          <p:cNvSpPr>
            <a:spLocks noGrp="1"/>
          </p:cNvSpPr>
          <p:nvPr/>
        </p:nvSpPr>
        <p:spPr>
          <a:xfrm>
            <a:off x="1162050" y="228600"/>
            <a:ext cx="114300" cy="190500"/>
          </a:xfrm>
          <a:prstGeom prst="rect">
            <a:avLst/>
          </a:prstGeom>
          <a:solidFill>
            <a:srgbClr val="123D8D"/>
          </a:solidFill>
          <a:ln w="0">
            <a:solidFill>
              <a:srgbClr val="123D8D"/>
            </a:solidFill>
            <a:prstDash val="solid"/>
          </a:ln>
        </p:spPr>
      </p:sp>
      <p:sp>
        <p:nvSpPr>
          <p:cNvPr id="16" name="slide-title"/>
          <p:cNvSpPr>
            <a:spLocks noGrp="1"/>
          </p:cNvSpPr>
          <p:nvPr/>
        </p:nvSpPr>
        <p:spPr>
          <a:xfrm>
            <a:off x="1352550" y="161925"/>
            <a:ext cx="8334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buNone/>
              <a:defRPr sz="2025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4.5  研究结果5：注意力差异用于定位扰动后受影响的基因网络</a:t>
            </a:r>
          </a:p>
        </p:txBody>
      </p:sp>
      <p:sp>
        <p:nvSpPr>
          <p:cNvPr id="17" name="title-rule"/>
          <p:cNvSpPr>
            <a:spLocks noGrp="1"/>
          </p:cNvSpPr>
          <p:nvPr/>
        </p:nvSpPr>
        <p:spPr>
          <a:xfrm>
            <a:off x="1162050" y="590550"/>
            <a:ext cx="8715375" cy="19050"/>
          </a:xfrm>
          <a:prstGeom prst="rect">
            <a:avLst/>
          </a:prstGeom>
          <a:solidFill>
            <a:srgbClr val="123D8D"/>
          </a:solidFill>
          <a:ln w="0">
            <a:solidFill>
              <a:srgbClr val="123D8D"/>
            </a:solidFill>
            <a:prstDash val="solid"/>
          </a:ln>
        </p:spPr>
      </p:sp>
      <p:pic>
        <p:nvPicPr>
          <p:cNvPr id="49" name="图片 4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0791" y="66675"/>
            <a:ext cx="1608794" cy="514350"/>
          </a:xfrm>
          <a:prstGeom prst="rect">
            <a:avLst/>
          </a:prstGeom>
        </p:spPr>
      </p:pic>
      <p:sp>
        <p:nvSpPr>
          <p:cNvPr id="19" name="page-number"/>
          <p:cNvSpPr>
            <a:spLocks noGrp="1"/>
          </p:cNvSpPr>
          <p:nvPr/>
        </p:nvSpPr>
        <p:spPr>
          <a:xfrm>
            <a:off x="11382375" y="64865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0">
                <a:solidFill>
                  <a:srgbClr val="7A889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7A889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16</a:t>
            </a:r>
          </a:p>
        </p:txBody>
      </p:sp>
      <p:sp>
        <p:nvSpPr>
          <p:cNvPr id="20" name="citation-footer"/>
          <p:cNvSpPr>
            <a:spLocks noGrp="1"/>
          </p:cNvSpPr>
          <p:nvPr/>
        </p:nvSpPr>
        <p:spPr>
          <a:xfrm>
            <a:off x="1162050" y="64579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7A889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>
                <a:solidFill>
                  <a:srgbClr val="7A889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Cui et al. | Nature Methods 21, 1470–1480 (2024)</a:t>
            </a:r>
          </a:p>
        </p:txBody>
      </p:sp>
      <p:sp>
        <p:nvSpPr>
          <p:cNvPr id="21" name="fig6-frame"/>
          <p:cNvSpPr>
            <a:spLocks noGrp="1"/>
          </p:cNvSpPr>
          <p:nvPr/>
        </p:nvSpPr>
        <p:spPr>
          <a:xfrm>
            <a:off x="1476375" y="828675"/>
            <a:ext cx="7620000" cy="4953000"/>
          </a:xfrm>
          <a:prstGeom prst="rect">
            <a:avLst/>
          </a:prstGeom>
          <a:solidFill>
            <a:srgbClr val="FFFFFF"/>
          </a:solidFill>
          <a:ln w="9525">
            <a:solidFill>
              <a:srgbClr val="A7B9C8"/>
            </a:solidFill>
            <a:prstDash val="solid"/>
          </a:ln>
        </p:spPr>
      </p:sp>
      <p:pic>
        <p:nvPicPr>
          <p:cNvPr id="53" name="图片 4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883776"/>
            <a:ext cx="7524750" cy="4842798"/>
          </a:xfrm>
          <a:prstGeom prst="rect">
            <a:avLst/>
          </a:prstGeom>
        </p:spPr>
      </p:pic>
      <p:sp>
        <p:nvSpPr>
          <p:cNvPr id="23" name="callout-box"/>
          <p:cNvSpPr>
            <a:spLocks noGrp="1"/>
          </p:cNvSpPr>
          <p:nvPr/>
        </p:nvSpPr>
        <p:spPr>
          <a:xfrm>
            <a:off x="9334500" y="1066800"/>
            <a:ext cx="2590800" cy="3524250"/>
          </a:xfrm>
          <a:prstGeom prst="rect">
            <a:avLst/>
          </a:prstGeom>
          <a:solidFill>
            <a:srgbClr val="DCEEFF"/>
          </a:solidFill>
          <a:ln w="9525">
            <a:solidFill>
              <a:srgbClr val="B9D6EA"/>
            </a:solidFill>
            <a:prstDash val="solid"/>
          </a:ln>
        </p:spPr>
      </p:sp>
      <p:sp>
        <p:nvSpPr>
          <p:cNvPr id="24" name="callout-title"/>
          <p:cNvSpPr>
            <a:spLocks noGrp="1"/>
          </p:cNvSpPr>
          <p:nvPr/>
        </p:nvSpPr>
        <p:spPr>
          <a:xfrm>
            <a:off x="9448800" y="1162050"/>
            <a:ext cx="236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1">
                <a:solidFill>
                  <a:srgbClr val="123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23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分析流程</a:t>
            </a:r>
          </a:p>
        </p:txBody>
      </p:sp>
      <p:sp>
        <p:nvSpPr>
          <p:cNvPr id="25" name="callout-body"/>
          <p:cNvSpPr>
            <a:spLocks noGrp="1"/>
          </p:cNvSpPr>
          <p:nvPr/>
        </p:nvSpPr>
        <p:spPr>
          <a:xfrm>
            <a:off x="9467850" y="1543050"/>
            <a:ext cx="2324100" cy="2457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indent="0" algn="l" fontAlgn="auto">
              <a:lnSpc>
                <a:spcPct val="150000"/>
              </a:lnSpc>
              <a:spcAft>
                <a:spcPts val="0"/>
              </a:spcAft>
              <a:buChar char="•"/>
              <a:defRPr sz="124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计算对照与扰动状态的注意力矩阵。</a:t>
            </a:r>
          </a:p>
          <a:p>
            <a:pPr indent="0" algn="l" fontAlgn="auto">
              <a:lnSpc>
                <a:spcPct val="150000"/>
              </a:lnSpc>
              <a:spcAft>
                <a:spcPts val="0"/>
              </a:spcAft>
              <a:buChar char="•"/>
              <a:defRPr sz="124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归一化后比较差异，筛选受影响基因。</a:t>
            </a:r>
          </a:p>
          <a:p>
            <a:pPr indent="0" algn="l" fontAlgn="auto">
              <a:lnSpc>
                <a:spcPct val="150000"/>
              </a:lnSpc>
              <a:spcAft>
                <a:spcPts val="0"/>
              </a:spcAft>
              <a:buChar char="•"/>
              <a:defRPr sz="124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DDIT3、BHLHE40 候选靶点与 ChIP-Atlas 有重叠。</a:t>
            </a:r>
          </a:p>
          <a:p>
            <a:pPr indent="0" algn="l" fontAlgn="auto">
              <a:lnSpc>
                <a:spcPct val="150000"/>
              </a:lnSpc>
              <a:spcAft>
                <a:spcPts val="0"/>
              </a:spcAft>
              <a:buChar char="•"/>
              <a:defRPr sz="124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通路热图呈现应激与细胞周期变化。</a:t>
            </a:r>
          </a:p>
        </p:txBody>
      </p:sp>
      <p:sp>
        <p:nvSpPr>
          <p:cNvPr id="26" name="callout-conclusion"/>
          <p:cNvSpPr>
            <a:spLocks noGrp="1"/>
          </p:cNvSpPr>
          <p:nvPr/>
        </p:nvSpPr>
        <p:spPr>
          <a:xfrm>
            <a:off x="9467850" y="4043045"/>
            <a:ext cx="2324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65" b="1">
                <a:solidFill>
                  <a:srgbClr val="C733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1">
                <a:solidFill>
                  <a:srgbClr val="C733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内部权重用于提出可检验的 GRN 假设。</a:t>
            </a:r>
          </a:p>
        </p:txBody>
      </p:sp>
      <p:sp>
        <p:nvSpPr>
          <p:cNvPr id="27" name="figure-label"/>
          <p:cNvSpPr>
            <a:spLocks noGrp="1"/>
          </p:cNvSpPr>
          <p:nvPr/>
        </p:nvSpPr>
        <p:spPr>
          <a:xfrm>
            <a:off x="1571625" y="5848350"/>
            <a:ext cx="95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0">
                <a:solidFill>
                  <a:srgbClr val="5F6B7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F6B7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Fig. 6</a:t>
            </a:r>
          </a:p>
        </p:txBody>
      </p:sp>
      <p:sp>
        <p:nvSpPr>
          <p:cNvPr id="28" name="grn-next"/>
          <p:cNvSpPr>
            <a:spLocks noGrp="1"/>
          </p:cNvSpPr>
          <p:nvPr/>
        </p:nvSpPr>
        <p:spPr>
          <a:xfrm>
            <a:off x="9334500" y="4933950"/>
            <a:ext cx="2590800" cy="704850"/>
          </a:xfrm>
          <a:prstGeom prst="rect">
            <a:avLst/>
          </a:prstGeom>
          <a:solidFill>
            <a:srgbClr val="FBE9EB"/>
          </a:solidFill>
          <a:ln w="9525">
            <a:solidFill>
              <a:srgbClr val="E6AAB0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C733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C733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下一步：用独立数据与湿实验验证候选关系。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left-nav-bg"/>
          <p:cNvSpPr>
            <a:spLocks noGrp="1"/>
          </p:cNvSpPr>
          <p:nvPr/>
        </p:nvSpPr>
        <p:spPr>
          <a:xfrm>
            <a:off x="0" y="0"/>
            <a:ext cx="990600" cy="6858000"/>
          </a:xfrm>
          <a:prstGeom prst="rect">
            <a:avLst/>
          </a:prstGeom>
          <a:solidFill>
            <a:srgbClr val="123D8D"/>
          </a:solidFill>
          <a:ln w="0">
            <a:solidFill>
              <a:srgbClr val="123D8D"/>
            </a:solidFill>
            <a:prstDash val="solid"/>
          </a:ln>
        </p:spPr>
      </p:sp>
      <p:sp>
        <p:nvSpPr>
          <p:cNvPr id="2" name="nav-label"/>
          <p:cNvSpPr>
            <a:spLocks noGrp="1"/>
          </p:cNvSpPr>
          <p:nvPr/>
        </p:nvSpPr>
        <p:spPr>
          <a:xfrm>
            <a:off x="28575" y="2667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课题组文献汇报</a:t>
            </a:r>
          </a:p>
        </p:txBody>
      </p:sp>
      <p:sp>
        <p:nvSpPr>
          <p:cNvPr id="3" name="nav-0"/>
          <p:cNvSpPr>
            <a:spLocks noGrp="1"/>
          </p:cNvSpPr>
          <p:nvPr/>
        </p:nvSpPr>
        <p:spPr>
          <a:xfrm>
            <a:off x="57150" y="2095500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4" name="nav-text-0"/>
          <p:cNvSpPr>
            <a:spLocks noGrp="1"/>
          </p:cNvSpPr>
          <p:nvPr/>
        </p:nvSpPr>
        <p:spPr>
          <a:xfrm>
            <a:off x="85725" y="2181225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基本信息</a:t>
            </a:r>
          </a:p>
        </p:txBody>
      </p:sp>
      <p:sp>
        <p:nvSpPr>
          <p:cNvPr id="5" name="nav-1"/>
          <p:cNvSpPr>
            <a:spLocks noGrp="1"/>
          </p:cNvSpPr>
          <p:nvPr/>
        </p:nvSpPr>
        <p:spPr>
          <a:xfrm>
            <a:off x="57150" y="2562225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6" name="nav-text-1"/>
          <p:cNvSpPr>
            <a:spLocks noGrp="1"/>
          </p:cNvSpPr>
          <p:nvPr/>
        </p:nvSpPr>
        <p:spPr>
          <a:xfrm>
            <a:off x="85725" y="2647950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研究背景</a:t>
            </a:r>
          </a:p>
        </p:txBody>
      </p:sp>
      <p:sp>
        <p:nvSpPr>
          <p:cNvPr id="7" name="nav-2"/>
          <p:cNvSpPr>
            <a:spLocks noGrp="1"/>
          </p:cNvSpPr>
          <p:nvPr/>
        </p:nvSpPr>
        <p:spPr>
          <a:xfrm>
            <a:off x="57150" y="3028950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8" name="nav-text-2"/>
          <p:cNvSpPr>
            <a:spLocks noGrp="1"/>
          </p:cNvSpPr>
          <p:nvPr/>
        </p:nvSpPr>
        <p:spPr>
          <a:xfrm>
            <a:off x="85725" y="3114675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研究思路</a:t>
            </a:r>
          </a:p>
        </p:txBody>
      </p:sp>
      <p:sp>
        <p:nvSpPr>
          <p:cNvPr id="9" name="nav-3"/>
          <p:cNvSpPr>
            <a:spLocks noGrp="1"/>
          </p:cNvSpPr>
          <p:nvPr/>
        </p:nvSpPr>
        <p:spPr>
          <a:xfrm>
            <a:off x="57150" y="3495675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10" name="nav-text-3"/>
          <p:cNvSpPr>
            <a:spLocks noGrp="1"/>
          </p:cNvSpPr>
          <p:nvPr/>
        </p:nvSpPr>
        <p:spPr>
          <a:xfrm>
            <a:off x="85725" y="3581400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研究结果</a:t>
            </a:r>
          </a:p>
        </p:txBody>
      </p:sp>
      <p:sp>
        <p:nvSpPr>
          <p:cNvPr id="11" name="nav-4"/>
          <p:cNvSpPr>
            <a:spLocks noGrp="1"/>
          </p:cNvSpPr>
          <p:nvPr/>
        </p:nvSpPr>
        <p:spPr>
          <a:xfrm>
            <a:off x="57150" y="3962400"/>
            <a:ext cx="876300" cy="409575"/>
          </a:xfrm>
          <a:prstGeom prst="rect">
            <a:avLst/>
          </a:prstGeom>
          <a:solidFill>
            <a:srgbClr val="EEF7F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nav-text-4"/>
          <p:cNvSpPr>
            <a:spLocks noGrp="1"/>
          </p:cNvSpPr>
          <p:nvPr/>
        </p:nvSpPr>
        <p:spPr>
          <a:xfrm>
            <a:off x="85725" y="4048125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123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23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结论与讨论</a:t>
            </a:r>
          </a:p>
        </p:txBody>
      </p:sp>
      <p:sp>
        <p:nvSpPr>
          <p:cNvPr id="13" name="nav-5"/>
          <p:cNvSpPr>
            <a:spLocks noGrp="1"/>
          </p:cNvSpPr>
          <p:nvPr/>
        </p:nvSpPr>
        <p:spPr>
          <a:xfrm>
            <a:off x="57150" y="4429125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14" name="nav-text-5"/>
          <p:cNvSpPr>
            <a:spLocks noGrp="1"/>
          </p:cNvSpPr>
          <p:nvPr/>
        </p:nvSpPr>
        <p:spPr>
          <a:xfrm>
            <a:off x="85725" y="4514850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创新与启发</a:t>
            </a:r>
          </a:p>
        </p:txBody>
      </p:sp>
      <p:sp>
        <p:nvSpPr>
          <p:cNvPr id="15" name="title-square"/>
          <p:cNvSpPr>
            <a:spLocks noGrp="1"/>
          </p:cNvSpPr>
          <p:nvPr/>
        </p:nvSpPr>
        <p:spPr>
          <a:xfrm>
            <a:off x="1162050" y="228600"/>
            <a:ext cx="114300" cy="190500"/>
          </a:xfrm>
          <a:prstGeom prst="rect">
            <a:avLst/>
          </a:prstGeom>
          <a:solidFill>
            <a:srgbClr val="123D8D"/>
          </a:solidFill>
          <a:ln w="0">
            <a:solidFill>
              <a:srgbClr val="123D8D"/>
            </a:solidFill>
            <a:prstDash val="solid"/>
          </a:ln>
        </p:spPr>
      </p:sp>
      <p:sp>
        <p:nvSpPr>
          <p:cNvPr id="16" name="slide-title"/>
          <p:cNvSpPr>
            <a:spLocks noGrp="1"/>
          </p:cNvSpPr>
          <p:nvPr/>
        </p:nvSpPr>
        <p:spPr>
          <a:xfrm>
            <a:off x="1352550" y="161925"/>
            <a:ext cx="8334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buNone/>
              <a:defRPr sz="2025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5.1  结论：scGPT 建立了可跨任务迁移的单细胞基础表示</a:t>
            </a:r>
          </a:p>
        </p:txBody>
      </p:sp>
      <p:sp>
        <p:nvSpPr>
          <p:cNvPr id="17" name="title-rule"/>
          <p:cNvSpPr>
            <a:spLocks noGrp="1"/>
          </p:cNvSpPr>
          <p:nvPr/>
        </p:nvSpPr>
        <p:spPr>
          <a:xfrm>
            <a:off x="1162050" y="590550"/>
            <a:ext cx="8715375" cy="19050"/>
          </a:xfrm>
          <a:prstGeom prst="rect">
            <a:avLst/>
          </a:prstGeom>
          <a:solidFill>
            <a:srgbClr val="123D8D"/>
          </a:solidFill>
          <a:ln w="0">
            <a:solidFill>
              <a:srgbClr val="123D8D"/>
            </a:solidFill>
            <a:prstDash val="solid"/>
          </a:ln>
        </p:spPr>
      </p:sp>
      <p:pic>
        <p:nvPicPr>
          <p:cNvPr id="61" name="图片 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0791" y="66675"/>
            <a:ext cx="1608794" cy="514350"/>
          </a:xfrm>
          <a:prstGeom prst="rect">
            <a:avLst/>
          </a:prstGeom>
        </p:spPr>
      </p:pic>
      <p:sp>
        <p:nvSpPr>
          <p:cNvPr id="19" name="page-number"/>
          <p:cNvSpPr>
            <a:spLocks noGrp="1"/>
          </p:cNvSpPr>
          <p:nvPr/>
        </p:nvSpPr>
        <p:spPr>
          <a:xfrm>
            <a:off x="11382375" y="64865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0">
                <a:solidFill>
                  <a:srgbClr val="7A889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7A889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17</a:t>
            </a:r>
          </a:p>
        </p:txBody>
      </p:sp>
      <p:sp>
        <p:nvSpPr>
          <p:cNvPr id="20" name="citation-footer"/>
          <p:cNvSpPr>
            <a:spLocks noGrp="1"/>
          </p:cNvSpPr>
          <p:nvPr/>
        </p:nvSpPr>
        <p:spPr>
          <a:xfrm>
            <a:off x="1162050" y="64579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7A889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>
                <a:solidFill>
                  <a:srgbClr val="7A889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Cui et al. | Nature Methods 21, 1470–1480 (2024)</a:t>
            </a:r>
          </a:p>
        </p:txBody>
      </p:sp>
      <p:sp>
        <p:nvSpPr>
          <p:cNvPr id="21" name="arrow-left-to-center"/>
          <p:cNvSpPr>
            <a:spLocks noGrp="1"/>
          </p:cNvSpPr>
          <p:nvPr/>
        </p:nvSpPr>
        <p:spPr>
          <a:xfrm>
            <a:off x="4257675" y="2990850"/>
            <a:ext cx="685800" cy="342900"/>
          </a:xfrm>
          <a:prstGeom prst="rightArrow">
            <a:avLst/>
          </a:prstGeom>
          <a:solidFill>
            <a:srgbClr val="7FB3D5"/>
          </a:solidFill>
          <a:ln w="0">
            <a:solidFill>
              <a:srgbClr val="7FB3D5"/>
            </a:solidFill>
            <a:prstDash val="solid"/>
          </a:ln>
        </p:spPr>
      </p:sp>
      <p:sp>
        <p:nvSpPr>
          <p:cNvPr id="22" name="arrow-right-to-center"/>
          <p:cNvSpPr>
            <a:spLocks noGrp="1"/>
          </p:cNvSpPr>
          <p:nvPr/>
        </p:nvSpPr>
        <p:spPr>
          <a:xfrm>
            <a:off x="7820025" y="2990850"/>
            <a:ext cx="685800" cy="342900"/>
          </a:xfrm>
          <a:prstGeom prst="leftArrow">
            <a:avLst/>
          </a:prstGeom>
          <a:solidFill>
            <a:srgbClr val="7FB3D5"/>
          </a:solidFill>
          <a:ln w="0">
            <a:solidFill>
              <a:srgbClr val="7FB3D5"/>
            </a:solidFill>
            <a:prstDash val="solid"/>
          </a:ln>
        </p:spPr>
      </p:sp>
      <p:sp>
        <p:nvSpPr>
          <p:cNvPr id="23" name="arrow-top-to-center"/>
          <p:cNvSpPr>
            <a:spLocks noGrp="1"/>
          </p:cNvSpPr>
          <p:nvPr/>
        </p:nvSpPr>
        <p:spPr>
          <a:xfrm>
            <a:off x="6210300" y="2047875"/>
            <a:ext cx="342900" cy="361950"/>
          </a:xfrm>
          <a:prstGeom prst="downArrow">
            <a:avLst/>
          </a:prstGeom>
          <a:solidFill>
            <a:srgbClr val="7FB3D5"/>
          </a:solidFill>
          <a:ln w="0">
            <a:solidFill>
              <a:srgbClr val="7FB3D5"/>
            </a:solidFill>
            <a:prstDash val="solid"/>
          </a:ln>
        </p:spPr>
      </p:sp>
      <p:sp>
        <p:nvSpPr>
          <p:cNvPr id="24" name="arrow-bottom-to-center"/>
          <p:cNvSpPr>
            <a:spLocks noGrp="1"/>
          </p:cNvSpPr>
          <p:nvPr/>
        </p:nvSpPr>
        <p:spPr>
          <a:xfrm>
            <a:off x="6210300" y="4000500"/>
            <a:ext cx="342900" cy="342900"/>
          </a:xfrm>
          <a:prstGeom prst="upArrow">
            <a:avLst/>
          </a:prstGeom>
          <a:solidFill>
            <a:srgbClr val="7FB3D5"/>
          </a:solidFill>
          <a:ln w="0">
            <a:solidFill>
              <a:srgbClr val="7FB3D5"/>
            </a:solidFill>
            <a:prstDash val="solid"/>
          </a:ln>
        </p:spPr>
      </p:sp>
      <p:sp>
        <p:nvSpPr>
          <p:cNvPr id="25" name="conclusion-center"/>
          <p:cNvSpPr>
            <a:spLocks noGrp="1"/>
          </p:cNvSpPr>
          <p:nvPr/>
        </p:nvSpPr>
        <p:spPr>
          <a:xfrm>
            <a:off x="4953000" y="2381250"/>
            <a:ext cx="2857500" cy="1714500"/>
          </a:xfrm>
          <a:prstGeom prst="rect">
            <a:avLst/>
          </a:prstGeom>
          <a:solidFill>
            <a:srgbClr val="123D8D"/>
          </a:solidFill>
          <a:ln w="0">
            <a:solidFill>
              <a:srgbClr val="123D8D"/>
            </a:solidFill>
            <a:prstDash val="solid"/>
          </a:ln>
        </p:spPr>
      </p:sp>
      <p:sp>
        <p:nvSpPr>
          <p:cNvPr id="26" name="scgpt-center"/>
          <p:cNvSpPr>
            <a:spLocks noGrp="1"/>
          </p:cNvSpPr>
          <p:nvPr/>
        </p:nvSpPr>
        <p:spPr>
          <a:xfrm>
            <a:off x="5381625" y="2647950"/>
            <a:ext cx="200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31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1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scGPT</a:t>
            </a:r>
          </a:p>
        </p:txBody>
      </p:sp>
      <p:sp>
        <p:nvSpPr>
          <p:cNvPr id="27" name="center-desc"/>
          <p:cNvSpPr>
            <a:spLocks noGrp="1"/>
          </p:cNvSpPr>
          <p:nvPr/>
        </p:nvSpPr>
        <p:spPr>
          <a:xfrm>
            <a:off x="5238750" y="3238500"/>
            <a:ext cx="228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生成式预训练的</a:t>
            </a:r>
          </a:p>
          <a:p>
            <a:pPr algn="ctr">
              <a:buNone/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单细胞基础模型</a:t>
            </a:r>
          </a:p>
        </p:txBody>
      </p:sp>
      <p:sp>
        <p:nvSpPr>
          <p:cNvPr id="28" name="conclusion-card-0"/>
          <p:cNvSpPr>
            <a:spLocks noGrp="1"/>
          </p:cNvSpPr>
          <p:nvPr/>
        </p:nvSpPr>
        <p:spPr>
          <a:xfrm>
            <a:off x="1809750" y="2447925"/>
            <a:ext cx="2333625" cy="1428750"/>
          </a:xfrm>
          <a:prstGeom prst="rect">
            <a:avLst/>
          </a:prstGeom>
          <a:solidFill>
            <a:srgbClr val="EEF7FD"/>
          </a:solidFill>
          <a:ln w="9525">
            <a:solidFill>
              <a:srgbClr val="BCD5E5"/>
            </a:solidFill>
            <a:prstDash val="solid"/>
          </a:ln>
        </p:spPr>
      </p:sp>
      <p:sp>
        <p:nvSpPr>
          <p:cNvPr id="29" name="conclusion-title-0"/>
          <p:cNvSpPr>
            <a:spLocks noGrp="1"/>
          </p:cNvSpPr>
          <p:nvPr/>
        </p:nvSpPr>
        <p:spPr>
          <a:xfrm>
            <a:off x="2019300" y="2600325"/>
            <a:ext cx="19145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00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通用表示</a:t>
            </a:r>
          </a:p>
        </p:txBody>
      </p:sp>
      <p:sp>
        <p:nvSpPr>
          <p:cNvPr id="30" name="conclusion-desc-0"/>
          <p:cNvSpPr>
            <a:spLocks noGrp="1"/>
          </p:cNvSpPr>
          <p:nvPr/>
        </p:nvSpPr>
        <p:spPr>
          <a:xfrm>
            <a:off x="2019300" y="2981325"/>
            <a:ext cx="1914525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1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基因、表达值与条件被编码进同一空间</a:t>
            </a:r>
          </a:p>
        </p:txBody>
      </p:sp>
      <p:sp>
        <p:nvSpPr>
          <p:cNvPr id="31" name="conclusion-card-1"/>
          <p:cNvSpPr>
            <a:spLocks noGrp="1"/>
          </p:cNvSpPr>
          <p:nvPr/>
        </p:nvSpPr>
        <p:spPr>
          <a:xfrm>
            <a:off x="5143500" y="876300"/>
            <a:ext cx="2476500" cy="1123950"/>
          </a:xfrm>
          <a:prstGeom prst="rect">
            <a:avLst/>
          </a:prstGeom>
          <a:solidFill>
            <a:srgbClr val="DCEEFF"/>
          </a:solidFill>
          <a:ln w="9525">
            <a:solidFill>
              <a:srgbClr val="BCD5E5"/>
            </a:solidFill>
            <a:prstDash val="solid"/>
          </a:ln>
        </p:spPr>
      </p:sp>
      <p:sp>
        <p:nvSpPr>
          <p:cNvPr id="32" name="conclusion-title-1"/>
          <p:cNvSpPr>
            <a:spLocks noGrp="1"/>
          </p:cNvSpPr>
          <p:nvPr/>
        </p:nvSpPr>
        <p:spPr>
          <a:xfrm>
            <a:off x="5353050" y="1028700"/>
            <a:ext cx="2057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00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任务迁移</a:t>
            </a:r>
          </a:p>
        </p:txBody>
      </p:sp>
      <p:sp>
        <p:nvSpPr>
          <p:cNvPr id="33" name="conclusion-desc-1"/>
          <p:cNvSpPr>
            <a:spLocks noGrp="1"/>
          </p:cNvSpPr>
          <p:nvPr/>
        </p:nvSpPr>
        <p:spPr>
          <a:xfrm>
            <a:off x="5353050" y="1409700"/>
            <a:ext cx="2057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1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注释、整合与扰动任务共享预训练骨干</a:t>
            </a:r>
          </a:p>
        </p:txBody>
      </p:sp>
      <p:sp>
        <p:nvSpPr>
          <p:cNvPr id="34" name="conclusion-card-2"/>
          <p:cNvSpPr>
            <a:spLocks noGrp="1"/>
          </p:cNvSpPr>
          <p:nvPr/>
        </p:nvSpPr>
        <p:spPr>
          <a:xfrm>
            <a:off x="8620125" y="2447925"/>
            <a:ext cx="2333625" cy="1428750"/>
          </a:xfrm>
          <a:prstGeom prst="rect">
            <a:avLst/>
          </a:prstGeom>
          <a:solidFill>
            <a:srgbClr val="EEF7FD"/>
          </a:solidFill>
          <a:ln w="9525">
            <a:solidFill>
              <a:srgbClr val="BCD5E5"/>
            </a:solidFill>
            <a:prstDash val="solid"/>
          </a:ln>
        </p:spPr>
      </p:sp>
      <p:sp>
        <p:nvSpPr>
          <p:cNvPr id="35" name="conclusion-title-2"/>
          <p:cNvSpPr>
            <a:spLocks noGrp="1"/>
          </p:cNvSpPr>
          <p:nvPr/>
        </p:nvSpPr>
        <p:spPr>
          <a:xfrm>
            <a:off x="8829675" y="2600325"/>
            <a:ext cx="19145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00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生成能力</a:t>
            </a:r>
          </a:p>
        </p:txBody>
      </p:sp>
      <p:sp>
        <p:nvSpPr>
          <p:cNvPr id="36" name="conclusion-desc-2"/>
          <p:cNvSpPr>
            <a:spLocks noGrp="1"/>
          </p:cNvSpPr>
          <p:nvPr/>
        </p:nvSpPr>
        <p:spPr>
          <a:xfrm>
            <a:off x="8829675" y="2981325"/>
            <a:ext cx="1914525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1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预测未见扰动反应，并尝试反推扰动来源</a:t>
            </a:r>
          </a:p>
        </p:txBody>
      </p:sp>
      <p:sp>
        <p:nvSpPr>
          <p:cNvPr id="37" name="conclusion-card-3"/>
          <p:cNvSpPr>
            <a:spLocks noGrp="1"/>
          </p:cNvSpPr>
          <p:nvPr/>
        </p:nvSpPr>
        <p:spPr>
          <a:xfrm>
            <a:off x="5143500" y="4381500"/>
            <a:ext cx="2476500" cy="1123950"/>
          </a:xfrm>
          <a:prstGeom prst="rect">
            <a:avLst/>
          </a:prstGeom>
          <a:solidFill>
            <a:srgbClr val="DCEEFF"/>
          </a:solidFill>
          <a:ln w="9525">
            <a:solidFill>
              <a:srgbClr val="BCD5E5"/>
            </a:solidFill>
            <a:prstDash val="solid"/>
          </a:ln>
        </p:spPr>
      </p:sp>
      <p:sp>
        <p:nvSpPr>
          <p:cNvPr id="38" name="conclusion-title-3"/>
          <p:cNvSpPr>
            <a:spLocks noGrp="1"/>
          </p:cNvSpPr>
          <p:nvPr/>
        </p:nvSpPr>
        <p:spPr>
          <a:xfrm>
            <a:off x="5353050" y="4533900"/>
            <a:ext cx="2057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00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解释线索</a:t>
            </a:r>
          </a:p>
        </p:txBody>
      </p:sp>
      <p:sp>
        <p:nvSpPr>
          <p:cNvPr id="39" name="conclusion-desc-3"/>
          <p:cNvSpPr>
            <a:spLocks noGrp="1"/>
          </p:cNvSpPr>
          <p:nvPr/>
        </p:nvSpPr>
        <p:spPr>
          <a:xfrm>
            <a:off x="5353050" y="4914900"/>
            <a:ext cx="2057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1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基因嵌入与注意力产生网络和通路假设</a:t>
            </a:r>
          </a:p>
        </p:txBody>
      </p:sp>
      <p:sp>
        <p:nvSpPr>
          <p:cNvPr id="40" name="conclusion-boundary"/>
          <p:cNvSpPr>
            <a:spLocks noGrp="1"/>
          </p:cNvSpPr>
          <p:nvPr/>
        </p:nvSpPr>
        <p:spPr>
          <a:xfrm>
            <a:off x="2571750" y="5676900"/>
            <a:ext cx="7620000" cy="552450"/>
          </a:xfrm>
          <a:prstGeom prst="rect">
            <a:avLst/>
          </a:prstGeom>
          <a:solidFill>
            <a:srgbClr val="FBE9EB"/>
          </a:solidFill>
          <a:ln w="9525">
            <a:solidFill>
              <a:srgbClr val="E6AAB0"/>
            </a:solidFill>
            <a:prstDash val="solid"/>
          </a:ln>
        </p:spPr>
      </p:sp>
      <p:sp>
        <p:nvSpPr>
          <p:cNvPr id="41" name="balanced-conclusion"/>
          <p:cNvSpPr>
            <a:spLocks noGrp="1"/>
          </p:cNvSpPr>
          <p:nvPr/>
        </p:nvSpPr>
        <p:spPr>
          <a:xfrm>
            <a:off x="2762250" y="5743575"/>
            <a:ext cx="723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90" b="1">
                <a:solidFill>
                  <a:srgbClr val="C733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90" b="1">
                <a:solidFill>
                  <a:srgbClr val="C733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作者证明了“一个模型服务多任务”的可行性，但尚未证明其已成为通用虚拟细胞。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left-nav-bg"/>
          <p:cNvSpPr>
            <a:spLocks noGrp="1"/>
          </p:cNvSpPr>
          <p:nvPr/>
        </p:nvSpPr>
        <p:spPr>
          <a:xfrm>
            <a:off x="0" y="0"/>
            <a:ext cx="990600" cy="6858000"/>
          </a:xfrm>
          <a:prstGeom prst="rect">
            <a:avLst/>
          </a:prstGeom>
          <a:solidFill>
            <a:srgbClr val="123D8D"/>
          </a:solidFill>
          <a:ln w="0">
            <a:solidFill>
              <a:srgbClr val="123D8D"/>
            </a:solidFill>
            <a:prstDash val="solid"/>
          </a:ln>
        </p:spPr>
      </p:sp>
      <p:sp>
        <p:nvSpPr>
          <p:cNvPr id="2" name="nav-label"/>
          <p:cNvSpPr>
            <a:spLocks noGrp="1"/>
          </p:cNvSpPr>
          <p:nvPr/>
        </p:nvSpPr>
        <p:spPr>
          <a:xfrm>
            <a:off x="28575" y="2667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课题组文献汇报</a:t>
            </a:r>
          </a:p>
        </p:txBody>
      </p:sp>
      <p:sp>
        <p:nvSpPr>
          <p:cNvPr id="3" name="nav-0"/>
          <p:cNvSpPr>
            <a:spLocks noGrp="1"/>
          </p:cNvSpPr>
          <p:nvPr/>
        </p:nvSpPr>
        <p:spPr>
          <a:xfrm>
            <a:off x="57150" y="2095500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4" name="nav-text-0"/>
          <p:cNvSpPr>
            <a:spLocks noGrp="1"/>
          </p:cNvSpPr>
          <p:nvPr/>
        </p:nvSpPr>
        <p:spPr>
          <a:xfrm>
            <a:off x="85725" y="2181225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基本信息</a:t>
            </a:r>
          </a:p>
        </p:txBody>
      </p:sp>
      <p:sp>
        <p:nvSpPr>
          <p:cNvPr id="5" name="nav-1"/>
          <p:cNvSpPr>
            <a:spLocks noGrp="1"/>
          </p:cNvSpPr>
          <p:nvPr/>
        </p:nvSpPr>
        <p:spPr>
          <a:xfrm>
            <a:off x="57150" y="2562225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6" name="nav-text-1"/>
          <p:cNvSpPr>
            <a:spLocks noGrp="1"/>
          </p:cNvSpPr>
          <p:nvPr/>
        </p:nvSpPr>
        <p:spPr>
          <a:xfrm>
            <a:off x="85725" y="2647950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研究背景</a:t>
            </a:r>
          </a:p>
        </p:txBody>
      </p:sp>
      <p:sp>
        <p:nvSpPr>
          <p:cNvPr id="7" name="nav-2"/>
          <p:cNvSpPr>
            <a:spLocks noGrp="1"/>
          </p:cNvSpPr>
          <p:nvPr/>
        </p:nvSpPr>
        <p:spPr>
          <a:xfrm>
            <a:off x="57150" y="3028950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8" name="nav-text-2"/>
          <p:cNvSpPr>
            <a:spLocks noGrp="1"/>
          </p:cNvSpPr>
          <p:nvPr/>
        </p:nvSpPr>
        <p:spPr>
          <a:xfrm>
            <a:off x="85725" y="3114675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研究思路</a:t>
            </a:r>
          </a:p>
        </p:txBody>
      </p:sp>
      <p:sp>
        <p:nvSpPr>
          <p:cNvPr id="9" name="nav-3"/>
          <p:cNvSpPr>
            <a:spLocks noGrp="1"/>
          </p:cNvSpPr>
          <p:nvPr/>
        </p:nvSpPr>
        <p:spPr>
          <a:xfrm>
            <a:off x="57150" y="3495675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10" name="nav-text-3"/>
          <p:cNvSpPr>
            <a:spLocks noGrp="1"/>
          </p:cNvSpPr>
          <p:nvPr/>
        </p:nvSpPr>
        <p:spPr>
          <a:xfrm>
            <a:off x="85725" y="3581400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研究结果</a:t>
            </a:r>
          </a:p>
        </p:txBody>
      </p:sp>
      <p:sp>
        <p:nvSpPr>
          <p:cNvPr id="11" name="nav-4"/>
          <p:cNvSpPr>
            <a:spLocks noGrp="1"/>
          </p:cNvSpPr>
          <p:nvPr/>
        </p:nvSpPr>
        <p:spPr>
          <a:xfrm>
            <a:off x="57150" y="3962400"/>
            <a:ext cx="876300" cy="409575"/>
          </a:xfrm>
          <a:prstGeom prst="rect">
            <a:avLst/>
          </a:prstGeom>
          <a:solidFill>
            <a:srgbClr val="EEF7F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nav-text-4"/>
          <p:cNvSpPr>
            <a:spLocks noGrp="1"/>
          </p:cNvSpPr>
          <p:nvPr/>
        </p:nvSpPr>
        <p:spPr>
          <a:xfrm>
            <a:off x="85725" y="4048125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123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23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结论与讨论</a:t>
            </a:r>
          </a:p>
        </p:txBody>
      </p:sp>
      <p:sp>
        <p:nvSpPr>
          <p:cNvPr id="13" name="nav-5"/>
          <p:cNvSpPr>
            <a:spLocks noGrp="1"/>
          </p:cNvSpPr>
          <p:nvPr/>
        </p:nvSpPr>
        <p:spPr>
          <a:xfrm>
            <a:off x="57150" y="4429125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14" name="nav-text-5"/>
          <p:cNvSpPr>
            <a:spLocks noGrp="1"/>
          </p:cNvSpPr>
          <p:nvPr/>
        </p:nvSpPr>
        <p:spPr>
          <a:xfrm>
            <a:off x="85725" y="4514850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创新与启发</a:t>
            </a:r>
          </a:p>
        </p:txBody>
      </p:sp>
      <p:sp>
        <p:nvSpPr>
          <p:cNvPr id="15" name="title-square"/>
          <p:cNvSpPr>
            <a:spLocks noGrp="1"/>
          </p:cNvSpPr>
          <p:nvPr/>
        </p:nvSpPr>
        <p:spPr>
          <a:xfrm>
            <a:off x="1162050" y="228600"/>
            <a:ext cx="114300" cy="190500"/>
          </a:xfrm>
          <a:prstGeom prst="rect">
            <a:avLst/>
          </a:prstGeom>
          <a:solidFill>
            <a:srgbClr val="123D8D"/>
          </a:solidFill>
          <a:ln w="0">
            <a:solidFill>
              <a:srgbClr val="123D8D"/>
            </a:solidFill>
            <a:prstDash val="solid"/>
          </a:ln>
        </p:spPr>
      </p:sp>
      <p:sp>
        <p:nvSpPr>
          <p:cNvPr id="16" name="slide-title"/>
          <p:cNvSpPr>
            <a:spLocks noGrp="1"/>
          </p:cNvSpPr>
          <p:nvPr/>
        </p:nvSpPr>
        <p:spPr>
          <a:xfrm>
            <a:off x="1352550" y="161925"/>
            <a:ext cx="8334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buNone/>
              <a:defRPr sz="2025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5.2  不足与再评价：性能依赖数据、任务设定与基线选择</a:t>
            </a:r>
          </a:p>
        </p:txBody>
      </p:sp>
      <p:sp>
        <p:nvSpPr>
          <p:cNvPr id="17" name="title-rule"/>
          <p:cNvSpPr>
            <a:spLocks noGrp="1"/>
          </p:cNvSpPr>
          <p:nvPr/>
        </p:nvSpPr>
        <p:spPr>
          <a:xfrm>
            <a:off x="1162050" y="590550"/>
            <a:ext cx="8715375" cy="19050"/>
          </a:xfrm>
          <a:prstGeom prst="rect">
            <a:avLst/>
          </a:prstGeom>
          <a:solidFill>
            <a:srgbClr val="123D8D"/>
          </a:solidFill>
          <a:ln w="0">
            <a:solidFill>
              <a:srgbClr val="123D8D"/>
            </a:solidFill>
            <a:prstDash val="solid"/>
          </a:ln>
        </p:spPr>
      </p:sp>
      <p:pic>
        <p:nvPicPr>
          <p:cNvPr id="62" name="图片 59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220791" y="66675"/>
            <a:ext cx="1608794" cy="514350"/>
          </a:xfrm>
          <a:prstGeom prst="rect">
            <a:avLst/>
          </a:prstGeom>
        </p:spPr>
      </p:pic>
      <p:sp>
        <p:nvSpPr>
          <p:cNvPr id="19" name="page-number"/>
          <p:cNvSpPr>
            <a:spLocks noGrp="1"/>
          </p:cNvSpPr>
          <p:nvPr/>
        </p:nvSpPr>
        <p:spPr>
          <a:xfrm>
            <a:off x="11382375" y="64865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0">
                <a:solidFill>
                  <a:srgbClr val="7A889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7A889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18</a:t>
            </a:r>
          </a:p>
        </p:txBody>
      </p:sp>
      <p:sp>
        <p:nvSpPr>
          <p:cNvPr id="20" name="citation-footer"/>
          <p:cNvSpPr>
            <a:spLocks noGrp="1"/>
          </p:cNvSpPr>
          <p:nvPr/>
        </p:nvSpPr>
        <p:spPr>
          <a:xfrm>
            <a:off x="1162050" y="64579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7A889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>
                <a:solidFill>
                  <a:srgbClr val="7A889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Cui et al. | Nature Methods 21, 1470–1480 (2024)</a:t>
            </a:r>
          </a:p>
        </p:txBody>
      </p:sp>
      <p:sp>
        <p:nvSpPr>
          <p:cNvPr id="21" name="limit-card-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714500" y="1676400"/>
            <a:ext cx="2190750" cy="3390900"/>
          </a:xfrm>
          <a:prstGeom prst="rect">
            <a:avLst/>
          </a:prstGeom>
          <a:solidFill>
            <a:srgbClr val="EEF7FD"/>
          </a:solidFill>
          <a:ln w="9525">
            <a:solidFill>
              <a:srgbClr val="BCD5E5"/>
            </a:solidFill>
            <a:prstDash val="solid"/>
          </a:ln>
        </p:spPr>
      </p:sp>
      <p:sp>
        <p:nvSpPr>
          <p:cNvPr id="22" name="limit-circle-0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2505075" y="12954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123D8D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23" name="limit-no-0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2609850" y="144780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</a:p>
        </p:txBody>
      </p:sp>
      <p:sp>
        <p:nvSpPr>
          <p:cNvPr id="24" name="limit-title-0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905000" y="2133600"/>
            <a:ext cx="1809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725" b="1">
                <a:solidFill>
                  <a:srgbClr val="123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23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数据覆盖</a:t>
            </a:r>
          </a:p>
        </p:txBody>
      </p:sp>
      <p:sp>
        <p:nvSpPr>
          <p:cNvPr id="25" name="limit-body-0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1943100" y="2724150"/>
            <a:ext cx="1733550" cy="1885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indent="0" algn="ctr" fontAlgn="auto">
              <a:lnSpc>
                <a:spcPct val="150000"/>
              </a:lnSpc>
              <a:buNone/>
              <a:defRPr sz="131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预训练主要来自正常人类细胞图谱；稀有状态、疾病和群体代表性可能不足。</a:t>
            </a:r>
          </a:p>
        </p:txBody>
      </p:sp>
      <p:sp>
        <p:nvSpPr>
          <p:cNvPr id="26" name="limit-card-1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238625" y="1676400"/>
            <a:ext cx="2190750" cy="3390900"/>
          </a:xfrm>
          <a:prstGeom prst="rect">
            <a:avLst/>
          </a:prstGeom>
          <a:solidFill>
            <a:srgbClr val="DCEEFF"/>
          </a:solidFill>
          <a:ln w="9525">
            <a:solidFill>
              <a:srgbClr val="BCD5E5"/>
            </a:solidFill>
            <a:prstDash val="solid"/>
          </a:ln>
        </p:spPr>
      </p:sp>
      <p:sp>
        <p:nvSpPr>
          <p:cNvPr id="27" name="limit-circle-1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5029200" y="12954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123D8D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28" name="limit-no-1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5133975" y="144780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</a:p>
        </p:txBody>
      </p:sp>
      <p:sp>
        <p:nvSpPr>
          <p:cNvPr id="29" name="limit-title-1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4429125" y="2133600"/>
            <a:ext cx="1809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725" b="1">
                <a:solidFill>
                  <a:srgbClr val="123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23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分布外泛化</a:t>
            </a:r>
          </a:p>
        </p:txBody>
      </p:sp>
      <p:sp>
        <p:nvSpPr>
          <p:cNvPr id="30" name="limit-body-1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4467225" y="2724150"/>
            <a:ext cx="1733550" cy="1885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indent="0" algn="ctr" fontAlgn="auto">
              <a:lnSpc>
                <a:spcPct val="150000"/>
              </a:lnSpc>
              <a:buNone/>
              <a:defRPr sz="131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多数亮点来自任务微调；真正 zero-shot、跨平台和跨物种泛化仍需严格验证。</a:t>
            </a:r>
          </a:p>
        </p:txBody>
      </p:sp>
      <p:sp>
        <p:nvSpPr>
          <p:cNvPr id="31" name="limit-card-2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6762750" y="1676400"/>
            <a:ext cx="2190750" cy="3390900"/>
          </a:xfrm>
          <a:prstGeom prst="rect">
            <a:avLst/>
          </a:prstGeom>
          <a:solidFill>
            <a:srgbClr val="EEF7FD"/>
          </a:solidFill>
          <a:ln w="9525">
            <a:solidFill>
              <a:srgbClr val="BCD5E5"/>
            </a:solidFill>
            <a:prstDash val="solid"/>
          </a:ln>
        </p:spPr>
      </p:sp>
      <p:sp>
        <p:nvSpPr>
          <p:cNvPr id="32" name="limit-circle-2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7553325" y="12954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123D8D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33" name="limit-no-2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7658100" y="144780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</a:p>
        </p:txBody>
      </p:sp>
      <p:sp>
        <p:nvSpPr>
          <p:cNvPr id="34" name="limit-title-2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6953250" y="2133600"/>
            <a:ext cx="1809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725" b="1">
                <a:solidFill>
                  <a:srgbClr val="123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23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解释边界</a:t>
            </a:r>
          </a:p>
        </p:txBody>
      </p:sp>
      <p:sp>
        <p:nvSpPr>
          <p:cNvPr id="35" name="limit-body-2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6991350" y="2724150"/>
            <a:ext cx="1733550" cy="1885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indent="0" algn="ctr" fontAlgn="auto">
              <a:lnSpc>
                <a:spcPct val="150000"/>
              </a:lnSpc>
              <a:buNone/>
              <a:defRPr sz="131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嵌入和注意力体现关联结构，不能单独证明基因调控的方向与因果。</a:t>
            </a:r>
          </a:p>
        </p:txBody>
      </p:sp>
      <p:sp>
        <p:nvSpPr>
          <p:cNvPr id="36" name="limit-card-3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9286875" y="1676400"/>
            <a:ext cx="2190750" cy="3390900"/>
          </a:xfrm>
          <a:prstGeom prst="rect">
            <a:avLst/>
          </a:prstGeom>
          <a:solidFill>
            <a:srgbClr val="DCEEFF"/>
          </a:solidFill>
          <a:ln w="9525">
            <a:solidFill>
              <a:srgbClr val="BCD5E5"/>
            </a:solidFill>
            <a:prstDash val="solid"/>
          </a:ln>
        </p:spPr>
      </p:sp>
      <p:sp>
        <p:nvSpPr>
          <p:cNvPr id="37" name="limit-circle-3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10077450" y="12954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C7333E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limit-no-3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10182225" y="144780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</a:p>
        </p:txBody>
      </p:sp>
      <p:sp>
        <p:nvSpPr>
          <p:cNvPr id="39" name="limit-title-3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9477375" y="2133600"/>
            <a:ext cx="1809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725" b="1">
                <a:solidFill>
                  <a:srgbClr val="C733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C733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基准敏感</a:t>
            </a:r>
          </a:p>
        </p:txBody>
      </p:sp>
      <p:sp>
        <p:nvSpPr>
          <p:cNvPr id="40" name="limit-body-3"/>
          <p:cNvSpPr>
            <a:spLocks noGrp="1"/>
          </p:cNvSpPr>
          <p:nvPr>
            <p:custDataLst>
              <p:tags r:id="rId20"/>
            </p:custDataLst>
          </p:nvPr>
        </p:nvSpPr>
        <p:spPr>
          <a:xfrm>
            <a:off x="9515475" y="2867660"/>
            <a:ext cx="1733550" cy="1885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indent="0" algn="ctr" fontAlgn="auto">
              <a:lnSpc>
                <a:spcPct val="150000"/>
              </a:lnSpc>
              <a:buNone/>
              <a:defRPr sz="131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2025 年 Nature Methods 再评价：扰动预测中的深度模型尚未稳定超过简单线性基线。</a:t>
            </a:r>
          </a:p>
        </p:txBody>
      </p:sp>
      <p:sp>
        <p:nvSpPr>
          <p:cNvPr id="41" name="limits-takeaway"/>
          <p:cNvSpPr>
            <a:spLocks noGrp="1"/>
          </p:cNvSpPr>
          <p:nvPr/>
        </p:nvSpPr>
        <p:spPr>
          <a:xfrm>
            <a:off x="2667000" y="5486400"/>
            <a:ext cx="7524750" cy="514350"/>
          </a:xfrm>
          <a:prstGeom prst="rect">
            <a:avLst/>
          </a:prstGeom>
          <a:solidFill>
            <a:srgbClr val="FBE9EB"/>
          </a:solidFill>
          <a:ln w="9525">
            <a:solidFill>
              <a:srgbClr val="E6AAB0"/>
            </a:solidFill>
            <a:prstDash val="solid"/>
          </a:ln>
        </p:spPr>
      </p:sp>
      <p:sp>
        <p:nvSpPr>
          <p:cNvPr id="42" name="limits-message"/>
          <p:cNvSpPr>
            <a:spLocks noGrp="1"/>
          </p:cNvSpPr>
          <p:nvPr/>
        </p:nvSpPr>
        <p:spPr>
          <a:xfrm>
            <a:off x="2905125" y="5600700"/>
            <a:ext cx="704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00" b="1">
                <a:solidFill>
                  <a:srgbClr val="C733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C733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判断基础模型价值时，应同时比较强基线、真正分布外测试和计算成本。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left-nav-bg"/>
          <p:cNvSpPr>
            <a:spLocks noGrp="1"/>
          </p:cNvSpPr>
          <p:nvPr/>
        </p:nvSpPr>
        <p:spPr>
          <a:xfrm>
            <a:off x="0" y="0"/>
            <a:ext cx="990600" cy="6858000"/>
          </a:xfrm>
          <a:prstGeom prst="rect">
            <a:avLst/>
          </a:prstGeom>
          <a:solidFill>
            <a:srgbClr val="123D8D"/>
          </a:solidFill>
          <a:ln w="0">
            <a:solidFill>
              <a:srgbClr val="123D8D"/>
            </a:solidFill>
            <a:prstDash val="solid"/>
          </a:ln>
        </p:spPr>
      </p:sp>
      <p:sp>
        <p:nvSpPr>
          <p:cNvPr id="2" name="nav-label"/>
          <p:cNvSpPr>
            <a:spLocks noGrp="1"/>
          </p:cNvSpPr>
          <p:nvPr/>
        </p:nvSpPr>
        <p:spPr>
          <a:xfrm>
            <a:off x="28575" y="2667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课题组文献汇报</a:t>
            </a:r>
          </a:p>
        </p:txBody>
      </p:sp>
      <p:sp>
        <p:nvSpPr>
          <p:cNvPr id="3" name="nav-0"/>
          <p:cNvSpPr>
            <a:spLocks noGrp="1"/>
          </p:cNvSpPr>
          <p:nvPr/>
        </p:nvSpPr>
        <p:spPr>
          <a:xfrm>
            <a:off x="57150" y="2095500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4" name="nav-text-0"/>
          <p:cNvSpPr>
            <a:spLocks noGrp="1"/>
          </p:cNvSpPr>
          <p:nvPr/>
        </p:nvSpPr>
        <p:spPr>
          <a:xfrm>
            <a:off x="85725" y="2181225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基本信息</a:t>
            </a:r>
          </a:p>
        </p:txBody>
      </p:sp>
      <p:sp>
        <p:nvSpPr>
          <p:cNvPr id="5" name="nav-1"/>
          <p:cNvSpPr>
            <a:spLocks noGrp="1"/>
          </p:cNvSpPr>
          <p:nvPr/>
        </p:nvSpPr>
        <p:spPr>
          <a:xfrm>
            <a:off x="57150" y="2562225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6" name="nav-text-1"/>
          <p:cNvSpPr>
            <a:spLocks noGrp="1"/>
          </p:cNvSpPr>
          <p:nvPr/>
        </p:nvSpPr>
        <p:spPr>
          <a:xfrm>
            <a:off x="85725" y="2647950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研究背景</a:t>
            </a:r>
          </a:p>
        </p:txBody>
      </p:sp>
      <p:sp>
        <p:nvSpPr>
          <p:cNvPr id="7" name="nav-2"/>
          <p:cNvSpPr>
            <a:spLocks noGrp="1"/>
          </p:cNvSpPr>
          <p:nvPr/>
        </p:nvSpPr>
        <p:spPr>
          <a:xfrm>
            <a:off x="57150" y="3028950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8" name="nav-text-2"/>
          <p:cNvSpPr>
            <a:spLocks noGrp="1"/>
          </p:cNvSpPr>
          <p:nvPr/>
        </p:nvSpPr>
        <p:spPr>
          <a:xfrm>
            <a:off x="85725" y="3114675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研究思路</a:t>
            </a:r>
          </a:p>
        </p:txBody>
      </p:sp>
      <p:sp>
        <p:nvSpPr>
          <p:cNvPr id="9" name="nav-3"/>
          <p:cNvSpPr>
            <a:spLocks noGrp="1"/>
          </p:cNvSpPr>
          <p:nvPr/>
        </p:nvSpPr>
        <p:spPr>
          <a:xfrm>
            <a:off x="57150" y="3495675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10" name="nav-text-3"/>
          <p:cNvSpPr>
            <a:spLocks noGrp="1"/>
          </p:cNvSpPr>
          <p:nvPr/>
        </p:nvSpPr>
        <p:spPr>
          <a:xfrm>
            <a:off x="85725" y="3581400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研究结果</a:t>
            </a:r>
          </a:p>
        </p:txBody>
      </p:sp>
      <p:sp>
        <p:nvSpPr>
          <p:cNvPr id="11" name="nav-4"/>
          <p:cNvSpPr>
            <a:spLocks noGrp="1"/>
          </p:cNvSpPr>
          <p:nvPr/>
        </p:nvSpPr>
        <p:spPr>
          <a:xfrm>
            <a:off x="57150" y="3962400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12" name="nav-text-4"/>
          <p:cNvSpPr>
            <a:spLocks noGrp="1"/>
          </p:cNvSpPr>
          <p:nvPr/>
        </p:nvSpPr>
        <p:spPr>
          <a:xfrm>
            <a:off x="85725" y="4048125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结论与讨论</a:t>
            </a:r>
          </a:p>
        </p:txBody>
      </p:sp>
      <p:sp>
        <p:nvSpPr>
          <p:cNvPr id="13" name="nav-5"/>
          <p:cNvSpPr>
            <a:spLocks noGrp="1"/>
          </p:cNvSpPr>
          <p:nvPr/>
        </p:nvSpPr>
        <p:spPr>
          <a:xfrm>
            <a:off x="57150" y="4429125"/>
            <a:ext cx="876300" cy="409575"/>
          </a:xfrm>
          <a:prstGeom prst="rect">
            <a:avLst/>
          </a:prstGeom>
          <a:solidFill>
            <a:srgbClr val="EEF7F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nav-text-5"/>
          <p:cNvSpPr>
            <a:spLocks noGrp="1"/>
          </p:cNvSpPr>
          <p:nvPr/>
        </p:nvSpPr>
        <p:spPr>
          <a:xfrm>
            <a:off x="85725" y="4514850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123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23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创新与启发</a:t>
            </a:r>
          </a:p>
        </p:txBody>
      </p:sp>
      <p:sp>
        <p:nvSpPr>
          <p:cNvPr id="15" name="title-square"/>
          <p:cNvSpPr>
            <a:spLocks noGrp="1"/>
          </p:cNvSpPr>
          <p:nvPr/>
        </p:nvSpPr>
        <p:spPr>
          <a:xfrm>
            <a:off x="1162050" y="228600"/>
            <a:ext cx="114300" cy="190500"/>
          </a:xfrm>
          <a:prstGeom prst="rect">
            <a:avLst/>
          </a:prstGeom>
          <a:solidFill>
            <a:srgbClr val="123D8D"/>
          </a:solidFill>
          <a:ln w="0">
            <a:solidFill>
              <a:srgbClr val="123D8D"/>
            </a:solidFill>
            <a:prstDash val="solid"/>
          </a:ln>
        </p:spPr>
      </p:sp>
      <p:sp>
        <p:nvSpPr>
          <p:cNvPr id="16" name="slide-title"/>
          <p:cNvSpPr>
            <a:spLocks noGrp="1"/>
          </p:cNvSpPr>
          <p:nvPr/>
        </p:nvSpPr>
        <p:spPr>
          <a:xfrm>
            <a:off x="1352550" y="161925"/>
            <a:ext cx="8334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buNone/>
              <a:defRPr sz="2025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  创新与启发：从“单任务算法”走向“预训练细胞表示 + 实验闭环”</a:t>
            </a:r>
          </a:p>
        </p:txBody>
      </p:sp>
      <p:sp>
        <p:nvSpPr>
          <p:cNvPr id="17" name="title-rule"/>
          <p:cNvSpPr>
            <a:spLocks noGrp="1"/>
          </p:cNvSpPr>
          <p:nvPr/>
        </p:nvSpPr>
        <p:spPr>
          <a:xfrm>
            <a:off x="1162050" y="590550"/>
            <a:ext cx="8715375" cy="19050"/>
          </a:xfrm>
          <a:prstGeom prst="rect">
            <a:avLst/>
          </a:prstGeom>
          <a:solidFill>
            <a:srgbClr val="123D8D"/>
          </a:solidFill>
          <a:ln w="0">
            <a:solidFill>
              <a:srgbClr val="123D8D"/>
            </a:solidFill>
            <a:prstDash val="solid"/>
          </a:ln>
        </p:spPr>
      </p:sp>
      <p:pic>
        <p:nvPicPr>
          <p:cNvPr id="49" name="图片 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0791" y="66675"/>
            <a:ext cx="1608794" cy="514350"/>
          </a:xfrm>
          <a:prstGeom prst="rect">
            <a:avLst/>
          </a:prstGeom>
        </p:spPr>
      </p:pic>
      <p:sp>
        <p:nvSpPr>
          <p:cNvPr id="19" name="page-number"/>
          <p:cNvSpPr>
            <a:spLocks noGrp="1"/>
          </p:cNvSpPr>
          <p:nvPr/>
        </p:nvSpPr>
        <p:spPr>
          <a:xfrm>
            <a:off x="11382375" y="64865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0">
                <a:solidFill>
                  <a:srgbClr val="7A889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7A889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19</a:t>
            </a:r>
          </a:p>
        </p:txBody>
      </p:sp>
      <p:sp>
        <p:nvSpPr>
          <p:cNvPr id="20" name="citation-footer"/>
          <p:cNvSpPr>
            <a:spLocks noGrp="1"/>
          </p:cNvSpPr>
          <p:nvPr/>
        </p:nvSpPr>
        <p:spPr>
          <a:xfrm>
            <a:off x="1162050" y="64579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7A889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>
                <a:solidFill>
                  <a:srgbClr val="7A889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Cui et al. | Nature Methods 21, 1470–1480 (2024)</a:t>
            </a:r>
          </a:p>
        </p:txBody>
      </p:sp>
      <p:sp>
        <p:nvSpPr>
          <p:cNvPr id="21" name="innovation-title"/>
          <p:cNvSpPr>
            <a:spLocks noGrp="1"/>
          </p:cNvSpPr>
          <p:nvPr/>
        </p:nvSpPr>
        <p:spPr>
          <a:xfrm>
            <a:off x="2809875" y="1000125"/>
            <a:ext cx="238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100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</a:t>
            </a:r>
          </a:p>
        </p:txBody>
      </p:sp>
      <p:sp>
        <p:nvSpPr>
          <p:cNvPr id="22" name="implication-title"/>
          <p:cNvSpPr>
            <a:spLocks noGrp="1"/>
          </p:cNvSpPr>
          <p:nvPr/>
        </p:nvSpPr>
        <p:spPr>
          <a:xfrm>
            <a:off x="8048625" y="1000125"/>
            <a:ext cx="238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100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启发</a:t>
            </a:r>
          </a:p>
        </p:txBody>
      </p:sp>
      <p:sp>
        <p:nvSpPr>
          <p:cNvPr id="23" name="innovation-box"/>
          <p:cNvSpPr>
            <a:spLocks noGrp="1"/>
          </p:cNvSpPr>
          <p:nvPr/>
        </p:nvSpPr>
        <p:spPr>
          <a:xfrm>
            <a:off x="1714500" y="1571625"/>
            <a:ext cx="4476750" cy="3714750"/>
          </a:xfrm>
          <a:prstGeom prst="rect">
            <a:avLst/>
          </a:prstGeom>
          <a:solidFill>
            <a:srgbClr val="EEF7FD"/>
          </a:solidFill>
          <a:ln w="9525">
            <a:solidFill>
              <a:srgbClr val="BCD5E5"/>
            </a:solidFill>
            <a:prstDash val="solid"/>
          </a:ln>
        </p:spPr>
      </p:sp>
      <p:sp>
        <p:nvSpPr>
          <p:cNvPr id="24" name="implication-box"/>
          <p:cNvSpPr>
            <a:spLocks noGrp="1"/>
          </p:cNvSpPr>
          <p:nvPr/>
        </p:nvSpPr>
        <p:spPr>
          <a:xfrm>
            <a:off x="6953250" y="1571625"/>
            <a:ext cx="4476750" cy="3714750"/>
          </a:xfrm>
          <a:prstGeom prst="rect">
            <a:avLst/>
          </a:prstGeom>
          <a:solidFill>
            <a:srgbClr val="DCEEFF"/>
          </a:solidFill>
          <a:ln w="9525">
            <a:solidFill>
              <a:srgbClr val="BCD5E5"/>
            </a:solidFill>
            <a:prstDash val="solid"/>
          </a:ln>
        </p:spPr>
      </p:sp>
      <p:sp>
        <p:nvSpPr>
          <p:cNvPr id="25" name="innovation-bullets"/>
          <p:cNvSpPr>
            <a:spLocks noGrp="1"/>
          </p:cNvSpPr>
          <p:nvPr/>
        </p:nvSpPr>
        <p:spPr>
          <a:xfrm>
            <a:off x="2000250" y="1885950"/>
            <a:ext cx="3905250" cy="304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marL="0" indent="0" algn="l">
              <a:lnSpc>
                <a:spcPct val="170000"/>
              </a:lnSpc>
              <a:spcAft>
                <a:spcPts val="10"/>
              </a:spcAft>
              <a:buChar char="•"/>
              <a:defRPr sz="150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范式</a:t>
            </a:r>
            <a:r>
              <a:rPr sz="150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将大规模单细胞图谱用于生成式预训练，而非只训练一个分类器。</a:t>
            </a:r>
          </a:p>
          <a:p>
            <a:pPr marL="0" indent="0" algn="l">
              <a:lnSpc>
                <a:spcPct val="170000"/>
              </a:lnSpc>
              <a:spcAft>
                <a:spcPts val="10"/>
              </a:spcAft>
              <a:buChar char="•"/>
              <a:defRPr sz="150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表示</a:t>
            </a:r>
            <a:r>
              <a:rPr sz="150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gene、expression、condition 三层嵌入统一异质信息。</a:t>
            </a:r>
          </a:p>
          <a:p>
            <a:pPr marL="0" indent="0" algn="l">
              <a:lnSpc>
                <a:spcPct val="170000"/>
              </a:lnSpc>
              <a:spcAft>
                <a:spcPts val="10"/>
              </a:spcAft>
              <a:buChar char="•"/>
              <a:defRPr sz="150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复用</a:t>
            </a:r>
            <a:r>
              <a:rPr sz="150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同一模型覆盖注释、整合、扰动和网络推断。</a:t>
            </a:r>
          </a:p>
          <a:p>
            <a:pPr marL="0" indent="0" algn="l">
              <a:lnSpc>
                <a:spcPct val="170000"/>
              </a:lnSpc>
              <a:spcAft>
                <a:spcPts val="10"/>
              </a:spcAft>
              <a:buChar char="•"/>
              <a:defRPr sz="150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解释</a:t>
            </a:r>
            <a:r>
              <a:rPr sz="150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模型内部表示可被用于构建可验证的生物学假设。</a:t>
            </a:r>
          </a:p>
        </p:txBody>
      </p:sp>
      <p:sp>
        <p:nvSpPr>
          <p:cNvPr id="26" name="implication-bullets"/>
          <p:cNvSpPr>
            <a:spLocks noGrp="1"/>
          </p:cNvSpPr>
          <p:nvPr/>
        </p:nvSpPr>
        <p:spPr>
          <a:xfrm>
            <a:off x="7239000" y="1885950"/>
            <a:ext cx="3905250" cy="304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marL="0" indent="0" algn="l">
              <a:lnSpc>
                <a:spcPct val="170000"/>
              </a:lnSpc>
              <a:spcAft>
                <a:spcPts val="10"/>
              </a:spcAft>
              <a:buChar char="•"/>
              <a:defRPr sz="150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课题迁移</a:t>
            </a:r>
            <a:r>
              <a:rPr sz="150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自己的数据可先接入预训练表示，再进行小样本微调或参考映射。</a:t>
            </a:r>
          </a:p>
          <a:p>
            <a:pPr marL="0" indent="0" algn="l">
              <a:lnSpc>
                <a:spcPct val="170000"/>
              </a:lnSpc>
              <a:spcAft>
                <a:spcPts val="10"/>
              </a:spcAft>
              <a:buChar char="•"/>
              <a:defRPr sz="150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实验设计</a:t>
            </a:r>
            <a:r>
              <a:rPr sz="150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把模型输出用于筛选实验条件，而不是替代实验验证。</a:t>
            </a:r>
          </a:p>
          <a:p>
            <a:pPr marL="0" indent="0" algn="l">
              <a:lnSpc>
                <a:spcPct val="170000"/>
              </a:lnSpc>
              <a:spcAft>
                <a:spcPts val="10"/>
              </a:spcAft>
              <a:buChar char="•"/>
              <a:defRPr sz="150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评价</a:t>
            </a:r>
            <a:r>
              <a:rPr sz="150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优先设计跨批次、跨队列、跨平台的分布外验证。</a:t>
            </a:r>
          </a:p>
          <a:p>
            <a:pPr marL="0" indent="0" algn="l">
              <a:lnSpc>
                <a:spcPct val="170000"/>
              </a:lnSpc>
              <a:spcAft>
                <a:spcPts val="10"/>
              </a:spcAft>
              <a:buChar char="•"/>
              <a:defRPr sz="150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</a:t>
            </a:r>
            <a:r>
              <a:rPr sz="150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结合通路知识、扰动数据和空间信息，提高可解释性。</a:t>
            </a:r>
          </a:p>
        </p:txBody>
      </p:sp>
      <p:sp>
        <p:nvSpPr>
          <p:cNvPr id="27" name="flow-arrow"/>
          <p:cNvSpPr>
            <a:spLocks noGrp="1"/>
          </p:cNvSpPr>
          <p:nvPr/>
        </p:nvSpPr>
        <p:spPr>
          <a:xfrm>
            <a:off x="6048375" y="3143250"/>
            <a:ext cx="666750" cy="476250"/>
          </a:xfrm>
          <a:prstGeom prst="rightArrow">
            <a:avLst/>
          </a:prstGeom>
          <a:solidFill>
            <a:srgbClr val="C7333E"/>
          </a:solidFill>
          <a:ln w="0">
            <a:solidFill>
              <a:srgbClr val="C7333E"/>
            </a:solidFill>
            <a:prstDash val="solid"/>
          </a:ln>
        </p:spPr>
      </p:sp>
      <p:sp>
        <p:nvSpPr>
          <p:cNvPr id="28" name="innovation-takeaway"/>
          <p:cNvSpPr>
            <a:spLocks noGrp="1"/>
          </p:cNvSpPr>
          <p:nvPr/>
        </p:nvSpPr>
        <p:spPr>
          <a:xfrm>
            <a:off x="2714625" y="5619750"/>
            <a:ext cx="7429500" cy="457200"/>
          </a:xfrm>
          <a:prstGeom prst="rect">
            <a:avLst/>
          </a:prstGeom>
          <a:solidFill>
            <a:srgbClr val="123D8D"/>
          </a:solidFill>
          <a:ln w="0">
            <a:solidFill>
              <a:srgbClr val="123D8D"/>
            </a:solidFill>
            <a:prstDash val="solid"/>
          </a:ln>
        </p:spPr>
      </p:sp>
      <p:sp>
        <p:nvSpPr>
          <p:cNvPr id="29" name="innovation-message"/>
          <p:cNvSpPr>
            <a:spLocks noGrp="1"/>
          </p:cNvSpPr>
          <p:nvPr/>
        </p:nvSpPr>
        <p:spPr>
          <a:xfrm>
            <a:off x="2809240" y="5715000"/>
            <a:ext cx="7392670" cy="2686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最值得借鉴的不是“做一个更大的模型”，而是建立可复用的表示与验证闭环。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left-nav-bg"/>
          <p:cNvSpPr>
            <a:spLocks noGrp="1"/>
          </p:cNvSpPr>
          <p:nvPr/>
        </p:nvSpPr>
        <p:spPr>
          <a:xfrm>
            <a:off x="0" y="0"/>
            <a:ext cx="990600" cy="6858000"/>
          </a:xfrm>
          <a:prstGeom prst="rect">
            <a:avLst/>
          </a:prstGeom>
          <a:solidFill>
            <a:srgbClr val="123D8D"/>
          </a:solidFill>
          <a:ln w="0">
            <a:solidFill>
              <a:srgbClr val="123D8D"/>
            </a:solidFill>
            <a:prstDash val="solid"/>
          </a:ln>
        </p:spPr>
      </p:sp>
      <p:sp>
        <p:nvSpPr>
          <p:cNvPr id="2" name="nav-label"/>
          <p:cNvSpPr>
            <a:spLocks noGrp="1"/>
          </p:cNvSpPr>
          <p:nvPr/>
        </p:nvSpPr>
        <p:spPr>
          <a:xfrm>
            <a:off x="28575" y="2667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课题组文献汇报</a:t>
            </a:r>
          </a:p>
        </p:txBody>
      </p:sp>
      <p:sp>
        <p:nvSpPr>
          <p:cNvPr id="3" name="nav-0"/>
          <p:cNvSpPr>
            <a:spLocks noGrp="1"/>
          </p:cNvSpPr>
          <p:nvPr/>
        </p:nvSpPr>
        <p:spPr>
          <a:xfrm>
            <a:off x="57150" y="2095500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4" name="nav-text-0"/>
          <p:cNvSpPr>
            <a:spLocks noGrp="1"/>
          </p:cNvSpPr>
          <p:nvPr/>
        </p:nvSpPr>
        <p:spPr>
          <a:xfrm>
            <a:off x="85725" y="2181225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基本信息</a:t>
            </a:r>
          </a:p>
        </p:txBody>
      </p:sp>
      <p:sp>
        <p:nvSpPr>
          <p:cNvPr id="5" name="nav-1"/>
          <p:cNvSpPr>
            <a:spLocks noGrp="1"/>
          </p:cNvSpPr>
          <p:nvPr/>
        </p:nvSpPr>
        <p:spPr>
          <a:xfrm>
            <a:off x="57150" y="2562225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6" name="nav-text-1"/>
          <p:cNvSpPr>
            <a:spLocks noGrp="1"/>
          </p:cNvSpPr>
          <p:nvPr/>
        </p:nvSpPr>
        <p:spPr>
          <a:xfrm>
            <a:off x="85725" y="2647950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研究背景</a:t>
            </a:r>
          </a:p>
        </p:txBody>
      </p:sp>
      <p:sp>
        <p:nvSpPr>
          <p:cNvPr id="7" name="nav-2"/>
          <p:cNvSpPr>
            <a:spLocks noGrp="1"/>
          </p:cNvSpPr>
          <p:nvPr/>
        </p:nvSpPr>
        <p:spPr>
          <a:xfrm>
            <a:off x="57150" y="3028950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8" name="nav-text-2"/>
          <p:cNvSpPr>
            <a:spLocks noGrp="1"/>
          </p:cNvSpPr>
          <p:nvPr/>
        </p:nvSpPr>
        <p:spPr>
          <a:xfrm>
            <a:off x="85725" y="3114675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研究思路</a:t>
            </a:r>
          </a:p>
        </p:txBody>
      </p:sp>
      <p:sp>
        <p:nvSpPr>
          <p:cNvPr id="9" name="nav-3"/>
          <p:cNvSpPr>
            <a:spLocks noGrp="1"/>
          </p:cNvSpPr>
          <p:nvPr/>
        </p:nvSpPr>
        <p:spPr>
          <a:xfrm>
            <a:off x="57150" y="3495675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10" name="nav-text-3"/>
          <p:cNvSpPr>
            <a:spLocks noGrp="1"/>
          </p:cNvSpPr>
          <p:nvPr/>
        </p:nvSpPr>
        <p:spPr>
          <a:xfrm>
            <a:off x="85725" y="3581400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研究结果</a:t>
            </a:r>
          </a:p>
        </p:txBody>
      </p:sp>
      <p:sp>
        <p:nvSpPr>
          <p:cNvPr id="11" name="nav-4"/>
          <p:cNvSpPr>
            <a:spLocks noGrp="1"/>
          </p:cNvSpPr>
          <p:nvPr/>
        </p:nvSpPr>
        <p:spPr>
          <a:xfrm>
            <a:off x="57150" y="3962400"/>
            <a:ext cx="876300" cy="409575"/>
          </a:xfrm>
          <a:prstGeom prst="rect">
            <a:avLst/>
          </a:prstGeom>
          <a:solidFill>
            <a:srgbClr val="1B4F9A"/>
          </a:solidFill>
          <a:ln w="9525">
            <a:solidFill>
              <a:srgbClr val="3169AA"/>
            </a:solidFill>
            <a:prstDash val="solid"/>
          </a:ln>
        </p:spPr>
      </p:sp>
      <p:sp>
        <p:nvSpPr>
          <p:cNvPr id="12" name="nav-text-4"/>
          <p:cNvSpPr>
            <a:spLocks noGrp="1"/>
          </p:cNvSpPr>
          <p:nvPr/>
        </p:nvSpPr>
        <p:spPr>
          <a:xfrm>
            <a:off x="85725" y="4048125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结论与讨论</a:t>
            </a:r>
          </a:p>
        </p:txBody>
      </p:sp>
      <p:sp>
        <p:nvSpPr>
          <p:cNvPr id="13" name="nav-5"/>
          <p:cNvSpPr>
            <a:spLocks noGrp="1"/>
          </p:cNvSpPr>
          <p:nvPr/>
        </p:nvSpPr>
        <p:spPr>
          <a:xfrm>
            <a:off x="57150" y="4429125"/>
            <a:ext cx="876300" cy="409575"/>
          </a:xfrm>
          <a:prstGeom prst="rect">
            <a:avLst/>
          </a:prstGeom>
          <a:solidFill>
            <a:srgbClr val="EEF7F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nav-text-5"/>
          <p:cNvSpPr>
            <a:spLocks noGrp="1"/>
          </p:cNvSpPr>
          <p:nvPr/>
        </p:nvSpPr>
        <p:spPr>
          <a:xfrm>
            <a:off x="85725" y="4514850"/>
            <a:ext cx="819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123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23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创新与启发</a:t>
            </a:r>
          </a:p>
        </p:txBody>
      </p:sp>
      <p:sp>
        <p:nvSpPr>
          <p:cNvPr id="15" name="title-square"/>
          <p:cNvSpPr>
            <a:spLocks noGrp="1"/>
          </p:cNvSpPr>
          <p:nvPr/>
        </p:nvSpPr>
        <p:spPr>
          <a:xfrm>
            <a:off x="1162050" y="228600"/>
            <a:ext cx="114300" cy="190500"/>
          </a:xfrm>
          <a:prstGeom prst="rect">
            <a:avLst/>
          </a:prstGeom>
          <a:solidFill>
            <a:srgbClr val="123D8D"/>
          </a:solidFill>
          <a:ln w="0">
            <a:solidFill>
              <a:srgbClr val="123D8D"/>
            </a:solidFill>
            <a:prstDash val="solid"/>
          </a:ln>
        </p:spPr>
      </p:sp>
      <p:sp>
        <p:nvSpPr>
          <p:cNvPr id="16" name="slide-title"/>
          <p:cNvSpPr>
            <a:spLocks noGrp="1"/>
          </p:cNvSpPr>
          <p:nvPr/>
        </p:nvSpPr>
        <p:spPr>
          <a:xfrm>
            <a:off x="1352550" y="161925"/>
            <a:ext cx="8334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buNone/>
              <a:defRPr sz="2025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6.1  汇报总结：scGPT 的真正贡献是一个可复用接口，而非终点</a:t>
            </a:r>
          </a:p>
        </p:txBody>
      </p:sp>
      <p:sp>
        <p:nvSpPr>
          <p:cNvPr id="17" name="title-rule"/>
          <p:cNvSpPr>
            <a:spLocks noGrp="1"/>
          </p:cNvSpPr>
          <p:nvPr/>
        </p:nvSpPr>
        <p:spPr>
          <a:xfrm>
            <a:off x="1162050" y="590550"/>
            <a:ext cx="8715375" cy="19050"/>
          </a:xfrm>
          <a:prstGeom prst="rect">
            <a:avLst/>
          </a:prstGeom>
          <a:solidFill>
            <a:srgbClr val="123D8D"/>
          </a:solidFill>
          <a:ln w="0">
            <a:solidFill>
              <a:srgbClr val="123D8D"/>
            </a:solidFill>
            <a:prstDash val="solid"/>
          </a:ln>
        </p:spPr>
      </p:sp>
      <p:pic>
        <p:nvPicPr>
          <p:cNvPr id="57" name="图片 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0791" y="66675"/>
            <a:ext cx="1608794" cy="514350"/>
          </a:xfrm>
          <a:prstGeom prst="rect">
            <a:avLst/>
          </a:prstGeom>
        </p:spPr>
      </p:pic>
      <p:sp>
        <p:nvSpPr>
          <p:cNvPr id="19" name="page-number"/>
          <p:cNvSpPr>
            <a:spLocks noGrp="1"/>
          </p:cNvSpPr>
          <p:nvPr/>
        </p:nvSpPr>
        <p:spPr>
          <a:xfrm>
            <a:off x="11382375" y="64865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0">
                <a:solidFill>
                  <a:srgbClr val="7A889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7A889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20</a:t>
            </a:r>
          </a:p>
        </p:txBody>
      </p:sp>
      <p:sp>
        <p:nvSpPr>
          <p:cNvPr id="20" name="citation-footer"/>
          <p:cNvSpPr>
            <a:spLocks noGrp="1"/>
          </p:cNvSpPr>
          <p:nvPr/>
        </p:nvSpPr>
        <p:spPr>
          <a:xfrm>
            <a:off x="1162050" y="64579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7A889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>
                <a:solidFill>
                  <a:srgbClr val="7A889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Cui et al. | Nature Methods 21, 1470–1480 (2024)</a:t>
            </a:r>
          </a:p>
        </p:txBody>
      </p:sp>
      <p:sp>
        <p:nvSpPr>
          <p:cNvPr id="21" name="synthesis-q-0"/>
          <p:cNvSpPr>
            <a:spLocks noGrp="1"/>
          </p:cNvSpPr>
          <p:nvPr/>
        </p:nvSpPr>
        <p:spPr>
          <a:xfrm>
            <a:off x="1809750" y="1238250"/>
            <a:ext cx="2381250" cy="952500"/>
          </a:xfrm>
          <a:prstGeom prst="rect">
            <a:avLst/>
          </a:prstGeom>
          <a:solidFill>
            <a:srgbClr val="DCEEFF"/>
          </a:solidFill>
          <a:ln w="9525">
            <a:solidFill>
              <a:srgbClr val="BCD5E5"/>
            </a:solidFill>
            <a:prstDash val="solid"/>
          </a:ln>
        </p:spPr>
      </p:sp>
      <p:sp>
        <p:nvSpPr>
          <p:cNvPr id="22" name="synthesis-qtext-0"/>
          <p:cNvSpPr>
            <a:spLocks noGrp="1"/>
          </p:cNvSpPr>
          <p:nvPr/>
        </p:nvSpPr>
        <p:spPr>
          <a:xfrm>
            <a:off x="2000250" y="1476375"/>
            <a:ext cx="2000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它解决了什么？</a:t>
            </a:r>
          </a:p>
        </p:txBody>
      </p:sp>
      <p:sp>
        <p:nvSpPr>
          <p:cNvPr id="23" name="flow-arrow"/>
          <p:cNvSpPr>
            <a:spLocks noGrp="1"/>
          </p:cNvSpPr>
          <p:nvPr/>
        </p:nvSpPr>
        <p:spPr>
          <a:xfrm>
            <a:off x="4381500" y="1524000"/>
            <a:ext cx="590550" cy="381000"/>
          </a:xfrm>
          <a:prstGeom prst="rightArrow">
            <a:avLst/>
          </a:prstGeom>
          <a:solidFill>
            <a:srgbClr val="6FA9CF"/>
          </a:solidFill>
          <a:ln w="0">
            <a:solidFill>
              <a:srgbClr val="6FA9CF"/>
            </a:solidFill>
            <a:prstDash val="solid"/>
          </a:ln>
        </p:spPr>
      </p:sp>
      <p:sp>
        <p:nvSpPr>
          <p:cNvPr id="24" name="synthesis-a-0"/>
          <p:cNvSpPr>
            <a:spLocks noGrp="1"/>
          </p:cNvSpPr>
          <p:nvPr/>
        </p:nvSpPr>
        <p:spPr>
          <a:xfrm>
            <a:off x="5238750" y="1238250"/>
            <a:ext cx="6191250" cy="952500"/>
          </a:xfrm>
          <a:prstGeom prst="rect">
            <a:avLst/>
          </a:prstGeom>
          <a:solidFill>
            <a:srgbClr val="EEF7FD"/>
          </a:solidFill>
          <a:ln w="9525">
            <a:solidFill>
              <a:srgbClr val="BCD5E5"/>
            </a:solidFill>
            <a:prstDash val="solid"/>
          </a:ln>
        </p:spPr>
      </p:sp>
      <p:sp>
        <p:nvSpPr>
          <p:cNvPr id="25" name="synthesis-atext-0"/>
          <p:cNvSpPr>
            <a:spLocks noGrp="1"/>
          </p:cNvSpPr>
          <p:nvPr/>
        </p:nvSpPr>
        <p:spPr>
          <a:xfrm>
            <a:off x="5524500" y="1428750"/>
            <a:ext cx="5619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把分散的单细胞分析任务连接到同一预训练表示。</a:t>
            </a:r>
          </a:p>
        </p:txBody>
      </p:sp>
      <p:sp>
        <p:nvSpPr>
          <p:cNvPr id="26" name="synthesis-q-1"/>
          <p:cNvSpPr>
            <a:spLocks noGrp="1"/>
          </p:cNvSpPr>
          <p:nvPr/>
        </p:nvSpPr>
        <p:spPr>
          <a:xfrm>
            <a:off x="1809750" y="2619375"/>
            <a:ext cx="2381250" cy="952500"/>
          </a:xfrm>
          <a:prstGeom prst="rect">
            <a:avLst/>
          </a:prstGeom>
          <a:solidFill>
            <a:srgbClr val="123D8D"/>
          </a:solidFill>
          <a:ln w="9525">
            <a:solidFill>
              <a:srgbClr val="123D8D"/>
            </a:solidFill>
            <a:prstDash val="solid"/>
          </a:ln>
        </p:spPr>
      </p:sp>
      <p:sp>
        <p:nvSpPr>
          <p:cNvPr id="27" name="synthesis-qtext-1"/>
          <p:cNvSpPr>
            <a:spLocks noGrp="1"/>
          </p:cNvSpPr>
          <p:nvPr/>
        </p:nvSpPr>
        <p:spPr>
          <a:xfrm>
            <a:off x="2000250" y="2857500"/>
            <a:ext cx="2000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证据是否充分？</a:t>
            </a:r>
          </a:p>
        </p:txBody>
      </p:sp>
      <p:sp>
        <p:nvSpPr>
          <p:cNvPr id="28" name="flow-arrow"/>
          <p:cNvSpPr>
            <a:spLocks noGrp="1"/>
          </p:cNvSpPr>
          <p:nvPr/>
        </p:nvSpPr>
        <p:spPr>
          <a:xfrm>
            <a:off x="4381500" y="2905125"/>
            <a:ext cx="590550" cy="381000"/>
          </a:xfrm>
          <a:prstGeom prst="rightArrow">
            <a:avLst/>
          </a:prstGeom>
          <a:solidFill>
            <a:srgbClr val="C7333E"/>
          </a:solidFill>
          <a:ln w="0">
            <a:solidFill>
              <a:srgbClr val="C7333E"/>
            </a:solidFill>
            <a:prstDash val="solid"/>
          </a:ln>
        </p:spPr>
      </p:sp>
      <p:sp>
        <p:nvSpPr>
          <p:cNvPr id="29" name="synthesis-a-1"/>
          <p:cNvSpPr>
            <a:spLocks noGrp="1"/>
          </p:cNvSpPr>
          <p:nvPr/>
        </p:nvSpPr>
        <p:spPr>
          <a:xfrm>
            <a:off x="5238750" y="2619375"/>
            <a:ext cx="6191250" cy="952500"/>
          </a:xfrm>
          <a:prstGeom prst="rect">
            <a:avLst/>
          </a:prstGeom>
          <a:solidFill>
            <a:srgbClr val="EEF7FD"/>
          </a:solidFill>
          <a:ln w="9525">
            <a:solidFill>
              <a:srgbClr val="BCD5E5"/>
            </a:solidFill>
            <a:prstDash val="solid"/>
          </a:ln>
        </p:spPr>
      </p:sp>
      <p:sp>
        <p:nvSpPr>
          <p:cNvPr id="30" name="synthesis-atext-1"/>
          <p:cNvSpPr>
            <a:spLocks noGrp="1"/>
          </p:cNvSpPr>
          <p:nvPr/>
        </p:nvSpPr>
        <p:spPr>
          <a:xfrm>
            <a:off x="5524500" y="2809875"/>
            <a:ext cx="5619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1">
                <a:solidFill>
                  <a:srgbClr val="C733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C733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在论文报告的注释、整合、扰动与网络任务中表现出一致潜力。</a:t>
            </a:r>
          </a:p>
        </p:txBody>
      </p:sp>
      <p:sp>
        <p:nvSpPr>
          <p:cNvPr id="31" name="synthesis-q-2"/>
          <p:cNvSpPr>
            <a:spLocks noGrp="1"/>
          </p:cNvSpPr>
          <p:nvPr/>
        </p:nvSpPr>
        <p:spPr>
          <a:xfrm>
            <a:off x="1809750" y="4000500"/>
            <a:ext cx="2381250" cy="952500"/>
          </a:xfrm>
          <a:prstGeom prst="rect">
            <a:avLst/>
          </a:prstGeom>
          <a:solidFill>
            <a:srgbClr val="DCEEFF"/>
          </a:solidFill>
          <a:ln w="9525">
            <a:solidFill>
              <a:srgbClr val="BCD5E5"/>
            </a:solidFill>
            <a:prstDash val="solid"/>
          </a:ln>
        </p:spPr>
      </p:sp>
      <p:sp>
        <p:nvSpPr>
          <p:cNvPr id="32" name="synthesis-qtext-2"/>
          <p:cNvSpPr>
            <a:spLocks noGrp="1"/>
          </p:cNvSpPr>
          <p:nvPr/>
        </p:nvSpPr>
        <p:spPr>
          <a:xfrm>
            <a:off x="2000250" y="4238625"/>
            <a:ext cx="2000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B2F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还缺少什么？</a:t>
            </a:r>
          </a:p>
        </p:txBody>
      </p:sp>
      <p:sp>
        <p:nvSpPr>
          <p:cNvPr id="33" name="flow-arrow"/>
          <p:cNvSpPr>
            <a:spLocks noGrp="1"/>
          </p:cNvSpPr>
          <p:nvPr/>
        </p:nvSpPr>
        <p:spPr>
          <a:xfrm>
            <a:off x="4381500" y="4286250"/>
            <a:ext cx="590550" cy="381000"/>
          </a:xfrm>
          <a:prstGeom prst="rightArrow">
            <a:avLst/>
          </a:prstGeom>
          <a:solidFill>
            <a:srgbClr val="6FA9CF"/>
          </a:solidFill>
          <a:ln w="0">
            <a:solidFill>
              <a:srgbClr val="6FA9CF"/>
            </a:solidFill>
            <a:prstDash val="solid"/>
          </a:ln>
        </p:spPr>
      </p:sp>
      <p:sp>
        <p:nvSpPr>
          <p:cNvPr id="34" name="synthesis-a-2"/>
          <p:cNvSpPr>
            <a:spLocks noGrp="1"/>
          </p:cNvSpPr>
          <p:nvPr/>
        </p:nvSpPr>
        <p:spPr>
          <a:xfrm>
            <a:off x="5238750" y="4000500"/>
            <a:ext cx="6191250" cy="952500"/>
          </a:xfrm>
          <a:prstGeom prst="rect">
            <a:avLst/>
          </a:prstGeom>
          <a:solidFill>
            <a:srgbClr val="EEF7FD"/>
          </a:solidFill>
          <a:ln w="9525">
            <a:solidFill>
              <a:srgbClr val="BCD5E5"/>
            </a:solidFill>
            <a:prstDash val="solid"/>
          </a:ln>
        </p:spPr>
      </p:sp>
      <p:sp>
        <p:nvSpPr>
          <p:cNvPr id="35" name="synthesis-atext-2"/>
          <p:cNvSpPr>
            <a:spLocks noGrp="1"/>
          </p:cNvSpPr>
          <p:nvPr/>
        </p:nvSpPr>
        <p:spPr>
          <a:xfrm>
            <a:off x="5524500" y="4191000"/>
            <a:ext cx="5619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更强基线、更严格的分布外验证、计算成本比较和因果实验确认。</a:t>
            </a:r>
          </a:p>
        </p:txBody>
      </p:sp>
      <p:sp>
        <p:nvSpPr>
          <p:cNvPr id="36" name="final-answer"/>
          <p:cNvSpPr>
            <a:spLocks noGrp="1"/>
          </p:cNvSpPr>
          <p:nvPr/>
        </p:nvSpPr>
        <p:spPr>
          <a:xfrm>
            <a:off x="1762125" y="5476875"/>
            <a:ext cx="9810750" cy="552450"/>
          </a:xfrm>
          <a:prstGeom prst="rect">
            <a:avLst/>
          </a:prstGeom>
          <a:solidFill>
            <a:srgbClr val="123D8D"/>
          </a:solidFill>
          <a:ln w="0">
            <a:solidFill>
              <a:srgbClr val="123D8D"/>
            </a:solidFill>
            <a:prstDash val="solid"/>
          </a:ln>
        </p:spPr>
      </p:sp>
      <p:sp>
        <p:nvSpPr>
          <p:cNvPr id="37" name="final-judgement"/>
          <p:cNvSpPr>
            <a:spLocks noGrp="1"/>
          </p:cNvSpPr>
          <p:nvPr/>
        </p:nvSpPr>
        <p:spPr>
          <a:xfrm>
            <a:off x="2000250" y="5562600"/>
            <a:ext cx="933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综合判断：scGPT 是重要起点；应用时应把预测、强基线和实验验证放进同一证据链。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losing-border"/>
          <p:cNvSpPr>
            <a:spLocks noGrp="1"/>
          </p:cNvSpPr>
          <p:nvPr/>
        </p:nvSpPr>
        <p:spPr>
          <a:xfrm>
            <a:off x="209550" y="190500"/>
            <a:ext cx="11772900" cy="6477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23D8D"/>
            </a:solidFill>
            <a:prstDash val="solid"/>
          </a:ln>
        </p:spPr>
      </p:sp>
      <p:sp>
        <p:nvSpPr>
          <p:cNvPr id="2" name="closing-band"/>
          <p:cNvSpPr>
            <a:spLocks noGrp="1"/>
          </p:cNvSpPr>
          <p:nvPr/>
        </p:nvSpPr>
        <p:spPr>
          <a:xfrm>
            <a:off x="209550" y="5381625"/>
            <a:ext cx="11772900" cy="1285875"/>
          </a:xfrm>
          <a:prstGeom prst="rect">
            <a:avLst/>
          </a:prstGeom>
          <a:solidFill>
            <a:srgbClr val="123D8D"/>
          </a:solidFill>
          <a:ln w="0">
            <a:solidFill>
              <a:srgbClr val="123D8D"/>
            </a:solidFill>
            <a:prstDash val="solid"/>
          </a:ln>
        </p:spPr>
      </p:sp>
      <p:pic>
        <p:nvPicPr>
          <p:cNvPr id="12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8244" y="590550"/>
            <a:ext cx="3515513" cy="1123950"/>
          </a:xfrm>
          <a:prstGeom prst="rect">
            <a:avLst/>
          </a:prstGeom>
        </p:spPr>
      </p:pic>
      <p:sp>
        <p:nvSpPr>
          <p:cNvPr id="4" name="closing-title"/>
          <p:cNvSpPr>
            <a:spLocks noGrp="1"/>
          </p:cNvSpPr>
          <p:nvPr/>
        </p:nvSpPr>
        <p:spPr>
          <a:xfrm>
            <a:off x="2095500" y="2781300"/>
            <a:ext cx="8001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700" b="1">
                <a:solidFill>
                  <a:srgbClr val="123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23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汇报完毕，敬请老师同学批评指正！</a:t>
            </a:r>
          </a:p>
        </p:txBody>
      </p:sp>
      <p:sp>
        <p:nvSpPr>
          <p:cNvPr id="5" name="closing-question"/>
          <p:cNvSpPr>
            <a:spLocks noGrp="1"/>
          </p:cNvSpPr>
          <p:nvPr/>
        </p:nvSpPr>
        <p:spPr>
          <a:xfrm>
            <a:off x="2476500" y="3733800"/>
            <a:ext cx="723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725" b="0">
                <a:solidFill>
                  <a:srgbClr val="5F6B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F6B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讨论问题：单细胞基础模型应该优先追求规模、泛化，还是可解释性？</a:t>
            </a:r>
          </a:p>
        </p:txBody>
      </p:sp>
      <p:sp>
        <p:nvSpPr>
          <p:cNvPr id="6" name="closing-presenter"/>
          <p:cNvSpPr>
            <a:spLocks noGrp="1"/>
          </p:cNvSpPr>
          <p:nvPr/>
        </p:nvSpPr>
        <p:spPr>
          <a:xfrm>
            <a:off x="2762250" y="588645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汇报人：XXX</a:t>
            </a:r>
          </a:p>
        </p:txBody>
      </p:sp>
      <p:sp>
        <p:nvSpPr>
          <p:cNvPr id="7" name="closing-date"/>
          <p:cNvSpPr>
            <a:spLocks noGrp="1"/>
          </p:cNvSpPr>
          <p:nvPr/>
        </p:nvSpPr>
        <p:spPr>
          <a:xfrm>
            <a:off x="6572250" y="5886450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汇报日期：2026/08/28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7,&quot;left&quot;:135,&quot;top&quot;:102,&quot;width&quot;:768.75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7,&quot;left&quot;:135,&quot;top&quot;:102,&quot;width&quot;:768.7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7,&quot;left&quot;:135,&quot;top&quot;:102,&quot;width&quot;:768.7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7,&quot;left&quot;:135,&quot;top&quot;:102,&quot;width&quot;:768.7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7,&quot;left&quot;:135,&quot;top&quot;:102,&quot;width&quot;:768.7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7,&quot;left&quot;:135,&quot;top&quot;:102,&quot;width&quot;:768.7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7,&quot;left&quot;:135,&quot;top&quot;:102,&quot;width&quot;:768.7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7,&quot;left&quot;:135,&quot;top&quot;:102,&quot;width&quot;:768.7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7,&quot;left&quot;:135,&quot;top&quot;:102,&quot;width&quot;:768.7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7,&quot;left&quot;:135,&quot;top&quot;:102,&quot;width&quot;:768.7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7,&quot;left&quot;:135,&quot;top&quot;:102,&quot;width&quot;:768.7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7,&quot;left&quot;:135,&quot;top&quot;:102,&quot;width&quot;:768.7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7,&quot;left&quot;:135,&quot;top&quot;:102,&quot;width&quot;:768.75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7,&quot;left&quot;:135,&quot;top&quot;:102,&quot;width&quot;:768.7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7,&quot;left&quot;:135,&quot;top&quot;:102,&quot;width&quot;:768.75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7,&quot;left&quot;:135,&quot;top&quot;:102,&quot;width&quot;:768.7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7,&quot;left&quot;:135,&quot;top&quot;:102,&quot;width&quot;:768.75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7,&quot;left&quot;:135,&quot;top&quot;:102,&quot;width&quot;:768.75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7,&quot;left&quot;:135,&quot;top&quot;:102,&quot;width&quot;:768.75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7,&quot;left&quot;:135,&quot;top&quot;:102,&quot;width&quot;:768.75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2152</Words>
  <Application>Microsoft Office PowerPoint</Application>
  <PresentationFormat>宽屏</PresentationFormat>
  <Paragraphs>507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6" baseType="lpstr">
      <vt:lpstr>微软雅黑</vt:lpstr>
      <vt:lpstr>Arial</vt:lpstr>
      <vt:lpstr>Calibri</vt:lpstr>
      <vt:lpstr>Times New Roman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With Breeze</cp:lastModifiedBy>
  <cp:revision>4</cp:revision>
  <dcterms:created xsi:type="dcterms:W3CDTF">2026-08-28T07:07:00Z</dcterms:created>
  <dcterms:modified xsi:type="dcterms:W3CDTF">2026-09-29T05:17:38Z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F7C8D792EB78451BB170039D6D1CD1B6_13</vt:lpwstr>
  </property>
</Properties>
</file>